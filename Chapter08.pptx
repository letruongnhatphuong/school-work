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notesMasterIdLst>
    <p:notesMasterId r:id="rId71"/>
  </p:notesMasterIdLst>
  <p:sldIdLst>
    <p:sldId id="256" r:id="rId4"/>
    <p:sldId id="257" r:id="rId5"/>
    <p:sldId id="258"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87" r:id="rId26"/>
    <p:sldId id="288" r:id="rId27"/>
    <p:sldId id="289" r:id="rId28"/>
    <p:sldId id="365" r:id="rId29"/>
    <p:sldId id="290" r:id="rId30"/>
    <p:sldId id="291" r:id="rId31"/>
    <p:sldId id="292" r:id="rId32"/>
    <p:sldId id="293" r:id="rId33"/>
    <p:sldId id="294" r:id="rId34"/>
    <p:sldId id="295" r:id="rId35"/>
    <p:sldId id="296" r:id="rId36"/>
    <p:sldId id="297" r:id="rId37"/>
    <p:sldId id="299" r:id="rId38"/>
    <p:sldId id="300" r:id="rId39"/>
    <p:sldId id="301" r:id="rId40"/>
    <p:sldId id="311" r:id="rId41"/>
    <p:sldId id="312" r:id="rId42"/>
    <p:sldId id="313" r:id="rId43"/>
    <p:sldId id="314" r:id="rId44"/>
    <p:sldId id="315" r:id="rId45"/>
    <p:sldId id="316" r:id="rId46"/>
    <p:sldId id="317" r:id="rId47"/>
    <p:sldId id="302" r:id="rId48"/>
    <p:sldId id="303" r:id="rId49"/>
    <p:sldId id="304" r:id="rId50"/>
    <p:sldId id="305" r:id="rId51"/>
    <p:sldId id="366" r:id="rId52"/>
    <p:sldId id="367" r:id="rId53"/>
    <p:sldId id="368" r:id="rId54"/>
    <p:sldId id="369" r:id="rId55"/>
    <p:sldId id="370" r:id="rId56"/>
    <p:sldId id="377" r:id="rId57"/>
    <p:sldId id="328" r:id="rId58"/>
    <p:sldId id="378" r:id="rId59"/>
    <p:sldId id="379" r:id="rId60"/>
    <p:sldId id="380" r:id="rId61"/>
    <p:sldId id="381" r:id="rId62"/>
    <p:sldId id="382" r:id="rId63"/>
    <p:sldId id="334" r:id="rId64"/>
    <p:sldId id="383" r:id="rId65"/>
    <p:sldId id="384" r:id="rId66"/>
    <p:sldId id="335" r:id="rId67"/>
    <p:sldId id="336" r:id="rId68"/>
    <p:sldId id="337" r:id="rId69"/>
    <p:sldId id="338" r:id="rId70"/>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75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theme" Target="theme/theme1.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microsoft.com/office/2016/11/relationships/changesInfo" Target="changesInfos/changesInfo1.xml"/><Relationship Id="rId7" Type="http://schemas.openxmlformats.org/officeDocument/2006/relationships/slide" Target="slides/slide4.xml"/><Relationship Id="rId7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za Nezami" userId="6cedb272-7f84-4470-96ed-832f323def52" providerId="ADAL" clId="{DE1F523B-895E-4772-988B-15E95061C4FB}"/>
    <pc:docChg chg="undo custSel modSld">
      <pc:chgData name="Reza Nezami" userId="6cedb272-7f84-4470-96ed-832f323def52" providerId="ADAL" clId="{DE1F523B-895E-4772-988B-15E95061C4FB}" dt="2024-10-22T20:14:30.141" v="26" actId="114"/>
      <pc:docMkLst>
        <pc:docMk/>
      </pc:docMkLst>
      <pc:sldChg chg="modSp mod">
        <pc:chgData name="Reza Nezami" userId="6cedb272-7f84-4470-96ed-832f323def52" providerId="ADAL" clId="{DE1F523B-895E-4772-988B-15E95061C4FB}" dt="2024-10-22T19:20:10.686" v="3" actId="255"/>
        <pc:sldMkLst>
          <pc:docMk/>
          <pc:sldMk cId="2100178892" sldId="365"/>
        </pc:sldMkLst>
      </pc:sldChg>
      <pc:sldChg chg="modSp mod">
        <pc:chgData name="Reza Nezami" userId="6cedb272-7f84-4470-96ed-832f323def52" providerId="ADAL" clId="{DE1F523B-895E-4772-988B-15E95061C4FB}" dt="2024-10-22T20:04:47.408" v="4" actId="255"/>
        <pc:sldMkLst>
          <pc:docMk/>
          <pc:sldMk cId="565509308" sldId="366"/>
        </pc:sldMkLst>
      </pc:sldChg>
      <pc:sldChg chg="modSp mod">
        <pc:chgData name="Reza Nezami" userId="6cedb272-7f84-4470-96ed-832f323def52" providerId="ADAL" clId="{DE1F523B-895E-4772-988B-15E95061C4FB}" dt="2024-10-22T20:05:25.520" v="6" actId="255"/>
        <pc:sldMkLst>
          <pc:docMk/>
          <pc:sldMk cId="2026694458" sldId="367"/>
        </pc:sldMkLst>
      </pc:sldChg>
      <pc:sldChg chg="modSp mod">
        <pc:chgData name="Reza Nezami" userId="6cedb272-7f84-4470-96ed-832f323def52" providerId="ADAL" clId="{DE1F523B-895E-4772-988B-15E95061C4FB}" dt="2024-10-22T20:06:10.552" v="9" actId="255"/>
        <pc:sldMkLst>
          <pc:docMk/>
          <pc:sldMk cId="1651887309" sldId="368"/>
        </pc:sldMkLst>
      </pc:sldChg>
      <pc:sldChg chg="modSp mod">
        <pc:chgData name="Reza Nezami" userId="6cedb272-7f84-4470-96ed-832f323def52" providerId="ADAL" clId="{DE1F523B-895E-4772-988B-15E95061C4FB}" dt="2024-10-22T20:06:38.674" v="11" actId="255"/>
        <pc:sldMkLst>
          <pc:docMk/>
          <pc:sldMk cId="3405790593" sldId="369"/>
        </pc:sldMkLst>
      </pc:sldChg>
      <pc:sldChg chg="modSp mod">
        <pc:chgData name="Reza Nezami" userId="6cedb272-7f84-4470-96ed-832f323def52" providerId="ADAL" clId="{DE1F523B-895E-4772-988B-15E95061C4FB}" dt="2024-10-22T20:08:05.485" v="14" actId="255"/>
        <pc:sldMkLst>
          <pc:docMk/>
          <pc:sldMk cId="1055367777" sldId="370"/>
        </pc:sldMkLst>
      </pc:sldChg>
      <pc:sldChg chg="modSp mod">
        <pc:chgData name="Reza Nezami" userId="6cedb272-7f84-4470-96ed-832f323def52" providerId="ADAL" clId="{DE1F523B-895E-4772-988B-15E95061C4FB}" dt="2024-10-22T20:09:28.780" v="19" actId="255"/>
        <pc:sldMkLst>
          <pc:docMk/>
          <pc:sldMk cId="3638677111" sldId="377"/>
        </pc:sldMkLst>
      </pc:sldChg>
      <pc:sldChg chg="modSp mod">
        <pc:chgData name="Reza Nezami" userId="6cedb272-7f84-4470-96ed-832f323def52" providerId="ADAL" clId="{DE1F523B-895E-4772-988B-15E95061C4FB}" dt="2024-10-22T20:10:37.732" v="20" actId="2711"/>
        <pc:sldMkLst>
          <pc:docMk/>
          <pc:sldMk cId="972363093" sldId="378"/>
        </pc:sldMkLst>
      </pc:sldChg>
      <pc:sldChg chg="modSp mod">
        <pc:chgData name="Reza Nezami" userId="6cedb272-7f84-4470-96ed-832f323def52" providerId="ADAL" clId="{DE1F523B-895E-4772-988B-15E95061C4FB}" dt="2024-10-22T20:14:30.141" v="26" actId="114"/>
        <pc:sldMkLst>
          <pc:docMk/>
          <pc:sldMk cId="4214545718" sldId="380"/>
        </pc:sldMkLst>
      </pc:sldChg>
    </pc:docChg>
  </pc:docChgLst>
  <pc:docChgLst>
    <pc:chgData name="Reza Nezami" userId="6cedb272-7f84-4470-96ed-832f323def52" providerId="ADAL" clId="{02F7923D-4208-4C6D-8B65-F3E15E62022E}"/>
    <pc:docChg chg="modSld">
      <pc:chgData name="Reza Nezami" userId="6cedb272-7f84-4470-96ed-832f323def52" providerId="ADAL" clId="{02F7923D-4208-4C6D-8B65-F3E15E62022E}" dt="2024-10-23T00:16:16.973" v="4" actId="20578"/>
      <pc:docMkLst>
        <pc:docMk/>
      </pc:docMkLst>
      <pc:sldChg chg="modSp mod">
        <pc:chgData name="Reza Nezami" userId="6cedb272-7f84-4470-96ed-832f323def52" providerId="ADAL" clId="{02F7923D-4208-4C6D-8B65-F3E15E62022E}" dt="2024-10-22T22:58:32.326" v="0" actId="1035"/>
        <pc:sldMkLst>
          <pc:docMk/>
          <pc:sldMk cId="0" sldId="296"/>
        </pc:sldMkLst>
      </pc:sldChg>
      <pc:sldChg chg="modSp mod">
        <pc:chgData name="Reza Nezami" userId="6cedb272-7f84-4470-96ed-832f323def52" providerId="ADAL" clId="{02F7923D-4208-4C6D-8B65-F3E15E62022E}" dt="2024-10-22T23:29:45.322" v="2" actId="20577"/>
        <pc:sldMkLst>
          <pc:docMk/>
          <pc:sldMk cId="0" sldId="299"/>
        </pc:sldMkLst>
      </pc:sldChg>
      <pc:sldChg chg="modSp mod">
        <pc:chgData name="Reza Nezami" userId="6cedb272-7f84-4470-96ed-832f323def52" providerId="ADAL" clId="{02F7923D-4208-4C6D-8B65-F3E15E62022E}" dt="2024-10-23T00:16:16.973" v="4" actId="20578"/>
        <pc:sldMkLst>
          <pc:docMk/>
          <pc:sldMk cId="2026694458" sldId="367"/>
        </pc:sldMkLst>
      </pc:sldChg>
    </pc:docChg>
  </pc:docChgLst>
  <pc:docChgLst>
    <pc:chgData name="Reza Nezami" userId="6cedb272-7f84-4470-96ed-832f323def52" providerId="ADAL" clId="{26988F6F-D234-49EE-B02D-6194C914D44D}"/>
    <pc:docChg chg="modSld">
      <pc:chgData name="Reza Nezami" userId="6cedb272-7f84-4470-96ed-832f323def52" providerId="ADAL" clId="{26988F6F-D234-49EE-B02D-6194C914D44D}" dt="2025-10-22T01:04:29.491" v="0" actId="20577"/>
      <pc:docMkLst>
        <pc:docMk/>
      </pc:docMkLst>
      <pc:sldChg chg="modSp mod">
        <pc:chgData name="Reza Nezami" userId="6cedb272-7f84-4470-96ed-832f323def52" providerId="ADAL" clId="{26988F6F-D234-49EE-B02D-6194C914D44D}" dt="2025-10-22T01:04:29.491" v="0" actId="20577"/>
        <pc:sldMkLst>
          <pc:docMk/>
          <pc:sldMk cId="0" sldId="299"/>
        </pc:sldMkLst>
        <pc:spChg chg="mod">
          <ac:chgData name="Reza Nezami" userId="6cedb272-7f84-4470-96ed-832f323def52" providerId="ADAL" clId="{26988F6F-D234-49EE-B02D-6194C914D44D}" dt="2025-10-22T01:04:29.491" v="0" actId="20577"/>
          <ac:spMkLst>
            <pc:docMk/>
            <pc:sldMk cId="0" sldId="299"/>
            <ac:spMk id="37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7" name="PlaceHolder 1"/>
          <p:cNvSpPr>
            <a:spLocks noGrp="1"/>
          </p:cNvSpPr>
          <p:nvPr>
            <p:ph type="body"/>
          </p:nvPr>
        </p:nvSpPr>
        <p:spPr>
          <a:xfrm>
            <a:off x="777240" y="4777560"/>
            <a:ext cx="6217560" cy="4525920"/>
          </a:xfrm>
          <a:prstGeom prst="rect">
            <a:avLst/>
          </a:prstGeom>
        </p:spPr>
        <p:txBody>
          <a:bodyPr lIns="0" tIns="0" rIns="0" bIns="0"/>
          <a:lstStyle/>
          <a:p>
            <a:r>
              <a:rPr lang="en-US" sz="2000" b="0" strike="noStrike" spc="-1">
                <a:solidFill>
                  <a:srgbClr val="000000"/>
                </a:solidFill>
                <a:uFill>
                  <a:solidFill>
                    <a:srgbClr val="FFFFFF"/>
                  </a:solidFill>
                </a:uFill>
                <a:latin typeface="Arial"/>
              </a:rPr>
              <a:t>Click to edit the notes format</a:t>
            </a:r>
          </a:p>
        </p:txBody>
      </p:sp>
      <p:sp>
        <p:nvSpPr>
          <p:cNvPr id="138" name="PlaceHolder 2"/>
          <p:cNvSpPr>
            <a:spLocks noGrp="1"/>
          </p:cNvSpPr>
          <p:nvPr>
            <p:ph type="hdr"/>
          </p:nvPr>
        </p:nvSpPr>
        <p:spPr>
          <a:xfrm>
            <a:off x="0" y="0"/>
            <a:ext cx="3372840" cy="502560"/>
          </a:xfrm>
          <a:prstGeom prst="rect">
            <a:avLst/>
          </a:prstGeom>
        </p:spPr>
        <p:txBody>
          <a:bodyPr lIns="0" tIns="0" rIns="0" bIns="0"/>
          <a:lstStyle/>
          <a:p>
            <a:r>
              <a:rPr lang="en-US" sz="1400" b="0" strike="noStrike" spc="-1">
                <a:solidFill>
                  <a:srgbClr val="000000"/>
                </a:solidFill>
                <a:uFill>
                  <a:solidFill>
                    <a:srgbClr val="FFFFFF"/>
                  </a:solidFill>
                </a:uFill>
                <a:latin typeface="Times New Roman"/>
              </a:rPr>
              <a:t>&lt;header&gt;</a:t>
            </a:r>
          </a:p>
        </p:txBody>
      </p:sp>
      <p:sp>
        <p:nvSpPr>
          <p:cNvPr id="139" name="PlaceHolder 3"/>
          <p:cNvSpPr>
            <a:spLocks noGrp="1"/>
          </p:cNvSpPr>
          <p:nvPr>
            <p:ph type="dt"/>
          </p:nvPr>
        </p:nvSpPr>
        <p:spPr>
          <a:xfrm>
            <a:off x="4399200" y="0"/>
            <a:ext cx="3372840" cy="502560"/>
          </a:xfrm>
          <a:prstGeom prst="rect">
            <a:avLst/>
          </a:prstGeom>
        </p:spPr>
        <p:txBody>
          <a:bodyPr lIns="0" tIns="0" rIns="0" bIns="0"/>
          <a:lstStyle/>
          <a:p>
            <a:pPr algn="r"/>
            <a:r>
              <a:rPr lang="en-US" sz="1400" b="0" strike="noStrike" spc="-1">
                <a:solidFill>
                  <a:srgbClr val="000000"/>
                </a:solidFill>
                <a:uFill>
                  <a:solidFill>
                    <a:srgbClr val="FFFFFF"/>
                  </a:solidFill>
                </a:uFill>
                <a:latin typeface="Times New Roman"/>
              </a:rPr>
              <a:t>&lt;date/time&gt;</a:t>
            </a:r>
          </a:p>
        </p:txBody>
      </p:sp>
      <p:sp>
        <p:nvSpPr>
          <p:cNvPr id="140" name="PlaceHolder 4"/>
          <p:cNvSpPr>
            <a:spLocks noGrp="1"/>
          </p:cNvSpPr>
          <p:nvPr>
            <p:ph type="ftr"/>
          </p:nvPr>
        </p:nvSpPr>
        <p:spPr>
          <a:xfrm>
            <a:off x="0" y="9555480"/>
            <a:ext cx="3372840" cy="502560"/>
          </a:xfrm>
          <a:prstGeom prst="rect">
            <a:avLst/>
          </a:prstGeom>
        </p:spPr>
        <p:txBody>
          <a:bodyPr lIns="0" tIns="0" rIns="0" bIns="0" anchor="b"/>
          <a:lstStyle/>
          <a:p>
            <a:r>
              <a:rPr lang="en-US" sz="1400" b="0" strike="noStrike" spc="-1">
                <a:solidFill>
                  <a:srgbClr val="000000"/>
                </a:solidFill>
                <a:uFill>
                  <a:solidFill>
                    <a:srgbClr val="FFFFFF"/>
                  </a:solidFill>
                </a:uFill>
                <a:latin typeface="Times New Roman"/>
              </a:rPr>
              <a:t>&lt;footer&gt;</a:t>
            </a:r>
          </a:p>
        </p:txBody>
      </p:sp>
      <p:sp>
        <p:nvSpPr>
          <p:cNvPr id="141" name="PlaceHolder 5"/>
          <p:cNvSpPr>
            <a:spLocks noGrp="1"/>
          </p:cNvSpPr>
          <p:nvPr>
            <p:ph type="sldNum"/>
          </p:nvPr>
        </p:nvSpPr>
        <p:spPr>
          <a:xfrm>
            <a:off x="4399200" y="9555480"/>
            <a:ext cx="3372840" cy="502560"/>
          </a:xfrm>
          <a:prstGeom prst="rect">
            <a:avLst/>
          </a:prstGeom>
        </p:spPr>
        <p:txBody>
          <a:bodyPr lIns="0" tIns="0" rIns="0" bIns="0" anchor="b"/>
          <a:lstStyle/>
          <a:p>
            <a:pPr algn="r"/>
            <a:fld id="{7443D591-8D0B-4196-981D-9DB5AE1C55DA}" type="slidenum">
              <a:rPr lang="en-US" sz="1400" b="0" strike="noStrike" spc="-1">
                <a:solidFill>
                  <a:srgbClr val="000000"/>
                </a:solidFill>
                <a:uFill>
                  <a:solidFill>
                    <a:srgbClr val="FFFFFF"/>
                  </a:solidFill>
                </a:uFill>
                <a:latin typeface="Times New Roman"/>
              </a:rPr>
              <a:t>‹#›</a:t>
            </a:fld>
            <a:endParaRPr lang="en-US" sz="1400" b="0" strike="noStrike" spc="-1">
              <a:solidFill>
                <a:srgbClr val="000000"/>
              </a:solidFill>
              <a:uFill>
                <a:solidFill>
                  <a:srgbClr val="FFFFFF"/>
                </a:solidFill>
              </a:u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p:nvPr>
        </p:nvSpPr>
        <p:spPr/>
        <p:txBody>
          <a:bodyPr/>
          <a:lstStyle/>
          <a:p>
            <a:pPr algn="r"/>
            <a:fld id="{7443D591-8D0B-4196-981D-9DB5AE1C55DA}" type="slidenum">
              <a:rPr lang="en-US" sz="1400" b="0" strike="noStrike" spc="-1" smtClean="0">
                <a:solidFill>
                  <a:srgbClr val="000000"/>
                </a:solidFill>
                <a:uFill>
                  <a:solidFill>
                    <a:srgbClr val="FFFFFF"/>
                  </a:solidFill>
                </a:uFill>
                <a:latin typeface="Times New Roman"/>
              </a:rPr>
              <a:t>54</a:t>
            </a:fld>
            <a:endParaRPr lang="en-US" sz="1400" b="0" strike="noStrike" spc="-1">
              <a:solidFill>
                <a:srgbClr val="000000"/>
              </a:solidFill>
              <a:uFill>
                <a:solidFill>
                  <a:srgbClr val="FFFFFF"/>
                </a:solidFill>
              </a:uFill>
              <a:latin typeface="Times New Roman"/>
            </a:endParaRPr>
          </a:p>
        </p:txBody>
      </p:sp>
    </p:spTree>
    <p:extLst>
      <p:ext uri="{BB962C8B-B14F-4D97-AF65-F5344CB8AC3E}">
        <p14:creationId xmlns:p14="http://schemas.microsoft.com/office/powerpoint/2010/main" val="13275459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6"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7" name="PlaceHolder 2"/>
          <p:cNvSpPr>
            <a:spLocks noGrp="1"/>
          </p:cNvSpPr>
          <p:nvPr>
            <p:ph type="subTitle"/>
          </p:nvPr>
        </p:nvSpPr>
        <p:spPr>
          <a:xfrm>
            <a:off x="609600" y="1604520"/>
            <a:ext cx="10972320" cy="397728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9" name="PlaceHolder 2"/>
          <p:cNvSpPr>
            <a:spLocks noGrp="1"/>
          </p:cNvSpPr>
          <p:nvPr>
            <p:ph type="body"/>
          </p:nvPr>
        </p:nvSpPr>
        <p:spPr>
          <a:xfrm>
            <a:off x="609600" y="1604520"/>
            <a:ext cx="1097232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21" name="PlaceHolder 2"/>
          <p:cNvSpPr>
            <a:spLocks noGrp="1"/>
          </p:cNvSpPr>
          <p:nvPr>
            <p:ph type="body"/>
          </p:nvPr>
        </p:nvSpPr>
        <p:spPr>
          <a:xfrm>
            <a:off x="609600" y="1604520"/>
            <a:ext cx="53544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22" name="PlaceHolder 3"/>
          <p:cNvSpPr>
            <a:spLocks noGrp="1"/>
          </p:cNvSpPr>
          <p:nvPr>
            <p:ph type="body"/>
          </p:nvPr>
        </p:nvSpPr>
        <p:spPr>
          <a:xfrm>
            <a:off x="6232320" y="1604520"/>
            <a:ext cx="53544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3"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4" name="PlaceHolder 1"/>
          <p:cNvSpPr>
            <a:spLocks noGrp="1"/>
          </p:cNvSpPr>
          <p:nvPr>
            <p:ph type="subTitle"/>
          </p:nvPr>
        </p:nvSpPr>
        <p:spPr>
          <a:xfrm>
            <a:off x="609600" y="273600"/>
            <a:ext cx="10972320" cy="530784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26" name="PlaceHolder 2"/>
          <p:cNvSpPr>
            <a:spLocks noGrp="1"/>
          </p:cNvSpPr>
          <p:nvPr>
            <p:ph type="body"/>
          </p:nvPr>
        </p:nvSpPr>
        <p:spPr>
          <a:xfrm>
            <a:off x="609600" y="160452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27" name="PlaceHolder 3"/>
          <p:cNvSpPr>
            <a:spLocks noGrp="1"/>
          </p:cNvSpPr>
          <p:nvPr>
            <p:ph type="body"/>
          </p:nvPr>
        </p:nvSpPr>
        <p:spPr>
          <a:xfrm>
            <a:off x="609600" y="368208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28" name="PlaceHolder 4"/>
          <p:cNvSpPr>
            <a:spLocks noGrp="1"/>
          </p:cNvSpPr>
          <p:nvPr>
            <p:ph type="body"/>
          </p:nvPr>
        </p:nvSpPr>
        <p:spPr>
          <a:xfrm>
            <a:off x="6232320" y="1604520"/>
            <a:ext cx="53544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30" name="PlaceHolder 2"/>
          <p:cNvSpPr>
            <a:spLocks noGrp="1"/>
          </p:cNvSpPr>
          <p:nvPr>
            <p:ph type="body"/>
          </p:nvPr>
        </p:nvSpPr>
        <p:spPr>
          <a:xfrm>
            <a:off x="609600" y="1604520"/>
            <a:ext cx="53544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31" name="PlaceHolder 3"/>
          <p:cNvSpPr>
            <a:spLocks noGrp="1"/>
          </p:cNvSpPr>
          <p:nvPr>
            <p:ph type="body"/>
          </p:nvPr>
        </p:nvSpPr>
        <p:spPr>
          <a:xfrm>
            <a:off x="6232320" y="160452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32" name="PlaceHolder 4"/>
          <p:cNvSpPr>
            <a:spLocks noGrp="1"/>
          </p:cNvSpPr>
          <p:nvPr>
            <p:ph type="body"/>
          </p:nvPr>
        </p:nvSpPr>
        <p:spPr>
          <a:xfrm>
            <a:off x="6232320" y="368208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34" name="PlaceHolder 2"/>
          <p:cNvSpPr>
            <a:spLocks noGrp="1"/>
          </p:cNvSpPr>
          <p:nvPr>
            <p:ph type="body"/>
          </p:nvPr>
        </p:nvSpPr>
        <p:spPr>
          <a:xfrm>
            <a:off x="609600" y="160452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35" name="PlaceHolder 3"/>
          <p:cNvSpPr>
            <a:spLocks noGrp="1"/>
          </p:cNvSpPr>
          <p:nvPr>
            <p:ph type="body"/>
          </p:nvPr>
        </p:nvSpPr>
        <p:spPr>
          <a:xfrm>
            <a:off x="6232320" y="160452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36" name="PlaceHolder 4"/>
          <p:cNvSpPr>
            <a:spLocks noGrp="1"/>
          </p:cNvSpPr>
          <p:nvPr>
            <p:ph type="body"/>
          </p:nvPr>
        </p:nvSpPr>
        <p:spPr>
          <a:xfrm>
            <a:off x="609600" y="3682080"/>
            <a:ext cx="1097232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38" name="PlaceHolder 2"/>
          <p:cNvSpPr>
            <a:spLocks noGrp="1"/>
          </p:cNvSpPr>
          <p:nvPr>
            <p:ph type="body"/>
          </p:nvPr>
        </p:nvSpPr>
        <p:spPr>
          <a:xfrm>
            <a:off x="609600" y="1604520"/>
            <a:ext cx="1097232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39" name="PlaceHolder 3"/>
          <p:cNvSpPr>
            <a:spLocks noGrp="1"/>
          </p:cNvSpPr>
          <p:nvPr>
            <p:ph type="body"/>
          </p:nvPr>
        </p:nvSpPr>
        <p:spPr>
          <a:xfrm>
            <a:off x="609600" y="3682080"/>
            <a:ext cx="1097232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41" name="PlaceHolder 2"/>
          <p:cNvSpPr>
            <a:spLocks noGrp="1"/>
          </p:cNvSpPr>
          <p:nvPr>
            <p:ph type="body"/>
          </p:nvPr>
        </p:nvSpPr>
        <p:spPr>
          <a:xfrm>
            <a:off x="609600" y="160452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42" name="PlaceHolder 3"/>
          <p:cNvSpPr>
            <a:spLocks noGrp="1"/>
          </p:cNvSpPr>
          <p:nvPr>
            <p:ph type="body"/>
          </p:nvPr>
        </p:nvSpPr>
        <p:spPr>
          <a:xfrm>
            <a:off x="6232320" y="160452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43" name="PlaceHolder 4"/>
          <p:cNvSpPr>
            <a:spLocks noGrp="1"/>
          </p:cNvSpPr>
          <p:nvPr>
            <p:ph type="body"/>
          </p:nvPr>
        </p:nvSpPr>
        <p:spPr>
          <a:xfrm>
            <a:off x="6232320" y="368208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44" name="PlaceHolder 5"/>
          <p:cNvSpPr>
            <a:spLocks noGrp="1"/>
          </p:cNvSpPr>
          <p:nvPr>
            <p:ph type="body"/>
          </p:nvPr>
        </p:nvSpPr>
        <p:spPr>
          <a:xfrm>
            <a:off x="609600" y="368208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46" name="PlaceHolder 2"/>
          <p:cNvSpPr>
            <a:spLocks noGrp="1"/>
          </p:cNvSpPr>
          <p:nvPr>
            <p:ph type="body"/>
          </p:nvPr>
        </p:nvSpPr>
        <p:spPr>
          <a:xfrm>
            <a:off x="609600" y="1604520"/>
            <a:ext cx="1097232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47" name="PlaceHolder 3"/>
          <p:cNvSpPr>
            <a:spLocks noGrp="1"/>
          </p:cNvSpPr>
          <p:nvPr>
            <p:ph type="body"/>
          </p:nvPr>
        </p:nvSpPr>
        <p:spPr>
          <a:xfrm>
            <a:off x="609600" y="1604520"/>
            <a:ext cx="1097232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pic>
        <p:nvPicPr>
          <p:cNvPr id="48" name="Picture 47"/>
          <p:cNvPicPr/>
          <p:nvPr/>
        </p:nvPicPr>
        <p:blipFill>
          <a:blip r:embed="rId2"/>
          <a:stretch/>
        </p:blipFill>
        <p:spPr>
          <a:xfrm>
            <a:off x="2772000" y="1604520"/>
            <a:ext cx="6646560" cy="3977280"/>
          </a:xfrm>
          <a:prstGeom prst="rect">
            <a:avLst/>
          </a:prstGeom>
          <a:ln>
            <a:noFill/>
          </a:ln>
        </p:spPr>
      </p:pic>
      <p:pic>
        <p:nvPicPr>
          <p:cNvPr id="49" name="Picture 48"/>
          <p:cNvPicPr/>
          <p:nvPr/>
        </p:nvPicPr>
        <p:blipFill>
          <a:blip r:embed="rId2"/>
          <a:stretch/>
        </p:blipFill>
        <p:spPr>
          <a:xfrm>
            <a:off x="2772000" y="1604520"/>
            <a:ext cx="6646560" cy="3977280"/>
          </a:xfrm>
          <a:prstGeom prst="rect">
            <a:avLst/>
          </a:prstGeom>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9"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60" name="PlaceHolder 2"/>
          <p:cNvSpPr>
            <a:spLocks noGrp="1"/>
          </p:cNvSpPr>
          <p:nvPr>
            <p:ph type="subTitle"/>
          </p:nvPr>
        </p:nvSpPr>
        <p:spPr>
          <a:xfrm>
            <a:off x="609600" y="1604520"/>
            <a:ext cx="10972320" cy="397728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62" name="PlaceHolder 2"/>
          <p:cNvSpPr>
            <a:spLocks noGrp="1"/>
          </p:cNvSpPr>
          <p:nvPr>
            <p:ph type="body"/>
          </p:nvPr>
        </p:nvSpPr>
        <p:spPr>
          <a:xfrm>
            <a:off x="609600" y="1604520"/>
            <a:ext cx="1097232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64" name="PlaceHolder 2"/>
          <p:cNvSpPr>
            <a:spLocks noGrp="1"/>
          </p:cNvSpPr>
          <p:nvPr>
            <p:ph type="body"/>
          </p:nvPr>
        </p:nvSpPr>
        <p:spPr>
          <a:xfrm>
            <a:off x="609600" y="1604520"/>
            <a:ext cx="53544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65" name="PlaceHolder 3"/>
          <p:cNvSpPr>
            <a:spLocks noGrp="1"/>
          </p:cNvSpPr>
          <p:nvPr>
            <p:ph type="body"/>
          </p:nvPr>
        </p:nvSpPr>
        <p:spPr>
          <a:xfrm>
            <a:off x="6232320" y="1604520"/>
            <a:ext cx="53544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6"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67" name="PlaceHolder 1"/>
          <p:cNvSpPr>
            <a:spLocks noGrp="1"/>
          </p:cNvSpPr>
          <p:nvPr>
            <p:ph type="subTitle"/>
          </p:nvPr>
        </p:nvSpPr>
        <p:spPr>
          <a:xfrm>
            <a:off x="609600" y="273600"/>
            <a:ext cx="10972320" cy="530784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69" name="PlaceHolder 2"/>
          <p:cNvSpPr>
            <a:spLocks noGrp="1"/>
          </p:cNvSpPr>
          <p:nvPr>
            <p:ph type="body"/>
          </p:nvPr>
        </p:nvSpPr>
        <p:spPr>
          <a:xfrm>
            <a:off x="609600" y="160452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70" name="PlaceHolder 3"/>
          <p:cNvSpPr>
            <a:spLocks noGrp="1"/>
          </p:cNvSpPr>
          <p:nvPr>
            <p:ph type="body"/>
          </p:nvPr>
        </p:nvSpPr>
        <p:spPr>
          <a:xfrm>
            <a:off x="609600" y="368208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71" name="PlaceHolder 4"/>
          <p:cNvSpPr>
            <a:spLocks noGrp="1"/>
          </p:cNvSpPr>
          <p:nvPr>
            <p:ph type="body"/>
          </p:nvPr>
        </p:nvSpPr>
        <p:spPr>
          <a:xfrm>
            <a:off x="6232320" y="1604520"/>
            <a:ext cx="53544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73" name="PlaceHolder 2"/>
          <p:cNvSpPr>
            <a:spLocks noGrp="1"/>
          </p:cNvSpPr>
          <p:nvPr>
            <p:ph type="body"/>
          </p:nvPr>
        </p:nvSpPr>
        <p:spPr>
          <a:xfrm>
            <a:off x="609600" y="1604520"/>
            <a:ext cx="53544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74" name="PlaceHolder 3"/>
          <p:cNvSpPr>
            <a:spLocks noGrp="1"/>
          </p:cNvSpPr>
          <p:nvPr>
            <p:ph type="body"/>
          </p:nvPr>
        </p:nvSpPr>
        <p:spPr>
          <a:xfrm>
            <a:off x="6232320" y="160452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75" name="PlaceHolder 4"/>
          <p:cNvSpPr>
            <a:spLocks noGrp="1"/>
          </p:cNvSpPr>
          <p:nvPr>
            <p:ph type="body"/>
          </p:nvPr>
        </p:nvSpPr>
        <p:spPr>
          <a:xfrm>
            <a:off x="6232320" y="368208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77" name="PlaceHolder 2"/>
          <p:cNvSpPr>
            <a:spLocks noGrp="1"/>
          </p:cNvSpPr>
          <p:nvPr>
            <p:ph type="body"/>
          </p:nvPr>
        </p:nvSpPr>
        <p:spPr>
          <a:xfrm>
            <a:off x="609600" y="160452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78" name="PlaceHolder 3"/>
          <p:cNvSpPr>
            <a:spLocks noGrp="1"/>
          </p:cNvSpPr>
          <p:nvPr>
            <p:ph type="body"/>
          </p:nvPr>
        </p:nvSpPr>
        <p:spPr>
          <a:xfrm>
            <a:off x="6232320" y="160452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79" name="PlaceHolder 4"/>
          <p:cNvSpPr>
            <a:spLocks noGrp="1"/>
          </p:cNvSpPr>
          <p:nvPr>
            <p:ph type="body"/>
          </p:nvPr>
        </p:nvSpPr>
        <p:spPr>
          <a:xfrm>
            <a:off x="609600" y="3682080"/>
            <a:ext cx="1097232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81" name="PlaceHolder 2"/>
          <p:cNvSpPr>
            <a:spLocks noGrp="1"/>
          </p:cNvSpPr>
          <p:nvPr>
            <p:ph type="body"/>
          </p:nvPr>
        </p:nvSpPr>
        <p:spPr>
          <a:xfrm>
            <a:off x="609600" y="1604520"/>
            <a:ext cx="1097232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82" name="PlaceHolder 3"/>
          <p:cNvSpPr>
            <a:spLocks noGrp="1"/>
          </p:cNvSpPr>
          <p:nvPr>
            <p:ph type="body"/>
          </p:nvPr>
        </p:nvSpPr>
        <p:spPr>
          <a:xfrm>
            <a:off x="609600" y="3682080"/>
            <a:ext cx="1097232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84" name="PlaceHolder 2"/>
          <p:cNvSpPr>
            <a:spLocks noGrp="1"/>
          </p:cNvSpPr>
          <p:nvPr>
            <p:ph type="body"/>
          </p:nvPr>
        </p:nvSpPr>
        <p:spPr>
          <a:xfrm>
            <a:off x="609600" y="160452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85" name="PlaceHolder 3"/>
          <p:cNvSpPr>
            <a:spLocks noGrp="1"/>
          </p:cNvSpPr>
          <p:nvPr>
            <p:ph type="body"/>
          </p:nvPr>
        </p:nvSpPr>
        <p:spPr>
          <a:xfrm>
            <a:off x="6232320" y="160452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86" name="PlaceHolder 4"/>
          <p:cNvSpPr>
            <a:spLocks noGrp="1"/>
          </p:cNvSpPr>
          <p:nvPr>
            <p:ph type="body"/>
          </p:nvPr>
        </p:nvSpPr>
        <p:spPr>
          <a:xfrm>
            <a:off x="6232320" y="368208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87" name="PlaceHolder 5"/>
          <p:cNvSpPr>
            <a:spLocks noGrp="1"/>
          </p:cNvSpPr>
          <p:nvPr>
            <p:ph type="body"/>
          </p:nvPr>
        </p:nvSpPr>
        <p:spPr>
          <a:xfrm>
            <a:off x="609600" y="368208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89" name="PlaceHolder 2"/>
          <p:cNvSpPr>
            <a:spLocks noGrp="1"/>
          </p:cNvSpPr>
          <p:nvPr>
            <p:ph type="body"/>
          </p:nvPr>
        </p:nvSpPr>
        <p:spPr>
          <a:xfrm>
            <a:off x="609600" y="1604520"/>
            <a:ext cx="1097232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90" name="PlaceHolder 3"/>
          <p:cNvSpPr>
            <a:spLocks noGrp="1"/>
          </p:cNvSpPr>
          <p:nvPr>
            <p:ph type="body"/>
          </p:nvPr>
        </p:nvSpPr>
        <p:spPr>
          <a:xfrm>
            <a:off x="609600" y="1604520"/>
            <a:ext cx="1097232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pic>
        <p:nvPicPr>
          <p:cNvPr id="91" name="Picture 90"/>
          <p:cNvPicPr/>
          <p:nvPr/>
        </p:nvPicPr>
        <p:blipFill>
          <a:blip r:embed="rId2"/>
          <a:stretch/>
        </p:blipFill>
        <p:spPr>
          <a:xfrm>
            <a:off x="2772000" y="1604520"/>
            <a:ext cx="6646560" cy="3977280"/>
          </a:xfrm>
          <a:prstGeom prst="rect">
            <a:avLst/>
          </a:prstGeom>
          <a:ln>
            <a:noFill/>
          </a:ln>
        </p:spPr>
      </p:pic>
      <p:pic>
        <p:nvPicPr>
          <p:cNvPr id="92" name="Picture 91"/>
          <p:cNvPicPr/>
          <p:nvPr/>
        </p:nvPicPr>
        <p:blipFill>
          <a:blip r:embed="rId2"/>
          <a:stretch/>
        </p:blipFill>
        <p:spPr>
          <a:xfrm>
            <a:off x="2772000" y="1604520"/>
            <a:ext cx="6646560" cy="3977280"/>
          </a:xfrm>
          <a:prstGeom prst="rect">
            <a:avLst/>
          </a:prstGeom>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03"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04" name="PlaceHolder 2"/>
          <p:cNvSpPr>
            <a:spLocks noGrp="1"/>
          </p:cNvSpPr>
          <p:nvPr>
            <p:ph type="subTitle"/>
          </p:nvPr>
        </p:nvSpPr>
        <p:spPr>
          <a:xfrm>
            <a:off x="609600" y="1604520"/>
            <a:ext cx="10972320" cy="397728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06" name="PlaceHolder 2"/>
          <p:cNvSpPr>
            <a:spLocks noGrp="1"/>
          </p:cNvSpPr>
          <p:nvPr>
            <p:ph type="body"/>
          </p:nvPr>
        </p:nvSpPr>
        <p:spPr>
          <a:xfrm>
            <a:off x="609600" y="1604520"/>
            <a:ext cx="1097232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08" name="PlaceHolder 2"/>
          <p:cNvSpPr>
            <a:spLocks noGrp="1"/>
          </p:cNvSpPr>
          <p:nvPr>
            <p:ph type="body"/>
          </p:nvPr>
        </p:nvSpPr>
        <p:spPr>
          <a:xfrm>
            <a:off x="609600" y="1604520"/>
            <a:ext cx="53544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09" name="PlaceHolder 3"/>
          <p:cNvSpPr>
            <a:spLocks noGrp="1"/>
          </p:cNvSpPr>
          <p:nvPr>
            <p:ph type="body"/>
          </p:nvPr>
        </p:nvSpPr>
        <p:spPr>
          <a:xfrm>
            <a:off x="6232320" y="1604520"/>
            <a:ext cx="53544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0"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1" name="PlaceHolder 1"/>
          <p:cNvSpPr>
            <a:spLocks noGrp="1"/>
          </p:cNvSpPr>
          <p:nvPr>
            <p:ph type="subTitle"/>
          </p:nvPr>
        </p:nvSpPr>
        <p:spPr>
          <a:xfrm>
            <a:off x="609600" y="273600"/>
            <a:ext cx="10972320" cy="530784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13" name="PlaceHolder 2"/>
          <p:cNvSpPr>
            <a:spLocks noGrp="1"/>
          </p:cNvSpPr>
          <p:nvPr>
            <p:ph type="body"/>
          </p:nvPr>
        </p:nvSpPr>
        <p:spPr>
          <a:xfrm>
            <a:off x="609600" y="160452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14" name="PlaceHolder 3"/>
          <p:cNvSpPr>
            <a:spLocks noGrp="1"/>
          </p:cNvSpPr>
          <p:nvPr>
            <p:ph type="body"/>
          </p:nvPr>
        </p:nvSpPr>
        <p:spPr>
          <a:xfrm>
            <a:off x="609600" y="368208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15" name="PlaceHolder 4"/>
          <p:cNvSpPr>
            <a:spLocks noGrp="1"/>
          </p:cNvSpPr>
          <p:nvPr>
            <p:ph type="body"/>
          </p:nvPr>
        </p:nvSpPr>
        <p:spPr>
          <a:xfrm>
            <a:off x="6232320" y="1604520"/>
            <a:ext cx="53544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17" name="PlaceHolder 2"/>
          <p:cNvSpPr>
            <a:spLocks noGrp="1"/>
          </p:cNvSpPr>
          <p:nvPr>
            <p:ph type="body"/>
          </p:nvPr>
        </p:nvSpPr>
        <p:spPr>
          <a:xfrm>
            <a:off x="609600" y="1604520"/>
            <a:ext cx="53544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18" name="PlaceHolder 3"/>
          <p:cNvSpPr>
            <a:spLocks noGrp="1"/>
          </p:cNvSpPr>
          <p:nvPr>
            <p:ph type="body"/>
          </p:nvPr>
        </p:nvSpPr>
        <p:spPr>
          <a:xfrm>
            <a:off x="6232320" y="160452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19" name="PlaceHolder 4"/>
          <p:cNvSpPr>
            <a:spLocks noGrp="1"/>
          </p:cNvSpPr>
          <p:nvPr>
            <p:ph type="body"/>
          </p:nvPr>
        </p:nvSpPr>
        <p:spPr>
          <a:xfrm>
            <a:off x="6232320" y="368208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20"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21" name="PlaceHolder 2"/>
          <p:cNvSpPr>
            <a:spLocks noGrp="1"/>
          </p:cNvSpPr>
          <p:nvPr>
            <p:ph type="body"/>
          </p:nvPr>
        </p:nvSpPr>
        <p:spPr>
          <a:xfrm>
            <a:off x="609600" y="160452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22" name="PlaceHolder 3"/>
          <p:cNvSpPr>
            <a:spLocks noGrp="1"/>
          </p:cNvSpPr>
          <p:nvPr>
            <p:ph type="body"/>
          </p:nvPr>
        </p:nvSpPr>
        <p:spPr>
          <a:xfrm>
            <a:off x="6232320" y="160452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23" name="PlaceHolder 4"/>
          <p:cNvSpPr>
            <a:spLocks noGrp="1"/>
          </p:cNvSpPr>
          <p:nvPr>
            <p:ph type="body"/>
          </p:nvPr>
        </p:nvSpPr>
        <p:spPr>
          <a:xfrm>
            <a:off x="609600" y="3682080"/>
            <a:ext cx="1097232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24"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25" name="PlaceHolder 2"/>
          <p:cNvSpPr>
            <a:spLocks noGrp="1"/>
          </p:cNvSpPr>
          <p:nvPr>
            <p:ph type="body"/>
          </p:nvPr>
        </p:nvSpPr>
        <p:spPr>
          <a:xfrm>
            <a:off x="609600" y="1604520"/>
            <a:ext cx="1097232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26" name="PlaceHolder 3"/>
          <p:cNvSpPr>
            <a:spLocks noGrp="1"/>
          </p:cNvSpPr>
          <p:nvPr>
            <p:ph type="body"/>
          </p:nvPr>
        </p:nvSpPr>
        <p:spPr>
          <a:xfrm>
            <a:off x="609600" y="3682080"/>
            <a:ext cx="1097232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28" name="PlaceHolder 2"/>
          <p:cNvSpPr>
            <a:spLocks noGrp="1"/>
          </p:cNvSpPr>
          <p:nvPr>
            <p:ph type="body"/>
          </p:nvPr>
        </p:nvSpPr>
        <p:spPr>
          <a:xfrm>
            <a:off x="609600" y="160452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29" name="PlaceHolder 3"/>
          <p:cNvSpPr>
            <a:spLocks noGrp="1"/>
          </p:cNvSpPr>
          <p:nvPr>
            <p:ph type="body"/>
          </p:nvPr>
        </p:nvSpPr>
        <p:spPr>
          <a:xfrm>
            <a:off x="6232320" y="160452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30" name="PlaceHolder 4"/>
          <p:cNvSpPr>
            <a:spLocks noGrp="1"/>
          </p:cNvSpPr>
          <p:nvPr>
            <p:ph type="body"/>
          </p:nvPr>
        </p:nvSpPr>
        <p:spPr>
          <a:xfrm>
            <a:off x="6232320" y="368208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31" name="PlaceHolder 5"/>
          <p:cNvSpPr>
            <a:spLocks noGrp="1"/>
          </p:cNvSpPr>
          <p:nvPr>
            <p:ph type="body"/>
          </p:nvPr>
        </p:nvSpPr>
        <p:spPr>
          <a:xfrm>
            <a:off x="609600" y="3682080"/>
            <a:ext cx="53544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609600" y="273600"/>
            <a:ext cx="1097232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33" name="PlaceHolder 2"/>
          <p:cNvSpPr>
            <a:spLocks noGrp="1"/>
          </p:cNvSpPr>
          <p:nvPr>
            <p:ph type="body"/>
          </p:nvPr>
        </p:nvSpPr>
        <p:spPr>
          <a:xfrm>
            <a:off x="609600" y="1604520"/>
            <a:ext cx="1097232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34" name="PlaceHolder 3"/>
          <p:cNvSpPr>
            <a:spLocks noGrp="1"/>
          </p:cNvSpPr>
          <p:nvPr>
            <p:ph type="body"/>
          </p:nvPr>
        </p:nvSpPr>
        <p:spPr>
          <a:xfrm>
            <a:off x="609600" y="1604520"/>
            <a:ext cx="1097232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pic>
        <p:nvPicPr>
          <p:cNvPr id="135" name="Picture 134"/>
          <p:cNvPicPr/>
          <p:nvPr/>
        </p:nvPicPr>
        <p:blipFill>
          <a:blip r:embed="rId2"/>
          <a:stretch/>
        </p:blipFill>
        <p:spPr>
          <a:xfrm>
            <a:off x="2772000" y="1604520"/>
            <a:ext cx="6646560" cy="3977280"/>
          </a:xfrm>
          <a:prstGeom prst="rect">
            <a:avLst/>
          </a:prstGeom>
          <a:ln>
            <a:noFill/>
          </a:ln>
        </p:spPr>
      </p:pic>
      <p:pic>
        <p:nvPicPr>
          <p:cNvPr id="136" name="Picture 135"/>
          <p:cNvPicPr/>
          <p:nvPr/>
        </p:nvPicPr>
        <p:blipFill>
          <a:blip r:embed="rId2"/>
          <a:stretch/>
        </p:blipFill>
        <p:spPr>
          <a:xfrm>
            <a:off x="2772000" y="1604520"/>
            <a:ext cx="6646560" cy="3977280"/>
          </a:xfrm>
          <a:prstGeom prst="rect">
            <a:avLst/>
          </a:prstGeom>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CustomShape 1" hidden="1"/>
          <p:cNvSpPr/>
          <p:nvPr/>
        </p:nvSpPr>
        <p:spPr>
          <a:xfrm>
            <a:off x="556800" y="1098720"/>
            <a:ext cx="583200" cy="474120"/>
          </a:xfrm>
          <a:prstGeom prst="rect">
            <a:avLst/>
          </a:prstGeom>
          <a:solidFill>
            <a:schemeClr val="accent2"/>
          </a:solidFill>
          <a:ln w="9360">
            <a:noFill/>
          </a:ln>
        </p:spPr>
        <p:style>
          <a:lnRef idx="0">
            <a:scrgbClr r="0" g="0" b="0"/>
          </a:lnRef>
          <a:fillRef idx="0">
            <a:scrgbClr r="0" g="0" b="0"/>
          </a:fillRef>
          <a:effectRef idx="0">
            <a:scrgbClr r="0" g="0" b="0"/>
          </a:effectRef>
          <a:fontRef idx="minor"/>
        </p:style>
        <p:txBody>
          <a:bodyPr/>
          <a:lstStyle/>
          <a:p>
            <a:endParaRPr lang="en-CA"/>
          </a:p>
        </p:txBody>
      </p:sp>
      <p:sp>
        <p:nvSpPr>
          <p:cNvPr id="17" name="CustomShape 2" hidden="1"/>
          <p:cNvSpPr/>
          <p:nvPr/>
        </p:nvSpPr>
        <p:spPr>
          <a:xfrm>
            <a:off x="1067040" y="1098720"/>
            <a:ext cx="437280" cy="474120"/>
          </a:xfrm>
          <a:prstGeom prst="rect">
            <a:avLst/>
          </a:prstGeom>
          <a:gradFill>
            <a:gsLst>
              <a:gs pos="0">
                <a:schemeClr val="accent2"/>
              </a:gs>
              <a:gs pos="100000">
                <a:schemeClr val="bg1"/>
              </a:gs>
            </a:gsLst>
            <a:lin ang="0"/>
          </a:gradFill>
          <a:ln w="9360">
            <a:noFill/>
          </a:ln>
        </p:spPr>
        <p:style>
          <a:lnRef idx="0">
            <a:scrgbClr r="0" g="0" b="0"/>
          </a:lnRef>
          <a:fillRef idx="0">
            <a:scrgbClr r="0" g="0" b="0"/>
          </a:fillRef>
          <a:effectRef idx="0">
            <a:scrgbClr r="0" g="0" b="0"/>
          </a:effectRef>
          <a:fontRef idx="minor"/>
        </p:style>
        <p:txBody>
          <a:bodyPr/>
          <a:lstStyle/>
          <a:p>
            <a:endParaRPr lang="en-CA"/>
          </a:p>
        </p:txBody>
      </p:sp>
      <p:sp>
        <p:nvSpPr>
          <p:cNvPr id="2" name="CustomShape 3" hidden="1"/>
          <p:cNvSpPr/>
          <p:nvPr/>
        </p:nvSpPr>
        <p:spPr>
          <a:xfrm>
            <a:off x="721920" y="1521000"/>
            <a:ext cx="562080" cy="474120"/>
          </a:xfrm>
          <a:prstGeom prst="rect">
            <a:avLst/>
          </a:prstGeom>
          <a:solidFill>
            <a:schemeClr val="folHlink"/>
          </a:solidFill>
          <a:ln w="9360">
            <a:noFill/>
          </a:ln>
        </p:spPr>
        <p:style>
          <a:lnRef idx="0">
            <a:scrgbClr r="0" g="0" b="0"/>
          </a:lnRef>
          <a:fillRef idx="0">
            <a:scrgbClr r="0" g="0" b="0"/>
          </a:fillRef>
          <a:effectRef idx="0">
            <a:scrgbClr r="0" g="0" b="0"/>
          </a:effectRef>
          <a:fontRef idx="minor"/>
        </p:style>
        <p:txBody>
          <a:bodyPr/>
          <a:lstStyle/>
          <a:p>
            <a:endParaRPr lang="en-CA"/>
          </a:p>
        </p:txBody>
      </p:sp>
      <p:sp>
        <p:nvSpPr>
          <p:cNvPr id="3" name="CustomShape 4" hidden="1"/>
          <p:cNvSpPr/>
          <p:nvPr/>
        </p:nvSpPr>
        <p:spPr>
          <a:xfrm>
            <a:off x="1214880" y="1521000"/>
            <a:ext cx="490080" cy="474120"/>
          </a:xfrm>
          <a:prstGeom prst="rect">
            <a:avLst/>
          </a:prstGeom>
          <a:gradFill>
            <a:gsLst>
              <a:gs pos="0">
                <a:schemeClr val="folHlink"/>
              </a:gs>
              <a:gs pos="100000">
                <a:schemeClr val="bg1"/>
              </a:gs>
            </a:gsLst>
            <a:lin ang="0"/>
          </a:gradFill>
          <a:ln w="9360">
            <a:noFill/>
          </a:ln>
        </p:spPr>
        <p:style>
          <a:lnRef idx="0">
            <a:scrgbClr r="0" g="0" b="0"/>
          </a:lnRef>
          <a:fillRef idx="0">
            <a:scrgbClr r="0" g="0" b="0"/>
          </a:fillRef>
          <a:effectRef idx="0">
            <a:scrgbClr r="0" g="0" b="0"/>
          </a:effectRef>
          <a:fontRef idx="minor"/>
        </p:style>
        <p:txBody>
          <a:bodyPr/>
          <a:lstStyle/>
          <a:p>
            <a:endParaRPr lang="en-CA"/>
          </a:p>
        </p:txBody>
      </p:sp>
      <p:sp>
        <p:nvSpPr>
          <p:cNvPr id="4" name="CustomShape 5" hidden="1"/>
          <p:cNvSpPr/>
          <p:nvPr/>
        </p:nvSpPr>
        <p:spPr>
          <a:xfrm>
            <a:off x="169440" y="1447920"/>
            <a:ext cx="746400" cy="421560"/>
          </a:xfrm>
          <a:prstGeom prst="rect">
            <a:avLst/>
          </a:prstGeom>
          <a:gradFill>
            <a:gsLst>
              <a:gs pos="0">
                <a:schemeClr val="bg1"/>
              </a:gs>
              <a:gs pos="100000">
                <a:schemeClr val="hlink"/>
              </a:gs>
            </a:gsLst>
            <a:lin ang="18900000"/>
          </a:gradFill>
          <a:ln w="9360">
            <a:noFill/>
          </a:ln>
        </p:spPr>
        <p:style>
          <a:lnRef idx="0">
            <a:scrgbClr r="0" g="0" b="0"/>
          </a:lnRef>
          <a:fillRef idx="0">
            <a:scrgbClr r="0" g="0" b="0"/>
          </a:fillRef>
          <a:effectRef idx="0">
            <a:scrgbClr r="0" g="0" b="0"/>
          </a:effectRef>
          <a:fontRef idx="minor"/>
        </p:style>
        <p:txBody>
          <a:bodyPr/>
          <a:lstStyle/>
          <a:p>
            <a:endParaRPr lang="en-CA"/>
          </a:p>
        </p:txBody>
      </p:sp>
      <p:sp>
        <p:nvSpPr>
          <p:cNvPr id="5" name="CustomShape 6" hidden="1"/>
          <p:cNvSpPr/>
          <p:nvPr/>
        </p:nvSpPr>
        <p:spPr>
          <a:xfrm>
            <a:off x="1016160" y="990720"/>
            <a:ext cx="41280" cy="1051920"/>
          </a:xfrm>
          <a:prstGeom prst="rect">
            <a:avLst/>
          </a:prstGeom>
          <a:solidFill>
            <a:schemeClr val="bg2"/>
          </a:solidFill>
          <a:ln w="9360">
            <a:noFill/>
          </a:ln>
        </p:spPr>
        <p:style>
          <a:lnRef idx="0">
            <a:scrgbClr r="0" g="0" b="0"/>
          </a:lnRef>
          <a:fillRef idx="0">
            <a:scrgbClr r="0" g="0" b="0"/>
          </a:fillRef>
          <a:effectRef idx="0">
            <a:scrgbClr r="0" g="0" b="0"/>
          </a:effectRef>
          <a:fontRef idx="minor"/>
        </p:style>
        <p:txBody>
          <a:bodyPr/>
          <a:lstStyle/>
          <a:p>
            <a:endParaRPr lang="en-CA"/>
          </a:p>
        </p:txBody>
      </p:sp>
      <p:sp>
        <p:nvSpPr>
          <p:cNvPr id="6" name="CustomShape 7" hidden="1"/>
          <p:cNvSpPr/>
          <p:nvPr/>
        </p:nvSpPr>
        <p:spPr>
          <a:xfrm>
            <a:off x="590400" y="1781280"/>
            <a:ext cx="10967520" cy="30960"/>
          </a:xfrm>
          <a:prstGeom prst="rect">
            <a:avLst/>
          </a:prstGeom>
          <a:gradFill>
            <a:gsLst>
              <a:gs pos="0">
                <a:schemeClr val="bg2"/>
              </a:gs>
              <a:gs pos="100000">
                <a:schemeClr val="bg1"/>
              </a:gs>
            </a:gsLst>
            <a:lin ang="0"/>
          </a:gradFill>
          <a:ln w="9360">
            <a:noFill/>
          </a:ln>
        </p:spPr>
        <p:style>
          <a:lnRef idx="0">
            <a:scrgbClr r="0" g="0" b="0"/>
          </a:lnRef>
          <a:fillRef idx="0">
            <a:scrgbClr r="0" g="0" b="0"/>
          </a:fillRef>
          <a:effectRef idx="0">
            <a:scrgbClr r="0" g="0" b="0"/>
          </a:effectRef>
          <a:fontRef idx="minor"/>
        </p:style>
        <p:txBody>
          <a:bodyPr/>
          <a:lstStyle/>
          <a:p>
            <a:endParaRPr lang="en-CA"/>
          </a:p>
        </p:txBody>
      </p:sp>
      <p:sp>
        <p:nvSpPr>
          <p:cNvPr id="7" name="CustomShape 8"/>
          <p:cNvSpPr/>
          <p:nvPr/>
        </p:nvSpPr>
        <p:spPr>
          <a:xfrm>
            <a:off x="391680" y="2546280"/>
            <a:ext cx="583680" cy="474120"/>
          </a:xfrm>
          <a:prstGeom prst="rect">
            <a:avLst/>
          </a:prstGeom>
          <a:solidFill>
            <a:schemeClr val="folHlink"/>
          </a:solidFill>
          <a:ln w="9360">
            <a:noFill/>
          </a:ln>
        </p:spPr>
        <p:style>
          <a:lnRef idx="0">
            <a:scrgbClr r="0" g="0" b="0"/>
          </a:lnRef>
          <a:fillRef idx="0">
            <a:scrgbClr r="0" g="0" b="0"/>
          </a:fillRef>
          <a:effectRef idx="0">
            <a:scrgbClr r="0" g="0" b="0"/>
          </a:effectRef>
          <a:fontRef idx="minor"/>
        </p:style>
        <p:txBody>
          <a:bodyPr/>
          <a:lstStyle/>
          <a:p>
            <a:endParaRPr lang="en-CA"/>
          </a:p>
        </p:txBody>
      </p:sp>
      <p:sp>
        <p:nvSpPr>
          <p:cNvPr id="8" name="CustomShape 9"/>
          <p:cNvSpPr/>
          <p:nvPr/>
        </p:nvSpPr>
        <p:spPr>
          <a:xfrm>
            <a:off x="903360" y="2546280"/>
            <a:ext cx="437760" cy="474120"/>
          </a:xfrm>
          <a:prstGeom prst="rect">
            <a:avLst/>
          </a:prstGeom>
          <a:gradFill>
            <a:gsLst>
              <a:gs pos="0">
                <a:schemeClr val="folHlink"/>
              </a:gs>
              <a:gs pos="100000">
                <a:schemeClr val="bg1"/>
              </a:gs>
            </a:gsLst>
            <a:lin ang="0"/>
          </a:gradFill>
          <a:ln w="9360">
            <a:noFill/>
          </a:ln>
        </p:spPr>
        <p:style>
          <a:lnRef idx="0">
            <a:scrgbClr r="0" g="0" b="0"/>
          </a:lnRef>
          <a:fillRef idx="0">
            <a:scrgbClr r="0" g="0" b="0"/>
          </a:fillRef>
          <a:effectRef idx="0">
            <a:scrgbClr r="0" g="0" b="0"/>
          </a:effectRef>
          <a:fontRef idx="minor"/>
        </p:style>
        <p:txBody>
          <a:bodyPr/>
          <a:lstStyle/>
          <a:p>
            <a:endParaRPr lang="en-CA"/>
          </a:p>
        </p:txBody>
      </p:sp>
      <p:sp>
        <p:nvSpPr>
          <p:cNvPr id="9" name="CustomShape 10"/>
          <p:cNvSpPr/>
          <p:nvPr/>
        </p:nvSpPr>
        <p:spPr>
          <a:xfrm>
            <a:off x="556800" y="2968560"/>
            <a:ext cx="562560" cy="474120"/>
          </a:xfrm>
          <a:prstGeom prst="rect">
            <a:avLst/>
          </a:prstGeom>
          <a:solidFill>
            <a:schemeClr val="accent2"/>
          </a:solidFill>
          <a:ln w="9360">
            <a:noFill/>
          </a:ln>
        </p:spPr>
        <p:style>
          <a:lnRef idx="0">
            <a:scrgbClr r="0" g="0" b="0"/>
          </a:lnRef>
          <a:fillRef idx="0">
            <a:scrgbClr r="0" g="0" b="0"/>
          </a:fillRef>
          <a:effectRef idx="0">
            <a:scrgbClr r="0" g="0" b="0"/>
          </a:effectRef>
          <a:fontRef idx="minor"/>
        </p:style>
        <p:txBody>
          <a:bodyPr/>
          <a:lstStyle/>
          <a:p>
            <a:endParaRPr lang="en-CA"/>
          </a:p>
        </p:txBody>
      </p:sp>
      <p:sp>
        <p:nvSpPr>
          <p:cNvPr id="10" name="CustomShape 11"/>
          <p:cNvSpPr/>
          <p:nvPr/>
        </p:nvSpPr>
        <p:spPr>
          <a:xfrm>
            <a:off x="1049760" y="2968560"/>
            <a:ext cx="492000" cy="474120"/>
          </a:xfrm>
          <a:prstGeom prst="rect">
            <a:avLst/>
          </a:prstGeom>
          <a:gradFill>
            <a:gsLst>
              <a:gs pos="0">
                <a:schemeClr val="accent2"/>
              </a:gs>
              <a:gs pos="100000">
                <a:schemeClr val="bg1"/>
              </a:gs>
            </a:gsLst>
            <a:lin ang="0"/>
          </a:gradFill>
          <a:ln w="9360">
            <a:noFill/>
          </a:ln>
        </p:spPr>
        <p:style>
          <a:lnRef idx="0">
            <a:scrgbClr r="0" g="0" b="0"/>
          </a:lnRef>
          <a:fillRef idx="0">
            <a:scrgbClr r="0" g="0" b="0"/>
          </a:fillRef>
          <a:effectRef idx="0">
            <a:scrgbClr r="0" g="0" b="0"/>
          </a:effectRef>
          <a:fontRef idx="minor"/>
        </p:style>
        <p:txBody>
          <a:bodyPr/>
          <a:lstStyle/>
          <a:p>
            <a:endParaRPr lang="en-CA"/>
          </a:p>
        </p:txBody>
      </p:sp>
      <p:sp>
        <p:nvSpPr>
          <p:cNvPr id="11" name="CustomShape 12"/>
          <p:cNvSpPr/>
          <p:nvPr/>
        </p:nvSpPr>
        <p:spPr>
          <a:xfrm>
            <a:off x="0" y="2895480"/>
            <a:ext cx="746400" cy="421560"/>
          </a:xfrm>
          <a:prstGeom prst="rect">
            <a:avLst/>
          </a:prstGeom>
          <a:gradFill>
            <a:gsLst>
              <a:gs pos="0">
                <a:schemeClr val="bg1"/>
              </a:gs>
              <a:gs pos="100000">
                <a:schemeClr val="hlink"/>
              </a:gs>
            </a:gsLst>
            <a:lin ang="18900000"/>
          </a:gradFill>
          <a:ln w="9360">
            <a:noFill/>
          </a:ln>
        </p:spPr>
        <p:style>
          <a:lnRef idx="0">
            <a:scrgbClr r="0" g="0" b="0"/>
          </a:lnRef>
          <a:fillRef idx="0">
            <a:scrgbClr r="0" g="0" b="0"/>
          </a:fillRef>
          <a:effectRef idx="0">
            <a:scrgbClr r="0" g="0" b="0"/>
          </a:effectRef>
          <a:fontRef idx="minor"/>
        </p:style>
        <p:txBody>
          <a:bodyPr/>
          <a:lstStyle/>
          <a:p>
            <a:endParaRPr lang="en-CA"/>
          </a:p>
        </p:txBody>
      </p:sp>
      <p:sp>
        <p:nvSpPr>
          <p:cNvPr id="12" name="CustomShape 13"/>
          <p:cNvSpPr/>
          <p:nvPr/>
        </p:nvSpPr>
        <p:spPr>
          <a:xfrm>
            <a:off x="846720" y="2438280"/>
            <a:ext cx="41280" cy="1051920"/>
          </a:xfrm>
          <a:prstGeom prst="rect">
            <a:avLst/>
          </a:prstGeom>
          <a:solidFill>
            <a:schemeClr val="bg2"/>
          </a:solidFill>
          <a:ln w="9360">
            <a:noFill/>
          </a:ln>
        </p:spPr>
        <p:style>
          <a:lnRef idx="0">
            <a:scrgbClr r="0" g="0" b="0"/>
          </a:lnRef>
          <a:fillRef idx="0">
            <a:scrgbClr r="0" g="0" b="0"/>
          </a:fillRef>
          <a:effectRef idx="0">
            <a:scrgbClr r="0" g="0" b="0"/>
          </a:effectRef>
          <a:fontRef idx="minor"/>
        </p:style>
        <p:txBody>
          <a:bodyPr/>
          <a:lstStyle/>
          <a:p>
            <a:endParaRPr lang="en-CA"/>
          </a:p>
        </p:txBody>
      </p:sp>
      <p:sp>
        <p:nvSpPr>
          <p:cNvPr id="13" name="CustomShape 14"/>
          <p:cNvSpPr/>
          <p:nvPr/>
        </p:nvSpPr>
        <p:spPr>
          <a:xfrm flipV="1">
            <a:off x="421440" y="3260160"/>
            <a:ext cx="11590080" cy="54720"/>
          </a:xfrm>
          <a:prstGeom prst="rect">
            <a:avLst/>
          </a:prstGeom>
          <a:gradFill>
            <a:gsLst>
              <a:gs pos="0">
                <a:schemeClr val="bg2"/>
              </a:gs>
              <a:gs pos="100000">
                <a:schemeClr val="bg1"/>
              </a:gs>
            </a:gsLst>
            <a:lin ang="0"/>
          </a:gradFill>
          <a:ln w="9360">
            <a:noFill/>
          </a:ln>
        </p:spPr>
        <p:style>
          <a:lnRef idx="0">
            <a:scrgbClr r="0" g="0" b="0"/>
          </a:lnRef>
          <a:fillRef idx="0">
            <a:scrgbClr r="0" g="0" b="0"/>
          </a:fillRef>
          <a:effectRef idx="0">
            <a:scrgbClr r="0" g="0" b="0"/>
          </a:effectRef>
          <a:fontRef idx="minor"/>
        </p:style>
        <p:txBody>
          <a:bodyPr/>
          <a:lstStyle/>
          <a:p>
            <a:endParaRPr lang="en-CA"/>
          </a:p>
        </p:txBody>
      </p:sp>
      <p:sp>
        <p:nvSpPr>
          <p:cNvPr id="14" name="PlaceHolder 15"/>
          <p:cNvSpPr>
            <a:spLocks noGrp="1"/>
          </p:cNvSpPr>
          <p:nvPr>
            <p:ph type="title"/>
          </p:nvPr>
        </p:nvSpPr>
        <p:spPr>
          <a:xfrm>
            <a:off x="1534560" y="617400"/>
            <a:ext cx="10389600" cy="114228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5" name="PlaceHolder 16"/>
          <p:cNvSpPr>
            <a:spLocks noGrp="1"/>
          </p:cNvSpPr>
          <p:nvPr>
            <p:ph type="body"/>
          </p:nvPr>
        </p:nvSpPr>
        <p:spPr>
          <a:xfrm>
            <a:off x="609600" y="1604520"/>
            <a:ext cx="10972320" cy="3977280"/>
          </a:xfrm>
          <a:prstGeom prst="rect">
            <a:avLst/>
          </a:prstGeom>
        </p:spPr>
        <p:txBody>
          <a:bodyPr lIns="0" tIns="0" rIns="0" bIns="0"/>
          <a:lstStyle/>
          <a:p>
            <a:pPr marL="432000" indent="-324000">
              <a:buClr>
                <a:srgbClr val="000000"/>
              </a:buClr>
              <a:buSzPct val="45000"/>
              <a:buFont typeface="Wingdings" charset="2"/>
              <a:buChar char=""/>
            </a:pPr>
            <a:r>
              <a:rPr lang="en-US" sz="3200" b="0" strike="noStrike" spc="-1">
                <a:solidFill>
                  <a:srgbClr val="000000"/>
                </a:solidFill>
                <a:uFill>
                  <a:solidFill>
                    <a:srgbClr val="FFFFFF"/>
                  </a:solidFill>
                </a:uFill>
                <a:latin typeface="Arial"/>
              </a:rPr>
              <a:t>Click to edit the outline text format</a:t>
            </a:r>
          </a:p>
          <a:p>
            <a:pPr marL="864000" lvl="1" indent="-324000">
              <a:buClr>
                <a:srgbClr val="000000"/>
              </a:buClr>
              <a:buSzPct val="75000"/>
              <a:buFont typeface="Symbol" charset="2"/>
              <a:buChar char=""/>
            </a:pPr>
            <a:r>
              <a:rPr lang="en-US" sz="2800" b="0" strike="noStrike" spc="-1">
                <a:solidFill>
                  <a:srgbClr val="000000"/>
                </a:solidFill>
                <a:uFill>
                  <a:solidFill>
                    <a:srgbClr val="FFFFFF"/>
                  </a:solidFill>
                </a:uFill>
                <a:latin typeface="Arial"/>
              </a:rPr>
              <a:t>Second Outline Level</a:t>
            </a:r>
          </a:p>
          <a:p>
            <a:pPr marL="1296000" lvl="2" indent="-288000">
              <a:buClr>
                <a:srgbClr val="000000"/>
              </a:buClr>
              <a:buSzPct val="45000"/>
              <a:buFont typeface="Wingdings" charset="2"/>
              <a:buChar char=""/>
            </a:pPr>
            <a:r>
              <a:rPr lang="en-US" sz="2400" b="0" strike="noStrike" spc="-1">
                <a:solidFill>
                  <a:srgbClr val="000000"/>
                </a:solidFill>
                <a:uFill>
                  <a:solidFill>
                    <a:srgbClr val="FFFFFF"/>
                  </a:solidFill>
                </a:uFill>
                <a:latin typeface="Arial"/>
              </a:rPr>
              <a:t>Third Outline Level</a:t>
            </a:r>
          </a:p>
          <a:p>
            <a:pPr marL="1728000" lvl="3" indent="-216000">
              <a:buClr>
                <a:srgbClr val="000000"/>
              </a:buClr>
              <a:buSzPct val="75000"/>
              <a:buFont typeface="Symbol" charset="2"/>
              <a:buChar char=""/>
            </a:pPr>
            <a:r>
              <a:rPr lang="en-US" sz="2000" b="0" strike="noStrike" spc="-1">
                <a:solidFill>
                  <a:srgbClr val="000000"/>
                </a:solidFill>
                <a:uFill>
                  <a:solidFill>
                    <a:srgbClr val="FFFFFF"/>
                  </a:solidFill>
                </a:uFill>
                <a:latin typeface="Arial"/>
              </a:rPr>
              <a:t>Fourth Outline Level</a:t>
            </a:r>
          </a:p>
          <a:p>
            <a:pPr marL="2160000" lvl="4"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Fifth Outline Level</a:t>
            </a:r>
          </a:p>
          <a:p>
            <a:pPr marL="2592000" lvl="5"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Sixth Outline Level</a:t>
            </a:r>
          </a:p>
          <a:p>
            <a:pPr marL="3024000" lvl="6"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432000" indent="-324000" algn="l" defTabSz="914400" rtl="0" eaLnBrk="1" latinLnBrk="0" hangingPunct="1">
        <a:lnSpc>
          <a:spcPct val="90000"/>
        </a:lnSpc>
        <a:spcBef>
          <a:spcPts val="1000"/>
        </a:spcBef>
        <a:buClr>
          <a:srgbClr val="000000"/>
        </a:buClr>
        <a:buSzPct val="45000"/>
        <a:buFont typeface="Wingdings"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 name="CustomShape 1"/>
          <p:cNvSpPr/>
          <p:nvPr/>
        </p:nvSpPr>
        <p:spPr>
          <a:xfrm>
            <a:off x="556800" y="1098720"/>
            <a:ext cx="583200" cy="474120"/>
          </a:xfrm>
          <a:prstGeom prst="rect">
            <a:avLst/>
          </a:prstGeom>
          <a:solidFill>
            <a:schemeClr val="accent2"/>
          </a:solidFill>
          <a:ln w="9360">
            <a:noFill/>
          </a:ln>
        </p:spPr>
        <p:style>
          <a:lnRef idx="0">
            <a:scrgbClr r="0" g="0" b="0"/>
          </a:lnRef>
          <a:fillRef idx="0">
            <a:scrgbClr r="0" g="0" b="0"/>
          </a:fillRef>
          <a:effectRef idx="0">
            <a:scrgbClr r="0" g="0" b="0"/>
          </a:effectRef>
          <a:fontRef idx="minor"/>
        </p:style>
        <p:txBody>
          <a:bodyPr/>
          <a:lstStyle/>
          <a:p>
            <a:endParaRPr lang="en-CA"/>
          </a:p>
        </p:txBody>
      </p:sp>
      <p:sp>
        <p:nvSpPr>
          <p:cNvPr id="51" name="CustomShape 2"/>
          <p:cNvSpPr/>
          <p:nvPr/>
        </p:nvSpPr>
        <p:spPr>
          <a:xfrm>
            <a:off x="1067040" y="1098720"/>
            <a:ext cx="437280" cy="474120"/>
          </a:xfrm>
          <a:prstGeom prst="rect">
            <a:avLst/>
          </a:prstGeom>
          <a:gradFill>
            <a:gsLst>
              <a:gs pos="0">
                <a:schemeClr val="accent2"/>
              </a:gs>
              <a:gs pos="100000">
                <a:schemeClr val="bg1"/>
              </a:gs>
            </a:gsLst>
            <a:lin ang="0"/>
          </a:gradFill>
          <a:ln w="9360">
            <a:noFill/>
          </a:ln>
        </p:spPr>
        <p:style>
          <a:lnRef idx="0">
            <a:scrgbClr r="0" g="0" b="0"/>
          </a:lnRef>
          <a:fillRef idx="0">
            <a:scrgbClr r="0" g="0" b="0"/>
          </a:fillRef>
          <a:effectRef idx="0">
            <a:scrgbClr r="0" g="0" b="0"/>
          </a:effectRef>
          <a:fontRef idx="minor"/>
        </p:style>
        <p:txBody>
          <a:bodyPr/>
          <a:lstStyle/>
          <a:p>
            <a:endParaRPr lang="en-CA"/>
          </a:p>
        </p:txBody>
      </p:sp>
      <p:sp>
        <p:nvSpPr>
          <p:cNvPr id="52" name="CustomShape 3"/>
          <p:cNvSpPr/>
          <p:nvPr/>
        </p:nvSpPr>
        <p:spPr>
          <a:xfrm>
            <a:off x="721920" y="1521000"/>
            <a:ext cx="562080" cy="474120"/>
          </a:xfrm>
          <a:prstGeom prst="rect">
            <a:avLst/>
          </a:prstGeom>
          <a:solidFill>
            <a:schemeClr val="folHlink"/>
          </a:solidFill>
          <a:ln w="9360">
            <a:noFill/>
          </a:ln>
        </p:spPr>
        <p:style>
          <a:lnRef idx="0">
            <a:scrgbClr r="0" g="0" b="0"/>
          </a:lnRef>
          <a:fillRef idx="0">
            <a:scrgbClr r="0" g="0" b="0"/>
          </a:fillRef>
          <a:effectRef idx="0">
            <a:scrgbClr r="0" g="0" b="0"/>
          </a:effectRef>
          <a:fontRef idx="minor"/>
        </p:style>
        <p:txBody>
          <a:bodyPr/>
          <a:lstStyle/>
          <a:p>
            <a:endParaRPr lang="en-CA"/>
          </a:p>
        </p:txBody>
      </p:sp>
      <p:sp>
        <p:nvSpPr>
          <p:cNvPr id="53" name="CustomShape 4"/>
          <p:cNvSpPr/>
          <p:nvPr/>
        </p:nvSpPr>
        <p:spPr>
          <a:xfrm>
            <a:off x="1214880" y="1521000"/>
            <a:ext cx="490080" cy="474120"/>
          </a:xfrm>
          <a:prstGeom prst="rect">
            <a:avLst/>
          </a:prstGeom>
          <a:gradFill>
            <a:gsLst>
              <a:gs pos="0">
                <a:schemeClr val="folHlink"/>
              </a:gs>
              <a:gs pos="100000">
                <a:schemeClr val="bg1"/>
              </a:gs>
            </a:gsLst>
            <a:lin ang="0"/>
          </a:gradFill>
          <a:ln w="9360">
            <a:noFill/>
          </a:ln>
        </p:spPr>
        <p:style>
          <a:lnRef idx="0">
            <a:scrgbClr r="0" g="0" b="0"/>
          </a:lnRef>
          <a:fillRef idx="0">
            <a:scrgbClr r="0" g="0" b="0"/>
          </a:fillRef>
          <a:effectRef idx="0">
            <a:scrgbClr r="0" g="0" b="0"/>
          </a:effectRef>
          <a:fontRef idx="minor"/>
        </p:style>
        <p:txBody>
          <a:bodyPr/>
          <a:lstStyle/>
          <a:p>
            <a:endParaRPr lang="en-CA"/>
          </a:p>
        </p:txBody>
      </p:sp>
      <p:sp>
        <p:nvSpPr>
          <p:cNvPr id="54" name="CustomShape 5"/>
          <p:cNvSpPr/>
          <p:nvPr/>
        </p:nvSpPr>
        <p:spPr>
          <a:xfrm>
            <a:off x="169440" y="1447920"/>
            <a:ext cx="746400" cy="421560"/>
          </a:xfrm>
          <a:prstGeom prst="rect">
            <a:avLst/>
          </a:prstGeom>
          <a:gradFill>
            <a:gsLst>
              <a:gs pos="0">
                <a:schemeClr val="bg1"/>
              </a:gs>
              <a:gs pos="100000">
                <a:schemeClr val="hlink"/>
              </a:gs>
            </a:gsLst>
            <a:lin ang="18900000"/>
          </a:gradFill>
          <a:ln w="9360">
            <a:noFill/>
          </a:ln>
        </p:spPr>
        <p:style>
          <a:lnRef idx="0">
            <a:scrgbClr r="0" g="0" b="0"/>
          </a:lnRef>
          <a:fillRef idx="0">
            <a:scrgbClr r="0" g="0" b="0"/>
          </a:fillRef>
          <a:effectRef idx="0">
            <a:scrgbClr r="0" g="0" b="0"/>
          </a:effectRef>
          <a:fontRef idx="minor"/>
        </p:style>
        <p:txBody>
          <a:bodyPr/>
          <a:lstStyle/>
          <a:p>
            <a:endParaRPr lang="en-CA"/>
          </a:p>
        </p:txBody>
      </p:sp>
      <p:sp>
        <p:nvSpPr>
          <p:cNvPr id="55" name="CustomShape 6"/>
          <p:cNvSpPr/>
          <p:nvPr/>
        </p:nvSpPr>
        <p:spPr>
          <a:xfrm>
            <a:off x="1016160" y="990720"/>
            <a:ext cx="41280" cy="1051920"/>
          </a:xfrm>
          <a:prstGeom prst="rect">
            <a:avLst/>
          </a:prstGeom>
          <a:solidFill>
            <a:schemeClr val="bg2"/>
          </a:solidFill>
          <a:ln w="9360">
            <a:noFill/>
          </a:ln>
        </p:spPr>
        <p:style>
          <a:lnRef idx="0">
            <a:scrgbClr r="0" g="0" b="0"/>
          </a:lnRef>
          <a:fillRef idx="0">
            <a:scrgbClr r="0" g="0" b="0"/>
          </a:fillRef>
          <a:effectRef idx="0">
            <a:scrgbClr r="0" g="0" b="0"/>
          </a:effectRef>
          <a:fontRef idx="minor"/>
        </p:style>
        <p:txBody>
          <a:bodyPr/>
          <a:lstStyle/>
          <a:p>
            <a:endParaRPr lang="en-CA"/>
          </a:p>
        </p:txBody>
      </p:sp>
      <p:sp>
        <p:nvSpPr>
          <p:cNvPr id="56" name="CustomShape 7"/>
          <p:cNvSpPr/>
          <p:nvPr/>
        </p:nvSpPr>
        <p:spPr>
          <a:xfrm>
            <a:off x="590400" y="1781280"/>
            <a:ext cx="10967520" cy="30960"/>
          </a:xfrm>
          <a:prstGeom prst="rect">
            <a:avLst/>
          </a:prstGeom>
          <a:gradFill>
            <a:gsLst>
              <a:gs pos="0">
                <a:schemeClr val="bg2"/>
              </a:gs>
              <a:gs pos="100000">
                <a:schemeClr val="bg1"/>
              </a:gs>
            </a:gsLst>
            <a:lin ang="0"/>
          </a:gradFill>
          <a:ln w="9360">
            <a:noFill/>
          </a:ln>
        </p:spPr>
        <p:style>
          <a:lnRef idx="0">
            <a:scrgbClr r="0" g="0" b="0"/>
          </a:lnRef>
          <a:fillRef idx="0">
            <a:scrgbClr r="0" g="0" b="0"/>
          </a:fillRef>
          <a:effectRef idx="0">
            <a:scrgbClr r="0" g="0" b="0"/>
          </a:effectRef>
          <a:fontRef idx="minor"/>
        </p:style>
        <p:txBody>
          <a:bodyPr/>
          <a:lstStyle/>
          <a:p>
            <a:endParaRPr lang="en-CA"/>
          </a:p>
        </p:txBody>
      </p:sp>
      <p:sp>
        <p:nvSpPr>
          <p:cNvPr id="57" name="PlaceHolder 8"/>
          <p:cNvSpPr>
            <a:spLocks noGrp="1"/>
          </p:cNvSpPr>
          <p:nvPr>
            <p:ph type="title"/>
          </p:nvPr>
        </p:nvSpPr>
        <p:spPr>
          <a:xfrm>
            <a:off x="609600" y="273600"/>
            <a:ext cx="10972320" cy="1144800"/>
          </a:xfrm>
          <a:prstGeom prst="rect">
            <a:avLst/>
          </a:prstGeom>
        </p:spPr>
        <p:txBody>
          <a:bodyPr lIns="0" tIns="0" rIns="0" bIns="0" anchor="ctr"/>
          <a:lstStyle/>
          <a:p>
            <a:pPr algn="ctr"/>
            <a:r>
              <a:rPr lang="en-US" sz="4400" b="0" strike="noStrike" spc="-1">
                <a:solidFill>
                  <a:srgbClr val="000000"/>
                </a:solidFill>
                <a:uFill>
                  <a:solidFill>
                    <a:srgbClr val="FFFFFF"/>
                  </a:solidFill>
                </a:uFill>
                <a:latin typeface="Arial"/>
              </a:rPr>
              <a:t>Click to edit the title text format</a:t>
            </a:r>
          </a:p>
        </p:txBody>
      </p:sp>
      <p:sp>
        <p:nvSpPr>
          <p:cNvPr id="58" name="PlaceHolder 9"/>
          <p:cNvSpPr>
            <a:spLocks noGrp="1"/>
          </p:cNvSpPr>
          <p:nvPr>
            <p:ph type="body"/>
          </p:nvPr>
        </p:nvSpPr>
        <p:spPr>
          <a:xfrm>
            <a:off x="609600" y="1604520"/>
            <a:ext cx="10972320" cy="3977280"/>
          </a:xfrm>
          <a:prstGeom prst="rect">
            <a:avLst/>
          </a:prstGeom>
        </p:spPr>
        <p:txBody>
          <a:bodyPr lIns="0" tIns="0" rIns="0" bIns="0"/>
          <a:lstStyle/>
          <a:p>
            <a:pPr marL="432000" indent="-324000">
              <a:buClr>
                <a:srgbClr val="000000"/>
              </a:buClr>
              <a:buSzPct val="45000"/>
              <a:buFont typeface="Wingdings" charset="2"/>
              <a:buChar char=""/>
            </a:pPr>
            <a:r>
              <a:rPr lang="en-US" sz="3200" b="0" strike="noStrike" spc="-1">
                <a:solidFill>
                  <a:srgbClr val="000000"/>
                </a:solidFill>
                <a:uFill>
                  <a:solidFill>
                    <a:srgbClr val="FFFFFF"/>
                  </a:solidFill>
                </a:uFill>
                <a:latin typeface="Arial"/>
              </a:rPr>
              <a:t>Click to edit the outline text format</a:t>
            </a:r>
          </a:p>
          <a:p>
            <a:pPr marL="864000" lvl="1" indent="-324000">
              <a:buClr>
                <a:srgbClr val="000000"/>
              </a:buClr>
              <a:buSzPct val="75000"/>
              <a:buFont typeface="Symbol" charset="2"/>
              <a:buChar char=""/>
            </a:pPr>
            <a:r>
              <a:rPr lang="en-US" sz="2800" b="0" strike="noStrike" spc="-1">
                <a:solidFill>
                  <a:srgbClr val="000000"/>
                </a:solidFill>
                <a:uFill>
                  <a:solidFill>
                    <a:srgbClr val="FFFFFF"/>
                  </a:solidFill>
                </a:uFill>
                <a:latin typeface="Arial"/>
              </a:rPr>
              <a:t>Second Outline Level</a:t>
            </a:r>
          </a:p>
          <a:p>
            <a:pPr marL="1296000" lvl="2" indent="-288000">
              <a:buClr>
                <a:srgbClr val="000000"/>
              </a:buClr>
              <a:buSzPct val="45000"/>
              <a:buFont typeface="Wingdings" charset="2"/>
              <a:buChar char=""/>
            </a:pPr>
            <a:r>
              <a:rPr lang="en-US" sz="2400" b="0" strike="noStrike" spc="-1">
                <a:solidFill>
                  <a:srgbClr val="000000"/>
                </a:solidFill>
                <a:uFill>
                  <a:solidFill>
                    <a:srgbClr val="FFFFFF"/>
                  </a:solidFill>
                </a:uFill>
                <a:latin typeface="Arial"/>
              </a:rPr>
              <a:t>Third Outline Level</a:t>
            </a:r>
          </a:p>
          <a:p>
            <a:pPr marL="1728000" lvl="3" indent="-216000">
              <a:buClr>
                <a:srgbClr val="000000"/>
              </a:buClr>
              <a:buSzPct val="75000"/>
              <a:buFont typeface="Symbol" charset="2"/>
              <a:buChar char=""/>
            </a:pPr>
            <a:r>
              <a:rPr lang="en-US" sz="2000" b="0" strike="noStrike" spc="-1">
                <a:solidFill>
                  <a:srgbClr val="000000"/>
                </a:solidFill>
                <a:uFill>
                  <a:solidFill>
                    <a:srgbClr val="FFFFFF"/>
                  </a:solidFill>
                </a:uFill>
                <a:latin typeface="Arial"/>
              </a:rPr>
              <a:t>Fourth Outline Level</a:t>
            </a:r>
          </a:p>
          <a:p>
            <a:pPr marL="2160000" lvl="4"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Fifth Outline Level</a:t>
            </a:r>
          </a:p>
          <a:p>
            <a:pPr marL="2592000" lvl="5"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Sixth Outline Level</a:t>
            </a:r>
          </a:p>
          <a:p>
            <a:pPr marL="3024000" lvl="6"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432000" indent="-324000" algn="l" defTabSz="914400" rtl="0" eaLnBrk="1" latinLnBrk="0" hangingPunct="1">
        <a:lnSpc>
          <a:spcPct val="90000"/>
        </a:lnSpc>
        <a:spcBef>
          <a:spcPts val="1000"/>
        </a:spcBef>
        <a:buClr>
          <a:srgbClr val="000000"/>
        </a:buClr>
        <a:buSzPct val="45000"/>
        <a:buFont typeface="Wingdings"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 name="CustomShape 1"/>
          <p:cNvSpPr/>
          <p:nvPr/>
        </p:nvSpPr>
        <p:spPr>
          <a:xfrm>
            <a:off x="556800" y="1098720"/>
            <a:ext cx="583200" cy="474120"/>
          </a:xfrm>
          <a:prstGeom prst="rect">
            <a:avLst/>
          </a:prstGeom>
          <a:solidFill>
            <a:schemeClr val="accent2"/>
          </a:solidFill>
          <a:ln w="9360">
            <a:noFill/>
          </a:ln>
        </p:spPr>
        <p:style>
          <a:lnRef idx="0">
            <a:scrgbClr r="0" g="0" b="0"/>
          </a:lnRef>
          <a:fillRef idx="0">
            <a:scrgbClr r="0" g="0" b="0"/>
          </a:fillRef>
          <a:effectRef idx="0">
            <a:scrgbClr r="0" g="0" b="0"/>
          </a:effectRef>
          <a:fontRef idx="minor"/>
        </p:style>
        <p:txBody>
          <a:bodyPr/>
          <a:lstStyle/>
          <a:p>
            <a:endParaRPr lang="en-CA"/>
          </a:p>
        </p:txBody>
      </p:sp>
      <p:sp>
        <p:nvSpPr>
          <p:cNvPr id="94" name="CustomShape 2"/>
          <p:cNvSpPr/>
          <p:nvPr/>
        </p:nvSpPr>
        <p:spPr>
          <a:xfrm>
            <a:off x="1067040" y="1098720"/>
            <a:ext cx="437280" cy="474120"/>
          </a:xfrm>
          <a:prstGeom prst="rect">
            <a:avLst/>
          </a:prstGeom>
          <a:gradFill>
            <a:gsLst>
              <a:gs pos="0">
                <a:schemeClr val="accent2"/>
              </a:gs>
              <a:gs pos="100000">
                <a:schemeClr val="bg1"/>
              </a:gs>
            </a:gsLst>
            <a:lin ang="0"/>
          </a:gradFill>
          <a:ln w="9360">
            <a:noFill/>
          </a:ln>
        </p:spPr>
        <p:style>
          <a:lnRef idx="0">
            <a:scrgbClr r="0" g="0" b="0"/>
          </a:lnRef>
          <a:fillRef idx="0">
            <a:scrgbClr r="0" g="0" b="0"/>
          </a:fillRef>
          <a:effectRef idx="0">
            <a:scrgbClr r="0" g="0" b="0"/>
          </a:effectRef>
          <a:fontRef idx="minor"/>
        </p:style>
        <p:txBody>
          <a:bodyPr/>
          <a:lstStyle/>
          <a:p>
            <a:endParaRPr lang="en-CA"/>
          </a:p>
        </p:txBody>
      </p:sp>
      <p:sp>
        <p:nvSpPr>
          <p:cNvPr id="95" name="CustomShape 3"/>
          <p:cNvSpPr/>
          <p:nvPr/>
        </p:nvSpPr>
        <p:spPr>
          <a:xfrm>
            <a:off x="721920" y="1521000"/>
            <a:ext cx="562080" cy="474120"/>
          </a:xfrm>
          <a:prstGeom prst="rect">
            <a:avLst/>
          </a:prstGeom>
          <a:solidFill>
            <a:schemeClr val="folHlink"/>
          </a:solidFill>
          <a:ln w="9360">
            <a:noFill/>
          </a:ln>
        </p:spPr>
        <p:style>
          <a:lnRef idx="0">
            <a:scrgbClr r="0" g="0" b="0"/>
          </a:lnRef>
          <a:fillRef idx="0">
            <a:scrgbClr r="0" g="0" b="0"/>
          </a:fillRef>
          <a:effectRef idx="0">
            <a:scrgbClr r="0" g="0" b="0"/>
          </a:effectRef>
          <a:fontRef idx="minor"/>
        </p:style>
        <p:txBody>
          <a:bodyPr/>
          <a:lstStyle/>
          <a:p>
            <a:endParaRPr lang="en-CA"/>
          </a:p>
        </p:txBody>
      </p:sp>
      <p:sp>
        <p:nvSpPr>
          <p:cNvPr id="96" name="CustomShape 4"/>
          <p:cNvSpPr/>
          <p:nvPr/>
        </p:nvSpPr>
        <p:spPr>
          <a:xfrm>
            <a:off x="1214880" y="1521000"/>
            <a:ext cx="490080" cy="474120"/>
          </a:xfrm>
          <a:prstGeom prst="rect">
            <a:avLst/>
          </a:prstGeom>
          <a:gradFill>
            <a:gsLst>
              <a:gs pos="0">
                <a:schemeClr val="folHlink"/>
              </a:gs>
              <a:gs pos="100000">
                <a:schemeClr val="bg1"/>
              </a:gs>
            </a:gsLst>
            <a:lin ang="0"/>
          </a:gradFill>
          <a:ln w="9360">
            <a:noFill/>
          </a:ln>
        </p:spPr>
        <p:style>
          <a:lnRef idx="0">
            <a:scrgbClr r="0" g="0" b="0"/>
          </a:lnRef>
          <a:fillRef idx="0">
            <a:scrgbClr r="0" g="0" b="0"/>
          </a:fillRef>
          <a:effectRef idx="0">
            <a:scrgbClr r="0" g="0" b="0"/>
          </a:effectRef>
          <a:fontRef idx="minor"/>
        </p:style>
        <p:txBody>
          <a:bodyPr/>
          <a:lstStyle/>
          <a:p>
            <a:endParaRPr lang="en-CA"/>
          </a:p>
        </p:txBody>
      </p:sp>
      <p:sp>
        <p:nvSpPr>
          <p:cNvPr id="97" name="CustomShape 5"/>
          <p:cNvSpPr/>
          <p:nvPr/>
        </p:nvSpPr>
        <p:spPr>
          <a:xfrm>
            <a:off x="169440" y="1447920"/>
            <a:ext cx="746400" cy="421560"/>
          </a:xfrm>
          <a:prstGeom prst="rect">
            <a:avLst/>
          </a:prstGeom>
          <a:gradFill>
            <a:gsLst>
              <a:gs pos="0">
                <a:schemeClr val="bg1"/>
              </a:gs>
              <a:gs pos="100000">
                <a:schemeClr val="hlink"/>
              </a:gs>
            </a:gsLst>
            <a:lin ang="18900000"/>
          </a:gradFill>
          <a:ln w="9360">
            <a:noFill/>
          </a:ln>
        </p:spPr>
        <p:style>
          <a:lnRef idx="0">
            <a:scrgbClr r="0" g="0" b="0"/>
          </a:lnRef>
          <a:fillRef idx="0">
            <a:scrgbClr r="0" g="0" b="0"/>
          </a:fillRef>
          <a:effectRef idx="0">
            <a:scrgbClr r="0" g="0" b="0"/>
          </a:effectRef>
          <a:fontRef idx="minor"/>
        </p:style>
        <p:txBody>
          <a:bodyPr/>
          <a:lstStyle/>
          <a:p>
            <a:endParaRPr lang="en-CA"/>
          </a:p>
        </p:txBody>
      </p:sp>
      <p:sp>
        <p:nvSpPr>
          <p:cNvPr id="98" name="CustomShape 6"/>
          <p:cNvSpPr/>
          <p:nvPr/>
        </p:nvSpPr>
        <p:spPr>
          <a:xfrm>
            <a:off x="1016160" y="990720"/>
            <a:ext cx="41280" cy="1051920"/>
          </a:xfrm>
          <a:prstGeom prst="rect">
            <a:avLst/>
          </a:prstGeom>
          <a:solidFill>
            <a:schemeClr val="bg2"/>
          </a:solidFill>
          <a:ln w="9360">
            <a:noFill/>
          </a:ln>
        </p:spPr>
        <p:style>
          <a:lnRef idx="0">
            <a:scrgbClr r="0" g="0" b="0"/>
          </a:lnRef>
          <a:fillRef idx="0">
            <a:scrgbClr r="0" g="0" b="0"/>
          </a:fillRef>
          <a:effectRef idx="0">
            <a:scrgbClr r="0" g="0" b="0"/>
          </a:effectRef>
          <a:fontRef idx="minor"/>
        </p:style>
        <p:txBody>
          <a:bodyPr/>
          <a:lstStyle/>
          <a:p>
            <a:endParaRPr lang="en-CA"/>
          </a:p>
        </p:txBody>
      </p:sp>
      <p:sp>
        <p:nvSpPr>
          <p:cNvPr id="99" name="CustomShape 7"/>
          <p:cNvSpPr/>
          <p:nvPr/>
        </p:nvSpPr>
        <p:spPr>
          <a:xfrm>
            <a:off x="590400" y="1781280"/>
            <a:ext cx="10967520" cy="30960"/>
          </a:xfrm>
          <a:prstGeom prst="rect">
            <a:avLst/>
          </a:prstGeom>
          <a:gradFill>
            <a:gsLst>
              <a:gs pos="0">
                <a:schemeClr val="bg2"/>
              </a:gs>
              <a:gs pos="100000">
                <a:schemeClr val="bg1"/>
              </a:gs>
            </a:gsLst>
            <a:lin ang="0"/>
          </a:gradFill>
          <a:ln w="9360">
            <a:noFill/>
          </a:ln>
        </p:spPr>
        <p:style>
          <a:lnRef idx="0">
            <a:scrgbClr r="0" g="0" b="0"/>
          </a:lnRef>
          <a:fillRef idx="0">
            <a:scrgbClr r="0" g="0" b="0"/>
          </a:fillRef>
          <a:effectRef idx="0">
            <a:scrgbClr r="0" g="0" b="0"/>
          </a:effectRef>
          <a:fontRef idx="minor"/>
        </p:style>
        <p:txBody>
          <a:bodyPr/>
          <a:lstStyle/>
          <a:p>
            <a:endParaRPr lang="en-CA"/>
          </a:p>
        </p:txBody>
      </p:sp>
      <p:sp>
        <p:nvSpPr>
          <p:cNvPr id="100" name="PlaceHolder 8"/>
          <p:cNvSpPr>
            <a:spLocks noGrp="1"/>
          </p:cNvSpPr>
          <p:nvPr>
            <p:ph type="title"/>
          </p:nvPr>
        </p:nvSpPr>
        <p:spPr>
          <a:xfrm>
            <a:off x="1534560" y="617400"/>
            <a:ext cx="10389600" cy="114228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01" name="PlaceHolder 9"/>
          <p:cNvSpPr>
            <a:spLocks noGrp="1"/>
          </p:cNvSpPr>
          <p:nvPr>
            <p:ph type="body"/>
          </p:nvPr>
        </p:nvSpPr>
        <p:spPr>
          <a:xfrm>
            <a:off x="1576800" y="2017800"/>
            <a:ext cx="5056320" cy="4114080"/>
          </a:xfrm>
          <a:prstGeom prst="rect">
            <a:avLst/>
          </a:prstGeom>
        </p:spPr>
        <p:txBody>
          <a:bodyPr lIns="0" tIns="0" rIns="0" bIns="0"/>
          <a:lstStyle/>
          <a:p>
            <a:pPr marL="432000" indent="-324000">
              <a:buClr>
                <a:srgbClr val="000000"/>
              </a:buClr>
              <a:buSzPct val="45000"/>
              <a:buFont typeface="Wingdings" charset="2"/>
              <a:buChar char=""/>
            </a:pPr>
            <a:r>
              <a:rPr lang="en-US" sz="1800" b="0" strike="noStrike" spc="-1">
                <a:solidFill>
                  <a:srgbClr val="000000"/>
                </a:solidFill>
                <a:uFill>
                  <a:solidFill>
                    <a:srgbClr val="FFFFFF"/>
                  </a:solidFill>
                </a:uFill>
                <a:latin typeface="Arial"/>
              </a:rPr>
              <a:t>Click to edit the outline text format</a:t>
            </a:r>
          </a:p>
          <a:p>
            <a:pPr marL="864000" lvl="1" indent="-324000">
              <a:buClr>
                <a:srgbClr val="000000"/>
              </a:buClr>
              <a:buSzPct val="75000"/>
              <a:buFont typeface="Symbol" charset="2"/>
              <a:buChar char=""/>
            </a:pPr>
            <a:r>
              <a:rPr lang="en-US" sz="1800" b="0" strike="noStrike" spc="-1">
                <a:solidFill>
                  <a:srgbClr val="000000"/>
                </a:solidFill>
                <a:uFill>
                  <a:solidFill>
                    <a:srgbClr val="FFFFFF"/>
                  </a:solidFill>
                </a:uFill>
                <a:latin typeface="Arial"/>
              </a:rPr>
              <a:t>Second Outline Level</a:t>
            </a:r>
          </a:p>
          <a:p>
            <a:pPr marL="1296000" lvl="2" indent="-288000">
              <a:buClr>
                <a:srgbClr val="000000"/>
              </a:buClr>
              <a:buSzPct val="45000"/>
              <a:buFont typeface="Wingdings" charset="2"/>
              <a:buChar char=""/>
            </a:pPr>
            <a:r>
              <a:rPr lang="en-US" sz="1800" b="0" strike="noStrike" spc="-1">
                <a:solidFill>
                  <a:srgbClr val="000000"/>
                </a:solidFill>
                <a:uFill>
                  <a:solidFill>
                    <a:srgbClr val="FFFFFF"/>
                  </a:solidFill>
                </a:uFill>
                <a:latin typeface="Arial"/>
              </a:rPr>
              <a:t>Third Outline Level</a:t>
            </a:r>
          </a:p>
          <a:p>
            <a:pPr marL="1728000" lvl="3" indent="-216000">
              <a:buClr>
                <a:srgbClr val="000000"/>
              </a:buClr>
              <a:buSzPct val="75000"/>
              <a:buFont typeface="Symbol" charset="2"/>
              <a:buChar char=""/>
            </a:pPr>
            <a:r>
              <a:rPr lang="en-US" sz="1800" b="0" strike="noStrike" spc="-1">
                <a:solidFill>
                  <a:srgbClr val="000000"/>
                </a:solidFill>
                <a:uFill>
                  <a:solidFill>
                    <a:srgbClr val="FFFFFF"/>
                  </a:solidFill>
                </a:uFill>
                <a:latin typeface="Arial"/>
              </a:rPr>
              <a:t>Fourth Outline Level</a:t>
            </a:r>
          </a:p>
          <a:p>
            <a:pPr marL="2160000" lvl="4" indent="-216000">
              <a:buClr>
                <a:srgbClr val="000000"/>
              </a:buClr>
              <a:buSzPct val="45000"/>
              <a:buFont typeface="Wingdings" charset="2"/>
              <a:buChar char=""/>
            </a:pPr>
            <a:r>
              <a:rPr lang="en-US" sz="1800" b="0" strike="noStrike" spc="-1">
                <a:solidFill>
                  <a:srgbClr val="000000"/>
                </a:solidFill>
                <a:uFill>
                  <a:solidFill>
                    <a:srgbClr val="FFFFFF"/>
                  </a:solidFill>
                </a:uFill>
                <a:latin typeface="Arial"/>
              </a:rPr>
              <a:t>Fifth Outline Level</a:t>
            </a:r>
          </a:p>
          <a:p>
            <a:pPr marL="2592000" lvl="5" indent="-216000">
              <a:buClr>
                <a:srgbClr val="000000"/>
              </a:buClr>
              <a:buSzPct val="45000"/>
              <a:buFont typeface="Wingdings" charset="2"/>
              <a:buChar char=""/>
            </a:pPr>
            <a:r>
              <a:rPr lang="en-US" sz="1800" b="0" strike="noStrike" spc="-1">
                <a:solidFill>
                  <a:srgbClr val="000000"/>
                </a:solidFill>
                <a:uFill>
                  <a:solidFill>
                    <a:srgbClr val="FFFFFF"/>
                  </a:solidFill>
                </a:uFill>
                <a:latin typeface="Arial"/>
              </a:rPr>
              <a:t>Sixth Outline Level</a:t>
            </a:r>
          </a:p>
          <a:p>
            <a:pPr marL="3024000" lvl="6" indent="-216000">
              <a:buClr>
                <a:srgbClr val="000000"/>
              </a:buClr>
              <a:buSzPct val="45000"/>
              <a:buFont typeface="Wingdings" charset="2"/>
              <a:buChar char=""/>
            </a:pPr>
            <a:r>
              <a:rPr lang="en-US" sz="1800" b="0" strike="noStrike" spc="-1">
                <a:solidFill>
                  <a:srgbClr val="000000"/>
                </a:solidFill>
                <a:uFill>
                  <a:solidFill>
                    <a:srgbClr val="FFFFFF"/>
                  </a:solidFill>
                </a:uFill>
                <a:latin typeface="Arial"/>
              </a:rPr>
              <a:t>Seventh Outline Level</a:t>
            </a:r>
          </a:p>
        </p:txBody>
      </p:sp>
      <p:sp>
        <p:nvSpPr>
          <p:cNvPr id="102" name="PlaceHolder 10"/>
          <p:cNvSpPr>
            <a:spLocks noGrp="1"/>
          </p:cNvSpPr>
          <p:nvPr>
            <p:ph type="body"/>
          </p:nvPr>
        </p:nvSpPr>
        <p:spPr>
          <a:xfrm>
            <a:off x="6887040" y="2017800"/>
            <a:ext cx="5056320" cy="4114080"/>
          </a:xfrm>
          <a:prstGeom prst="rect">
            <a:avLst/>
          </a:prstGeom>
        </p:spPr>
        <p:txBody>
          <a:bodyPr lIns="0" tIns="0" rIns="0" bIns="0"/>
          <a:lstStyle/>
          <a:p>
            <a:pPr marL="432000" indent="-324000">
              <a:buClr>
                <a:srgbClr val="000000"/>
              </a:buClr>
              <a:buSzPct val="45000"/>
              <a:buFont typeface="Wingdings" charset="2"/>
              <a:buChar char=""/>
            </a:pPr>
            <a:r>
              <a:rPr lang="en-US" sz="1800" b="0" strike="noStrike" spc="-1">
                <a:solidFill>
                  <a:srgbClr val="000000"/>
                </a:solidFill>
                <a:uFill>
                  <a:solidFill>
                    <a:srgbClr val="FFFFFF"/>
                  </a:solidFill>
                </a:uFill>
                <a:latin typeface="Arial"/>
              </a:rPr>
              <a:t>Click to edit the outline text format</a:t>
            </a:r>
          </a:p>
          <a:p>
            <a:pPr marL="864000" lvl="1" indent="-324000">
              <a:buClr>
                <a:srgbClr val="000000"/>
              </a:buClr>
              <a:buSzPct val="75000"/>
              <a:buFont typeface="Symbol" charset="2"/>
              <a:buChar char=""/>
            </a:pPr>
            <a:r>
              <a:rPr lang="en-US" sz="1800" b="0" strike="noStrike" spc="-1">
                <a:solidFill>
                  <a:srgbClr val="000000"/>
                </a:solidFill>
                <a:uFill>
                  <a:solidFill>
                    <a:srgbClr val="FFFFFF"/>
                  </a:solidFill>
                </a:uFill>
                <a:latin typeface="Arial"/>
              </a:rPr>
              <a:t>Second Outline Level</a:t>
            </a:r>
          </a:p>
          <a:p>
            <a:pPr marL="1296000" lvl="2" indent="-288000">
              <a:buClr>
                <a:srgbClr val="000000"/>
              </a:buClr>
              <a:buSzPct val="45000"/>
              <a:buFont typeface="Wingdings" charset="2"/>
              <a:buChar char=""/>
            </a:pPr>
            <a:r>
              <a:rPr lang="en-US" sz="1800" b="0" strike="noStrike" spc="-1">
                <a:solidFill>
                  <a:srgbClr val="000000"/>
                </a:solidFill>
                <a:uFill>
                  <a:solidFill>
                    <a:srgbClr val="FFFFFF"/>
                  </a:solidFill>
                </a:uFill>
                <a:latin typeface="Arial"/>
              </a:rPr>
              <a:t>Third Outline Level</a:t>
            </a:r>
          </a:p>
          <a:p>
            <a:pPr marL="1728000" lvl="3" indent="-216000">
              <a:buClr>
                <a:srgbClr val="000000"/>
              </a:buClr>
              <a:buSzPct val="75000"/>
              <a:buFont typeface="Symbol" charset="2"/>
              <a:buChar char=""/>
            </a:pPr>
            <a:r>
              <a:rPr lang="en-US" sz="1800" b="0" strike="noStrike" spc="-1">
                <a:solidFill>
                  <a:srgbClr val="000000"/>
                </a:solidFill>
                <a:uFill>
                  <a:solidFill>
                    <a:srgbClr val="FFFFFF"/>
                  </a:solidFill>
                </a:uFill>
                <a:latin typeface="Arial"/>
              </a:rPr>
              <a:t>Fourth Outline Level</a:t>
            </a:r>
          </a:p>
          <a:p>
            <a:pPr marL="2160000" lvl="4" indent="-216000">
              <a:buClr>
                <a:srgbClr val="000000"/>
              </a:buClr>
              <a:buSzPct val="45000"/>
              <a:buFont typeface="Wingdings" charset="2"/>
              <a:buChar char=""/>
            </a:pPr>
            <a:r>
              <a:rPr lang="en-US" sz="1800" b="0" strike="noStrike" spc="-1">
                <a:solidFill>
                  <a:srgbClr val="000000"/>
                </a:solidFill>
                <a:uFill>
                  <a:solidFill>
                    <a:srgbClr val="FFFFFF"/>
                  </a:solidFill>
                </a:uFill>
                <a:latin typeface="Arial"/>
              </a:rPr>
              <a:t>Fifth Outline Level</a:t>
            </a:r>
          </a:p>
          <a:p>
            <a:pPr marL="2592000" lvl="5" indent="-216000">
              <a:buClr>
                <a:srgbClr val="000000"/>
              </a:buClr>
              <a:buSzPct val="45000"/>
              <a:buFont typeface="Wingdings" charset="2"/>
              <a:buChar char=""/>
            </a:pPr>
            <a:r>
              <a:rPr lang="en-US" sz="1800" b="0" strike="noStrike" spc="-1">
                <a:solidFill>
                  <a:srgbClr val="000000"/>
                </a:solidFill>
                <a:uFill>
                  <a:solidFill>
                    <a:srgbClr val="FFFFFF"/>
                  </a:solidFill>
                </a:uFill>
                <a:latin typeface="Arial"/>
              </a:rPr>
              <a:t>Sixth Outline Level</a:t>
            </a:r>
          </a:p>
          <a:p>
            <a:pPr marL="3024000" lvl="6" indent="-216000">
              <a:buClr>
                <a:srgbClr val="000000"/>
              </a:buClr>
              <a:buSzPct val="45000"/>
              <a:buFont typeface="Wingdings" charset="2"/>
              <a:buChar char=""/>
            </a:pPr>
            <a:r>
              <a:rPr lang="en-US" sz="1800" b="0" strike="noStrike" spc="-1">
                <a:solidFill>
                  <a:srgbClr val="000000"/>
                </a:solidFill>
                <a:uFill>
                  <a:solidFill>
                    <a:srgbClr val="FFFFFF"/>
                  </a:solidFill>
                </a:u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432000" indent="-324000" algn="l" defTabSz="914400" rtl="0" eaLnBrk="1" latinLnBrk="0" hangingPunct="1">
        <a:lnSpc>
          <a:spcPct val="90000"/>
        </a:lnSpc>
        <a:spcBef>
          <a:spcPts val="1000"/>
        </a:spcBef>
        <a:buClr>
          <a:srgbClr val="000000"/>
        </a:buClr>
        <a:buSzPct val="45000"/>
        <a:buFont typeface="Wingdings"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CustomShape 3"/>
          <p:cNvSpPr/>
          <p:nvPr/>
        </p:nvSpPr>
        <p:spPr>
          <a:xfrm>
            <a:off x="2514720" y="1828800"/>
            <a:ext cx="77716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r>
              <a:rPr lang="en-US" sz="4400" spc="-1">
                <a:solidFill>
                  <a:srgbClr val="333399"/>
                </a:solidFill>
                <a:uFill>
                  <a:solidFill>
                    <a:srgbClr val="FFFFFF"/>
                  </a:solidFill>
                </a:uFill>
                <a:latin typeface="Tahoma"/>
              </a:rPr>
              <a:t>Python Programming:</a:t>
            </a:r>
            <a:endParaRPr lang="en-US" spc="-1">
              <a:solidFill>
                <a:srgbClr val="000000"/>
              </a:solidFill>
              <a:uFill>
                <a:solidFill>
                  <a:srgbClr val="FFFFFF"/>
                </a:solidFill>
              </a:uFill>
              <a:latin typeface="Arial"/>
            </a:endParaRPr>
          </a:p>
          <a:p>
            <a:r>
              <a:rPr lang="en-US" sz="4400" spc="-1">
                <a:solidFill>
                  <a:srgbClr val="333399"/>
                </a:solidFill>
                <a:uFill>
                  <a:solidFill>
                    <a:srgbClr val="FFFFFF"/>
                  </a:solidFill>
                </a:uFill>
                <a:latin typeface="Tahoma"/>
              </a:rPr>
              <a:t>An Introduction to</a:t>
            </a:r>
            <a:endParaRPr lang="en-US" spc="-1">
              <a:solidFill>
                <a:srgbClr val="000000"/>
              </a:solidFill>
              <a:uFill>
                <a:solidFill>
                  <a:srgbClr val="FFFFFF"/>
                </a:solidFill>
              </a:uFill>
              <a:latin typeface="Arial"/>
            </a:endParaRPr>
          </a:p>
          <a:p>
            <a:pPr>
              <a:lnSpc>
                <a:spcPct val="100000"/>
              </a:lnSpc>
            </a:pPr>
            <a:r>
              <a:rPr lang="en-US" sz="4400" spc="-1">
                <a:solidFill>
                  <a:srgbClr val="333399"/>
                </a:solidFill>
                <a:uFill>
                  <a:solidFill>
                    <a:srgbClr val="FFFFFF"/>
                  </a:solidFill>
                </a:uFill>
                <a:latin typeface="Tahoma"/>
              </a:rPr>
              <a:t>Computer Science</a:t>
            </a:r>
            <a:endParaRPr lang="en-US" spc="-1">
              <a:solidFill>
                <a:srgbClr val="000000"/>
              </a:solidFill>
              <a:uFill>
                <a:solidFill>
                  <a:srgbClr val="FFFFFF"/>
                </a:solidFill>
              </a:uFill>
              <a:latin typeface="Arial"/>
            </a:endParaRPr>
          </a:p>
        </p:txBody>
      </p:sp>
      <p:sp>
        <p:nvSpPr>
          <p:cNvPr id="145" name="CustomShape 4"/>
          <p:cNvSpPr/>
          <p:nvPr/>
        </p:nvSpPr>
        <p:spPr>
          <a:xfrm>
            <a:off x="2667000" y="3813120"/>
            <a:ext cx="6857280" cy="1751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3200" spc="-1">
                <a:solidFill>
                  <a:srgbClr val="000000"/>
                </a:solidFill>
                <a:uFill>
                  <a:solidFill>
                    <a:srgbClr val="FFFFFF"/>
                  </a:solidFill>
                </a:uFill>
                <a:latin typeface="Tahoma"/>
              </a:rPr>
              <a:t>Chapter 8</a:t>
            </a:r>
            <a:endParaRPr lang="en-US" spc="-1">
              <a:solidFill>
                <a:srgbClr val="000000"/>
              </a:solidFill>
              <a:uFill>
                <a:solidFill>
                  <a:srgbClr val="FFFFFF"/>
                </a:solidFill>
              </a:uFill>
              <a:latin typeface="Arial"/>
            </a:endParaRPr>
          </a:p>
          <a:p>
            <a:pPr algn="ctr">
              <a:lnSpc>
                <a:spcPct val="100000"/>
              </a:lnSpc>
            </a:pPr>
            <a:r>
              <a:rPr lang="en-US" sz="3200" spc="-1">
                <a:solidFill>
                  <a:srgbClr val="000000"/>
                </a:solidFill>
                <a:uFill>
                  <a:solidFill>
                    <a:srgbClr val="FFFFFF"/>
                  </a:solidFill>
                </a:uFill>
                <a:latin typeface="Tahoma"/>
              </a:rPr>
              <a:t>Strings</a:t>
            </a:r>
            <a:endParaRPr lang="en-US" spc="-1">
              <a:solidFill>
                <a:srgbClr val="000000"/>
              </a:solidFill>
              <a:uFill>
                <a:solidFill>
                  <a:srgbClr val="FFFFFF"/>
                </a:solidFill>
              </a:uFill>
              <a:latin typeface="Arial"/>
            </a:endParaRPr>
          </a:p>
        </p:txBody>
      </p:sp>
      <p:sp>
        <p:nvSpPr>
          <p:cNvPr id="2" name="CustomShape 1">
            <a:extLst>
              <a:ext uri="{FF2B5EF4-FFF2-40B4-BE49-F238E27FC236}">
                <a16:creationId xmlns:a16="http://schemas.microsoft.com/office/drawing/2014/main" id="{6E291081-4CB2-963D-C3E6-87A06E5DEB45}"/>
              </a:ext>
            </a:extLst>
          </p:cNvPr>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pic>
        <p:nvPicPr>
          <p:cNvPr id="3" name="Picture 2" descr="A book cover of a book&#10;&#10;Description automatically generated">
            <a:extLst>
              <a:ext uri="{FF2B5EF4-FFF2-40B4-BE49-F238E27FC236}">
                <a16:creationId xmlns:a16="http://schemas.microsoft.com/office/drawing/2014/main" id="{889084B6-B672-CA51-3324-F961893AF3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4280" y="800100"/>
            <a:ext cx="1635711" cy="2057400"/>
          </a:xfrm>
          <a:prstGeom prst="rect">
            <a:avLst/>
          </a:prstGeom>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Objectives</a:t>
            </a:r>
            <a:endParaRPr lang="en-US" spc="-1">
              <a:solidFill>
                <a:srgbClr val="000000"/>
              </a:solidFill>
              <a:uFill>
                <a:solidFill>
                  <a:srgbClr val="FFFFFF"/>
                </a:solidFill>
              </a:uFill>
              <a:latin typeface="Arial"/>
            </a:endParaRPr>
          </a:p>
        </p:txBody>
      </p:sp>
      <p:sp>
        <p:nvSpPr>
          <p:cNvPr id="150"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To understand the string data type and how strings are represented in the computer.</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To become familiar with various operations that can be performed on strings through built-in functions and string methods.</a:t>
            </a:r>
            <a:endParaRPr lang="en-US" spc="-1">
              <a:solidFill>
                <a:srgbClr val="000000"/>
              </a:solidFill>
              <a:uFill>
                <a:solidFill>
                  <a:srgbClr val="FFFFFF"/>
                </a:solidFill>
              </a:uFill>
              <a:latin typeface="Arial"/>
            </a:endParaRPr>
          </a:p>
        </p:txBody>
      </p:sp>
      <p:sp>
        <p:nvSpPr>
          <p:cNvPr id="2" name="CustomShape 1">
            <a:extLst>
              <a:ext uri="{FF2B5EF4-FFF2-40B4-BE49-F238E27FC236}">
                <a16:creationId xmlns:a16="http://schemas.microsoft.com/office/drawing/2014/main" id="{C4426D32-7B4D-BCFE-743E-D3F8CDB72E05}"/>
              </a:ext>
            </a:extLst>
          </p:cNvPr>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Objectives</a:t>
            </a:r>
            <a:endParaRPr lang="en-US" spc="-1">
              <a:solidFill>
                <a:srgbClr val="000000"/>
              </a:solidFill>
              <a:uFill>
                <a:solidFill>
                  <a:srgbClr val="FFFFFF"/>
                </a:solidFill>
              </a:uFill>
              <a:latin typeface="Arial"/>
            </a:endParaRPr>
          </a:p>
        </p:txBody>
      </p:sp>
      <p:sp>
        <p:nvSpPr>
          <p:cNvPr id="154"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r>
              <a:rPr lang="en-US" sz="2800" spc="-1">
                <a:solidFill>
                  <a:srgbClr val="000000"/>
                </a:solidFill>
                <a:uFill>
                  <a:solidFill>
                    <a:srgbClr val="FFFFFF"/>
                  </a:solidFill>
                </a:uFill>
                <a:latin typeface="Tahoma"/>
              </a:rPr>
              <a:t>To understand the basic idea of sequences and indexing as they apply to Python strings and lists.</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2800" spc="-1">
                <a:solidFill>
                  <a:srgbClr val="000000"/>
                </a:solidFill>
                <a:uFill>
                  <a:solidFill>
                    <a:srgbClr val="FFFFFF"/>
                  </a:solidFill>
                </a:uFill>
                <a:latin typeface="Tahoma"/>
              </a:rPr>
              <a:t>To be able to apply string formatting to produce attractive, informative program output.</a:t>
            </a:r>
          </a:p>
          <a:p>
            <a:pPr marL="343080" indent="-342360">
              <a:buClr>
                <a:srgbClr val="3333CC"/>
              </a:buClr>
              <a:buSzPct val="60000"/>
              <a:buFont typeface="Wingdings" charset="2"/>
              <a:buChar char=""/>
            </a:pPr>
            <a:r>
              <a:rPr lang="en-US" sz="2800" spc="-1">
                <a:solidFill>
                  <a:srgbClr val="000000"/>
                </a:solidFill>
                <a:uFill>
                  <a:solidFill>
                    <a:srgbClr val="FFFFFF"/>
                  </a:solidFill>
                </a:uFill>
                <a:latin typeface="Tahoma" panose="020B0604030504040204" pitchFamily="34" charset="0"/>
                <a:ea typeface="Tahoma" panose="020B0604030504040204" pitchFamily="34" charset="0"/>
                <a:cs typeface="Tahoma" panose="020B0604030504040204" pitchFamily="34" charset="0"/>
              </a:rPr>
              <a:t>To understand basic concepts of cryptography.</a:t>
            </a:r>
          </a:p>
          <a:p>
            <a:pPr marL="343080" indent="-342360">
              <a:buClr>
                <a:srgbClr val="3333CC"/>
              </a:buClr>
              <a:buSzPct val="60000"/>
              <a:buFont typeface="Wingdings" charset="2"/>
              <a:buChar char=""/>
            </a:pPr>
            <a:r>
              <a:rPr lang="en-US" sz="2800" spc="-1">
                <a:solidFill>
                  <a:srgbClr val="000000"/>
                </a:solidFill>
                <a:uFill>
                  <a:solidFill>
                    <a:srgbClr val="FFFFFF"/>
                  </a:solidFill>
                </a:uFill>
                <a:latin typeface="Tahoma" panose="020B0604030504040204" pitchFamily="34" charset="0"/>
                <a:ea typeface="Tahoma" panose="020B0604030504040204" pitchFamily="34" charset="0"/>
                <a:cs typeface="Tahoma" panose="020B0604030504040204" pitchFamily="34" charset="0"/>
              </a:rPr>
              <a:t>To be able to understand and write programs that process textual information.</a:t>
            </a:r>
          </a:p>
        </p:txBody>
      </p:sp>
      <p:sp>
        <p:nvSpPr>
          <p:cNvPr id="2" name="CustomShape 1">
            <a:extLst>
              <a:ext uri="{FF2B5EF4-FFF2-40B4-BE49-F238E27FC236}">
                <a16:creationId xmlns:a16="http://schemas.microsoft.com/office/drawing/2014/main" id="{3B05DFA9-254F-9F42-8B04-0D47AA1CAE1C}"/>
              </a:ext>
            </a:extLst>
          </p:cNvPr>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The String Data Type</a:t>
            </a:r>
            <a:endParaRPr lang="en-US" spc="-1">
              <a:solidFill>
                <a:srgbClr val="000000"/>
              </a:solidFill>
              <a:uFill>
                <a:solidFill>
                  <a:srgbClr val="FFFFFF"/>
                </a:solidFill>
              </a:uFill>
              <a:latin typeface="Arial"/>
            </a:endParaRPr>
          </a:p>
        </p:txBody>
      </p:sp>
      <p:sp>
        <p:nvSpPr>
          <p:cNvPr id="162"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The most common use of personal computers is word processing.</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Text is represented in programs by the </a:t>
            </a:r>
            <a:r>
              <a:rPr lang="en-US" sz="3200" i="1" spc="-1">
                <a:solidFill>
                  <a:srgbClr val="000000"/>
                </a:solidFill>
                <a:uFill>
                  <a:solidFill>
                    <a:srgbClr val="FFFFFF"/>
                  </a:solidFill>
                </a:uFill>
                <a:latin typeface="Tahoma"/>
              </a:rPr>
              <a:t>string</a:t>
            </a:r>
            <a:r>
              <a:rPr lang="en-US" sz="3200" spc="-1">
                <a:solidFill>
                  <a:srgbClr val="000000"/>
                </a:solidFill>
                <a:uFill>
                  <a:solidFill>
                    <a:srgbClr val="FFFFFF"/>
                  </a:solidFill>
                </a:uFill>
                <a:latin typeface="Tahoma"/>
              </a:rPr>
              <a:t> data type.</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A string is a sequence of characters enclosed within quotation marks (") or apostrophes (').</a:t>
            </a:r>
            <a:endParaRPr lang="en-US" spc="-1">
              <a:solidFill>
                <a:srgbClr val="000000"/>
              </a:solidFill>
              <a:uFill>
                <a:solidFill>
                  <a:srgbClr val="FFFFFF"/>
                </a:solidFill>
              </a:uFill>
              <a:latin typeface="Arial"/>
            </a:endParaRPr>
          </a:p>
        </p:txBody>
      </p:sp>
      <p:sp>
        <p:nvSpPr>
          <p:cNvPr id="2" name="CustomShape 1">
            <a:extLst>
              <a:ext uri="{FF2B5EF4-FFF2-40B4-BE49-F238E27FC236}">
                <a16:creationId xmlns:a16="http://schemas.microsoft.com/office/drawing/2014/main" id="{5C921C1A-4814-1BB0-AB7B-8030F92FFC21}"/>
              </a:ext>
            </a:extLst>
          </p:cNvPr>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The String Data Type</a:t>
            </a:r>
            <a:endParaRPr lang="en-US" spc="-1">
              <a:solidFill>
                <a:srgbClr val="000000"/>
              </a:solidFill>
              <a:uFill>
                <a:solidFill>
                  <a:srgbClr val="FFFFFF"/>
                </a:solidFill>
              </a:uFill>
              <a:latin typeface="Arial"/>
            </a:endParaRPr>
          </a:p>
        </p:txBody>
      </p:sp>
      <p:sp>
        <p:nvSpPr>
          <p:cNvPr id="166"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r>
              <a:rPr lang="en-US" sz="2400" spc="-1">
                <a:solidFill>
                  <a:srgbClr val="000000"/>
                </a:solidFill>
                <a:uFill>
                  <a:solidFill>
                    <a:srgbClr val="FFFFFF"/>
                  </a:solidFill>
                </a:uFill>
                <a:latin typeface="Courier New"/>
              </a:rPr>
              <a:t>&gt;&gt;&gt; str1="Hello"</a:t>
            </a:r>
            <a:endParaRPr lang="en-US" sz="2400" spc="-1">
              <a:solidFill>
                <a:srgbClr val="000000"/>
              </a:solidFill>
              <a:uFill>
                <a:solidFill>
                  <a:srgbClr val="FFFFFF"/>
                </a:solidFill>
              </a:uFill>
              <a:latin typeface="Arial"/>
            </a:endParaRPr>
          </a:p>
          <a:p>
            <a:pPr marL="343080" indent="-342360"/>
            <a:r>
              <a:rPr lang="en-US" sz="2400" spc="-1">
                <a:solidFill>
                  <a:srgbClr val="000000"/>
                </a:solidFill>
                <a:uFill>
                  <a:solidFill>
                    <a:srgbClr val="FFFFFF"/>
                  </a:solidFill>
                </a:uFill>
                <a:latin typeface="Courier New"/>
              </a:rPr>
              <a:t>&gt;&gt;&gt; str2='spam'</a:t>
            </a:r>
            <a:endParaRPr lang="en-US" sz="2400" spc="-1">
              <a:solidFill>
                <a:srgbClr val="000000"/>
              </a:solidFill>
              <a:uFill>
                <a:solidFill>
                  <a:srgbClr val="FFFFFF"/>
                </a:solidFill>
              </a:uFill>
              <a:latin typeface="Arial"/>
            </a:endParaRPr>
          </a:p>
          <a:p>
            <a:pPr marL="343080" indent="-342360"/>
            <a:r>
              <a:rPr lang="en-US" sz="2400" spc="-1">
                <a:solidFill>
                  <a:srgbClr val="000000"/>
                </a:solidFill>
                <a:uFill>
                  <a:solidFill>
                    <a:srgbClr val="FFFFFF"/>
                  </a:solidFill>
                </a:uFill>
                <a:latin typeface="Courier New"/>
              </a:rPr>
              <a:t>&gt;&gt;&gt; print(str1, str2)</a:t>
            </a:r>
            <a:endParaRPr lang="en-US" sz="2400" spc="-1">
              <a:solidFill>
                <a:srgbClr val="000000"/>
              </a:solidFill>
              <a:uFill>
                <a:solidFill>
                  <a:srgbClr val="FFFFFF"/>
                </a:solidFill>
              </a:uFill>
              <a:latin typeface="Arial"/>
            </a:endParaRPr>
          </a:p>
          <a:p>
            <a:pPr marL="343080" indent="-342360"/>
            <a:r>
              <a:rPr lang="en-US" sz="2400" spc="-1">
                <a:solidFill>
                  <a:srgbClr val="000000"/>
                </a:solidFill>
                <a:uFill>
                  <a:solidFill>
                    <a:srgbClr val="FFFFFF"/>
                  </a:solidFill>
                </a:uFill>
                <a:latin typeface="Courier New"/>
              </a:rPr>
              <a:t>Hello spam</a:t>
            </a:r>
            <a:endParaRPr lang="en-US" sz="2400" spc="-1">
              <a:solidFill>
                <a:srgbClr val="000000"/>
              </a:solidFill>
              <a:uFill>
                <a:solidFill>
                  <a:srgbClr val="FFFFFF"/>
                </a:solidFill>
              </a:uFill>
              <a:latin typeface="Arial"/>
            </a:endParaRPr>
          </a:p>
          <a:p>
            <a:pPr marL="343080" indent="-342360"/>
            <a:r>
              <a:rPr lang="en-US" sz="2400" spc="-1">
                <a:solidFill>
                  <a:srgbClr val="000000"/>
                </a:solidFill>
                <a:uFill>
                  <a:solidFill>
                    <a:srgbClr val="FFFFFF"/>
                  </a:solidFill>
                </a:uFill>
                <a:latin typeface="Courier New"/>
              </a:rPr>
              <a:t>&gt;&gt;&gt; type(str1)</a:t>
            </a:r>
            <a:endParaRPr lang="en-US" sz="2400" spc="-1">
              <a:solidFill>
                <a:srgbClr val="000000"/>
              </a:solidFill>
              <a:uFill>
                <a:solidFill>
                  <a:srgbClr val="FFFFFF"/>
                </a:solidFill>
              </a:uFill>
              <a:latin typeface="Arial"/>
            </a:endParaRPr>
          </a:p>
          <a:p>
            <a:pPr marL="343080" indent="-342360"/>
            <a:r>
              <a:rPr lang="en-US" sz="2400" spc="-1">
                <a:solidFill>
                  <a:srgbClr val="000000"/>
                </a:solidFill>
                <a:uFill>
                  <a:solidFill>
                    <a:srgbClr val="FFFFFF"/>
                  </a:solidFill>
                </a:uFill>
                <a:latin typeface="Courier New"/>
              </a:rPr>
              <a:t>&lt;class 'str'&gt;</a:t>
            </a:r>
            <a:endParaRPr lang="en-US" sz="2400" spc="-1">
              <a:solidFill>
                <a:srgbClr val="000000"/>
              </a:solidFill>
              <a:uFill>
                <a:solidFill>
                  <a:srgbClr val="FFFFFF"/>
                </a:solidFill>
              </a:uFill>
              <a:latin typeface="Arial"/>
            </a:endParaRPr>
          </a:p>
          <a:p>
            <a:pPr marL="343080" indent="-342360"/>
            <a:r>
              <a:rPr lang="en-US" sz="2400" spc="-1">
                <a:solidFill>
                  <a:srgbClr val="000000"/>
                </a:solidFill>
                <a:uFill>
                  <a:solidFill>
                    <a:srgbClr val="FFFFFF"/>
                  </a:solidFill>
                </a:uFill>
                <a:latin typeface="Courier New"/>
              </a:rPr>
              <a:t>&gt;&gt;&gt; type(str2)</a:t>
            </a:r>
            <a:endParaRPr lang="en-US" sz="2400" spc="-1">
              <a:solidFill>
                <a:srgbClr val="000000"/>
              </a:solidFill>
              <a:uFill>
                <a:solidFill>
                  <a:srgbClr val="FFFFFF"/>
                </a:solidFill>
              </a:uFill>
              <a:latin typeface="Arial"/>
            </a:endParaRPr>
          </a:p>
          <a:p>
            <a:pPr marL="343080" indent="-342360"/>
            <a:r>
              <a:rPr lang="en-US" sz="2400" spc="-1">
                <a:solidFill>
                  <a:srgbClr val="000000"/>
                </a:solidFill>
                <a:uFill>
                  <a:solidFill>
                    <a:srgbClr val="FFFFFF"/>
                  </a:solidFill>
                </a:uFill>
                <a:latin typeface="Courier New"/>
              </a:rPr>
              <a:t>&lt;class 'str'&gt;</a:t>
            </a:r>
            <a:endParaRPr lang="en-US" sz="2400" spc="-1">
              <a:solidFill>
                <a:srgbClr val="000000"/>
              </a:solidFill>
              <a:uFill>
                <a:solidFill>
                  <a:srgbClr val="FFFFFF"/>
                </a:solidFill>
              </a:uFill>
              <a:latin typeface="Arial"/>
            </a:endParaRPr>
          </a:p>
        </p:txBody>
      </p:sp>
      <p:sp>
        <p:nvSpPr>
          <p:cNvPr id="2" name="CustomShape 1">
            <a:extLst>
              <a:ext uri="{FF2B5EF4-FFF2-40B4-BE49-F238E27FC236}">
                <a16:creationId xmlns:a16="http://schemas.microsoft.com/office/drawing/2014/main" id="{3E023709-5A7A-41BC-D089-A9C9D222044B}"/>
              </a:ext>
            </a:extLst>
          </p:cNvPr>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The String Data Type</a:t>
            </a:r>
            <a:endParaRPr lang="en-US" spc="-1">
              <a:solidFill>
                <a:srgbClr val="000000"/>
              </a:solidFill>
              <a:uFill>
                <a:solidFill>
                  <a:srgbClr val="FFFFFF"/>
                </a:solidFill>
              </a:uFill>
              <a:latin typeface="Arial"/>
            </a:endParaRPr>
          </a:p>
        </p:txBody>
      </p:sp>
      <p:sp>
        <p:nvSpPr>
          <p:cNvPr id="170" name="CustomShape 4"/>
          <p:cNvSpPr/>
          <p:nvPr/>
        </p:nvSpPr>
        <p:spPr>
          <a:xfrm>
            <a:off x="1499616" y="2017800"/>
            <a:ext cx="9939528"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r>
              <a:rPr lang="en-US" sz="2800" spc="-1">
                <a:solidFill>
                  <a:srgbClr val="000000"/>
                </a:solidFill>
                <a:uFill>
                  <a:solidFill>
                    <a:srgbClr val="FFFFFF"/>
                  </a:solidFill>
                </a:uFill>
                <a:latin typeface="Tahoma"/>
              </a:rPr>
              <a:t>Getting a string as input</a:t>
            </a:r>
            <a:endParaRPr lang="en-US" spc="-1">
              <a:solidFill>
                <a:srgbClr val="000000"/>
              </a:solidFill>
              <a:uFill>
                <a:solidFill>
                  <a:srgbClr val="FFFFFF"/>
                </a:solidFill>
              </a:uFill>
              <a:latin typeface="Arial"/>
            </a:endParaRPr>
          </a:p>
          <a:p>
            <a:pPr>
              <a:lnSpc>
                <a:spcPct val="100000"/>
              </a:lnSpc>
            </a:pPr>
            <a:endParaRPr lang="en-US" spc="-1">
              <a:solidFill>
                <a:srgbClr val="000000"/>
              </a:solidFill>
              <a:uFill>
                <a:solidFill>
                  <a:srgbClr val="FFFFFF"/>
                </a:solidFill>
              </a:uFill>
              <a:latin typeface="Arial"/>
            </a:endParaRPr>
          </a:p>
          <a:p>
            <a:pPr>
              <a:lnSpc>
                <a:spcPct val="100000"/>
              </a:lnSpc>
            </a:pPr>
            <a:r>
              <a:rPr lang="en-US" sz="2400" spc="-1">
                <a:solidFill>
                  <a:srgbClr val="000000"/>
                </a:solidFill>
                <a:uFill>
                  <a:solidFill>
                    <a:srgbClr val="FFFFFF"/>
                  </a:solidFill>
                </a:uFill>
                <a:latin typeface="Courier New"/>
              </a:rPr>
              <a:t>&gt;&gt;&gt; </a:t>
            </a:r>
            <a:r>
              <a:rPr lang="en-US" sz="2400" spc="-1" err="1">
                <a:solidFill>
                  <a:srgbClr val="000000"/>
                </a:solidFill>
                <a:uFill>
                  <a:solidFill>
                    <a:srgbClr val="FFFFFF"/>
                  </a:solidFill>
                </a:uFill>
                <a:latin typeface="Courier New"/>
              </a:rPr>
              <a:t>firstName</a:t>
            </a:r>
            <a:r>
              <a:rPr lang="en-US" sz="2400" spc="-1">
                <a:solidFill>
                  <a:srgbClr val="000000"/>
                </a:solidFill>
                <a:uFill>
                  <a:solidFill>
                    <a:srgbClr val="FFFFFF"/>
                  </a:solidFill>
                </a:uFill>
                <a:latin typeface="Courier New"/>
              </a:rPr>
              <a:t> = input("Please enter your name: ")</a:t>
            </a:r>
            <a:endParaRPr lang="en-US" sz="2400" spc="-1">
              <a:solidFill>
                <a:srgbClr val="000000"/>
              </a:solidFill>
              <a:uFill>
                <a:solidFill>
                  <a:srgbClr val="FFFFFF"/>
                </a:solidFill>
              </a:uFill>
              <a:latin typeface="Arial"/>
            </a:endParaRPr>
          </a:p>
          <a:p>
            <a:pPr>
              <a:lnSpc>
                <a:spcPct val="100000"/>
              </a:lnSpc>
            </a:pPr>
            <a:r>
              <a:rPr lang="en-US" sz="2400" spc="-1">
                <a:solidFill>
                  <a:srgbClr val="000000"/>
                </a:solidFill>
                <a:uFill>
                  <a:solidFill>
                    <a:srgbClr val="FFFFFF"/>
                  </a:solidFill>
                </a:uFill>
                <a:latin typeface="Courier New"/>
              </a:rPr>
              <a:t>Please enter your name: John</a:t>
            </a:r>
            <a:endParaRPr lang="en-US" sz="2400" spc="-1">
              <a:solidFill>
                <a:srgbClr val="000000"/>
              </a:solidFill>
              <a:uFill>
                <a:solidFill>
                  <a:srgbClr val="FFFFFF"/>
                </a:solidFill>
              </a:uFill>
              <a:latin typeface="Arial"/>
            </a:endParaRPr>
          </a:p>
          <a:p>
            <a:pPr>
              <a:lnSpc>
                <a:spcPct val="100000"/>
              </a:lnSpc>
            </a:pPr>
            <a:r>
              <a:rPr lang="en-US" sz="2400" spc="-1">
                <a:solidFill>
                  <a:srgbClr val="000000"/>
                </a:solidFill>
                <a:uFill>
                  <a:solidFill>
                    <a:srgbClr val="FFFFFF"/>
                  </a:solidFill>
                </a:uFill>
                <a:latin typeface="Courier New"/>
              </a:rPr>
              <a:t>&gt;&gt;&gt; print("Hello", </a:t>
            </a:r>
            <a:r>
              <a:rPr lang="en-US" sz="2400" spc="-1" err="1">
                <a:solidFill>
                  <a:srgbClr val="000000"/>
                </a:solidFill>
                <a:uFill>
                  <a:solidFill>
                    <a:srgbClr val="FFFFFF"/>
                  </a:solidFill>
                </a:uFill>
                <a:latin typeface="Courier New"/>
              </a:rPr>
              <a:t>firstName</a:t>
            </a:r>
            <a:r>
              <a:rPr lang="en-US" sz="2400" spc="-1">
                <a:solidFill>
                  <a:srgbClr val="000000"/>
                </a:solidFill>
                <a:uFill>
                  <a:solidFill>
                    <a:srgbClr val="FFFFFF"/>
                  </a:solidFill>
                </a:uFill>
                <a:latin typeface="Courier New"/>
              </a:rPr>
              <a:t>)</a:t>
            </a:r>
            <a:endParaRPr lang="en-US" sz="2400" spc="-1">
              <a:solidFill>
                <a:srgbClr val="000000"/>
              </a:solidFill>
              <a:uFill>
                <a:solidFill>
                  <a:srgbClr val="FFFFFF"/>
                </a:solidFill>
              </a:uFill>
              <a:latin typeface="Arial"/>
            </a:endParaRPr>
          </a:p>
          <a:p>
            <a:pPr>
              <a:lnSpc>
                <a:spcPct val="100000"/>
              </a:lnSpc>
            </a:pPr>
            <a:r>
              <a:rPr lang="en-US" sz="2400" spc="-1">
                <a:solidFill>
                  <a:srgbClr val="000000"/>
                </a:solidFill>
                <a:uFill>
                  <a:solidFill>
                    <a:srgbClr val="FFFFFF"/>
                  </a:solidFill>
                </a:uFill>
                <a:latin typeface="Courier New"/>
              </a:rPr>
              <a:t>Hello John</a:t>
            </a:r>
            <a:endParaRPr lang="en-US" sz="2400" spc="-1">
              <a:solidFill>
                <a:srgbClr val="000000"/>
              </a:solidFill>
              <a:uFill>
                <a:solidFill>
                  <a:srgbClr val="FFFFFF"/>
                </a:solidFill>
              </a:uFill>
              <a:latin typeface="Arial"/>
            </a:endParaRPr>
          </a:p>
          <a:p>
            <a:pPr>
              <a:lnSpc>
                <a:spcPct val="100000"/>
              </a:lnSpc>
            </a:pP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2800" spc="-1">
                <a:solidFill>
                  <a:srgbClr val="000000"/>
                </a:solidFill>
                <a:uFill>
                  <a:solidFill>
                    <a:srgbClr val="FFFFFF"/>
                  </a:solidFill>
                </a:uFill>
                <a:latin typeface="Tahoma"/>
              </a:rPr>
              <a:t>Notice how we saved the user’s name with a variable to print the name back out again.</a:t>
            </a:r>
            <a:endParaRPr lang="en-US" spc="-1">
              <a:solidFill>
                <a:srgbClr val="000000"/>
              </a:solidFill>
              <a:uFill>
                <a:solidFill>
                  <a:srgbClr val="FFFFFF"/>
                </a:solidFill>
              </a:uFill>
              <a:latin typeface="Arial"/>
            </a:endParaRPr>
          </a:p>
          <a:p>
            <a:pPr marL="343080" indent="-342360"/>
            <a:endParaRPr lang="en-US" spc="-1">
              <a:solidFill>
                <a:srgbClr val="000000"/>
              </a:solidFill>
              <a:uFill>
                <a:solidFill>
                  <a:srgbClr val="FFFFFF"/>
                </a:solidFill>
              </a:uFill>
              <a:latin typeface="Arial"/>
            </a:endParaRPr>
          </a:p>
        </p:txBody>
      </p:sp>
      <p:sp>
        <p:nvSpPr>
          <p:cNvPr id="2" name="CustomShape 1">
            <a:extLst>
              <a:ext uri="{FF2B5EF4-FFF2-40B4-BE49-F238E27FC236}">
                <a16:creationId xmlns:a16="http://schemas.microsoft.com/office/drawing/2014/main" id="{A280321B-6951-20DD-5B61-6DA42C284498}"/>
              </a:ext>
            </a:extLst>
          </p:cNvPr>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172"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CC6F64F1-40A4-460A-A106-BAA629BFA9CB}" type="slidenum">
              <a:rPr lang="en-US" sz="1400" spc="-1">
                <a:solidFill>
                  <a:srgbClr val="000000"/>
                </a:solidFill>
                <a:uFill>
                  <a:solidFill>
                    <a:srgbClr val="FFFFFF"/>
                  </a:solidFill>
                </a:uFill>
                <a:latin typeface="Tahoma"/>
              </a:rPr>
              <a:t>7</a:t>
            </a:fld>
            <a:endParaRPr lang="en-US" spc="-1">
              <a:solidFill>
                <a:srgbClr val="000000"/>
              </a:solidFill>
              <a:uFill>
                <a:solidFill>
                  <a:srgbClr val="FFFFFF"/>
                </a:solidFill>
              </a:uFill>
              <a:latin typeface="Arial"/>
            </a:endParaRPr>
          </a:p>
        </p:txBody>
      </p:sp>
      <p:sp>
        <p:nvSpPr>
          <p:cNvPr id="173"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The String Data Type</a:t>
            </a:r>
            <a:endParaRPr lang="en-US" spc="-1">
              <a:solidFill>
                <a:srgbClr val="000000"/>
              </a:solidFill>
              <a:uFill>
                <a:solidFill>
                  <a:srgbClr val="FFFFFF"/>
                </a:solidFill>
              </a:uFill>
              <a:latin typeface="Arial"/>
            </a:endParaRPr>
          </a:p>
        </p:txBody>
      </p:sp>
      <p:sp>
        <p:nvSpPr>
          <p:cNvPr id="174"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90000"/>
              </a:lnSpc>
              <a:buClr>
                <a:srgbClr val="3333CC"/>
              </a:buClr>
              <a:buSzPct val="60000"/>
              <a:buFont typeface="Wingdings" charset="2"/>
              <a:buChar char=""/>
            </a:pPr>
            <a:r>
              <a:rPr lang="en-US" sz="3200" spc="-1">
                <a:solidFill>
                  <a:srgbClr val="000000"/>
                </a:solidFill>
                <a:uFill>
                  <a:solidFill>
                    <a:srgbClr val="FFFFFF"/>
                  </a:solidFill>
                </a:uFill>
                <a:latin typeface="Tahoma"/>
              </a:rPr>
              <a:t>We can access the individual characters in a string through </a:t>
            </a:r>
            <a:r>
              <a:rPr lang="en-US" sz="3200" i="1" spc="-1">
                <a:solidFill>
                  <a:srgbClr val="000000"/>
                </a:solidFill>
                <a:uFill>
                  <a:solidFill>
                    <a:srgbClr val="FFFFFF"/>
                  </a:solidFill>
                </a:uFill>
                <a:latin typeface="Tahoma"/>
              </a:rPr>
              <a:t>indexing</a:t>
            </a:r>
            <a:r>
              <a:rPr lang="en-US" sz="3200" spc="-1">
                <a:solidFill>
                  <a:srgbClr val="000000"/>
                </a:solidFill>
                <a:uFill>
                  <a:solidFill>
                    <a:srgbClr val="FFFFFF"/>
                  </a:solidFill>
                </a:uFill>
                <a:latin typeface="Tahoma"/>
              </a:rPr>
              <a:t>.</a:t>
            </a:r>
            <a:endParaRPr lang="en-US" spc="-1">
              <a:solidFill>
                <a:srgbClr val="000000"/>
              </a:solidFill>
              <a:uFill>
                <a:solidFill>
                  <a:srgbClr val="FFFFFF"/>
                </a:solidFill>
              </a:uFill>
              <a:latin typeface="Arial"/>
            </a:endParaRPr>
          </a:p>
          <a:p>
            <a:pPr marL="343080" indent="-342360">
              <a:lnSpc>
                <a:spcPct val="90000"/>
              </a:lnSpc>
              <a:buClr>
                <a:srgbClr val="3333CC"/>
              </a:buClr>
              <a:buSzPct val="60000"/>
              <a:buFont typeface="Wingdings" charset="2"/>
              <a:buChar char=""/>
            </a:pPr>
            <a:r>
              <a:rPr lang="en-US" sz="3200" spc="-1">
                <a:solidFill>
                  <a:srgbClr val="000000"/>
                </a:solidFill>
                <a:uFill>
                  <a:solidFill>
                    <a:srgbClr val="FFFFFF"/>
                  </a:solidFill>
                </a:uFill>
                <a:latin typeface="Tahoma"/>
              </a:rPr>
              <a:t>The positions in a string are numbered from the left, starting with 0.</a:t>
            </a:r>
            <a:endParaRPr lang="en-US" spc="-1">
              <a:solidFill>
                <a:srgbClr val="000000"/>
              </a:solidFill>
              <a:uFill>
                <a:solidFill>
                  <a:srgbClr val="FFFFFF"/>
                </a:solidFill>
              </a:uFill>
              <a:latin typeface="Arial"/>
            </a:endParaRPr>
          </a:p>
          <a:p>
            <a:pPr marL="343080" indent="-342360">
              <a:lnSpc>
                <a:spcPct val="90000"/>
              </a:lnSpc>
              <a:buClr>
                <a:srgbClr val="3333CC"/>
              </a:buClr>
              <a:buSzPct val="60000"/>
              <a:buFont typeface="Wingdings" charset="2"/>
              <a:buChar char=""/>
            </a:pPr>
            <a:r>
              <a:rPr lang="en-US" sz="3200" spc="-1">
                <a:solidFill>
                  <a:srgbClr val="000000"/>
                </a:solidFill>
                <a:uFill>
                  <a:solidFill>
                    <a:srgbClr val="FFFFFF"/>
                  </a:solidFill>
                </a:uFill>
                <a:latin typeface="Tahoma"/>
              </a:rPr>
              <a:t>The general form is </a:t>
            </a:r>
            <a:r>
              <a:rPr lang="en-US" sz="2800" spc="-1">
                <a:solidFill>
                  <a:srgbClr val="000000"/>
                </a:solidFill>
                <a:uFill>
                  <a:solidFill>
                    <a:srgbClr val="FFFFFF"/>
                  </a:solidFill>
                </a:uFill>
                <a:latin typeface="Courier New"/>
              </a:rPr>
              <a:t>&lt;string&gt;[&lt;expr&gt;]</a:t>
            </a:r>
            <a:r>
              <a:rPr lang="en-US" sz="3200" spc="-1">
                <a:solidFill>
                  <a:srgbClr val="000000"/>
                </a:solidFill>
                <a:uFill>
                  <a:solidFill>
                    <a:srgbClr val="FFFFFF"/>
                  </a:solidFill>
                </a:uFill>
                <a:latin typeface="Tahoma"/>
              </a:rPr>
              <a:t>, where the value of </a:t>
            </a:r>
            <a:r>
              <a:rPr lang="en-US" sz="2800" spc="-1">
                <a:solidFill>
                  <a:srgbClr val="000000"/>
                </a:solidFill>
                <a:uFill>
                  <a:solidFill>
                    <a:srgbClr val="FFFFFF"/>
                  </a:solidFill>
                </a:uFill>
                <a:latin typeface="Courier New" panose="02070309020205020404" pitchFamily="49" charset="0"/>
                <a:cs typeface="Courier New" panose="02070309020205020404" pitchFamily="49" charset="0"/>
              </a:rPr>
              <a:t>expr</a:t>
            </a:r>
            <a:r>
              <a:rPr lang="en-US" sz="3200" spc="-1">
                <a:solidFill>
                  <a:srgbClr val="000000"/>
                </a:solidFill>
                <a:uFill>
                  <a:solidFill>
                    <a:srgbClr val="FFFFFF"/>
                  </a:solidFill>
                </a:uFill>
                <a:latin typeface="Tahoma"/>
              </a:rPr>
              <a:t> determines which character is selected from the string.</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176"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E86A7AC4-107A-4286-9513-72AB20635DB5}" type="slidenum">
              <a:rPr lang="en-US" sz="1400" spc="-1">
                <a:solidFill>
                  <a:srgbClr val="000000"/>
                </a:solidFill>
                <a:uFill>
                  <a:solidFill>
                    <a:srgbClr val="FFFFFF"/>
                  </a:solidFill>
                </a:uFill>
                <a:latin typeface="Tahoma"/>
              </a:rPr>
              <a:t>8</a:t>
            </a:fld>
            <a:endParaRPr lang="en-US" spc="-1">
              <a:solidFill>
                <a:srgbClr val="000000"/>
              </a:solidFill>
              <a:uFill>
                <a:solidFill>
                  <a:srgbClr val="FFFFFF"/>
                </a:solidFill>
              </a:uFill>
              <a:latin typeface="Arial"/>
            </a:endParaRPr>
          </a:p>
        </p:txBody>
      </p:sp>
      <p:sp>
        <p:nvSpPr>
          <p:cNvPr id="177"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The String Data Type</a:t>
            </a:r>
            <a:endParaRPr lang="en-US" spc="-1">
              <a:solidFill>
                <a:srgbClr val="000000"/>
              </a:solidFill>
              <a:uFill>
                <a:solidFill>
                  <a:srgbClr val="FFFFFF"/>
                </a:solidFill>
              </a:uFill>
              <a:latin typeface="Arial"/>
            </a:endParaRPr>
          </a:p>
        </p:txBody>
      </p:sp>
      <p:sp>
        <p:nvSpPr>
          <p:cNvPr id="178" name="CustomShape 4"/>
          <p:cNvSpPr/>
          <p:nvPr/>
        </p:nvSpPr>
        <p:spPr>
          <a:xfrm>
            <a:off x="832464" y="3429000"/>
            <a:ext cx="10706544" cy="3072384"/>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r>
              <a:rPr lang="en-US" spc="-1">
                <a:solidFill>
                  <a:srgbClr val="000000"/>
                </a:solidFill>
                <a:uFill>
                  <a:solidFill>
                    <a:srgbClr val="FFFFFF"/>
                  </a:solidFill>
                </a:uFill>
                <a:latin typeface="Courier New"/>
              </a:rPr>
              <a:t>&gt;&gt;&gt; greet = "Hello Bob"</a:t>
            </a:r>
            <a:endParaRPr lang="en-US" spc="-1">
              <a:solidFill>
                <a:srgbClr val="000000"/>
              </a:solidFill>
              <a:uFill>
                <a:solidFill>
                  <a:srgbClr val="FFFFFF"/>
                </a:solidFill>
              </a:uFill>
              <a:latin typeface="Arial"/>
            </a:endParaRPr>
          </a:p>
          <a:p>
            <a:pPr marL="343080" indent="-342360"/>
            <a:r>
              <a:rPr lang="en-US" spc="-1">
                <a:solidFill>
                  <a:srgbClr val="000000"/>
                </a:solidFill>
                <a:uFill>
                  <a:solidFill>
                    <a:srgbClr val="FFFFFF"/>
                  </a:solidFill>
                </a:uFill>
                <a:latin typeface="Courier New"/>
              </a:rPr>
              <a:t>&gt;&gt;&gt; greet[0]</a:t>
            </a:r>
            <a:endParaRPr lang="en-US" spc="-1">
              <a:solidFill>
                <a:srgbClr val="000000"/>
              </a:solidFill>
              <a:uFill>
                <a:solidFill>
                  <a:srgbClr val="FFFFFF"/>
                </a:solidFill>
              </a:uFill>
              <a:latin typeface="Arial"/>
            </a:endParaRPr>
          </a:p>
          <a:p>
            <a:pPr marL="343080" indent="-342360"/>
            <a:r>
              <a:rPr lang="en-US" spc="-1">
                <a:solidFill>
                  <a:srgbClr val="000000"/>
                </a:solidFill>
                <a:uFill>
                  <a:solidFill>
                    <a:srgbClr val="FFFFFF"/>
                  </a:solidFill>
                </a:uFill>
                <a:latin typeface="Courier New"/>
              </a:rPr>
              <a:t>'H'</a:t>
            </a:r>
            <a:endParaRPr lang="en-US" spc="-1">
              <a:solidFill>
                <a:srgbClr val="000000"/>
              </a:solidFill>
              <a:uFill>
                <a:solidFill>
                  <a:srgbClr val="FFFFFF"/>
                </a:solidFill>
              </a:uFill>
              <a:latin typeface="Arial"/>
            </a:endParaRPr>
          </a:p>
          <a:p>
            <a:pPr marL="343080" indent="-342360"/>
            <a:r>
              <a:rPr lang="en-US" spc="-1">
                <a:solidFill>
                  <a:srgbClr val="000000"/>
                </a:solidFill>
                <a:uFill>
                  <a:solidFill>
                    <a:srgbClr val="FFFFFF"/>
                  </a:solidFill>
                </a:uFill>
                <a:latin typeface="Courier New"/>
              </a:rPr>
              <a:t>&gt;&gt;&gt; print(greet[0], greet[2], greet[4])</a:t>
            </a:r>
            <a:endParaRPr lang="en-US" spc="-1">
              <a:solidFill>
                <a:srgbClr val="000000"/>
              </a:solidFill>
              <a:uFill>
                <a:solidFill>
                  <a:srgbClr val="FFFFFF"/>
                </a:solidFill>
              </a:uFill>
              <a:latin typeface="Arial"/>
            </a:endParaRPr>
          </a:p>
          <a:p>
            <a:pPr marL="343080" indent="-342360"/>
            <a:r>
              <a:rPr lang="en-US" spc="-1">
                <a:solidFill>
                  <a:srgbClr val="000000"/>
                </a:solidFill>
                <a:uFill>
                  <a:solidFill>
                    <a:srgbClr val="FFFFFF"/>
                  </a:solidFill>
                </a:uFill>
                <a:latin typeface="Courier New"/>
              </a:rPr>
              <a:t>H l o</a:t>
            </a:r>
            <a:endParaRPr lang="en-US" spc="-1">
              <a:solidFill>
                <a:srgbClr val="000000"/>
              </a:solidFill>
              <a:uFill>
                <a:solidFill>
                  <a:srgbClr val="FFFFFF"/>
                </a:solidFill>
              </a:uFill>
              <a:latin typeface="Arial"/>
            </a:endParaRPr>
          </a:p>
          <a:p>
            <a:pPr marL="343080" indent="-342360"/>
            <a:r>
              <a:rPr lang="en-US" spc="-1">
                <a:solidFill>
                  <a:srgbClr val="000000"/>
                </a:solidFill>
                <a:uFill>
                  <a:solidFill>
                    <a:srgbClr val="FFFFFF"/>
                  </a:solidFill>
                </a:uFill>
                <a:latin typeface="Courier New"/>
              </a:rPr>
              <a:t>&gt;&gt;&gt; x = 8</a:t>
            </a:r>
            <a:endParaRPr lang="en-US" spc="-1">
              <a:solidFill>
                <a:srgbClr val="000000"/>
              </a:solidFill>
              <a:uFill>
                <a:solidFill>
                  <a:srgbClr val="FFFFFF"/>
                </a:solidFill>
              </a:uFill>
              <a:latin typeface="Arial"/>
            </a:endParaRPr>
          </a:p>
          <a:p>
            <a:pPr marL="343080" indent="-342360"/>
            <a:r>
              <a:rPr lang="en-US" spc="-1">
                <a:solidFill>
                  <a:srgbClr val="000000"/>
                </a:solidFill>
                <a:uFill>
                  <a:solidFill>
                    <a:srgbClr val="FFFFFF"/>
                  </a:solidFill>
                </a:uFill>
                <a:latin typeface="Courier New"/>
              </a:rPr>
              <a:t>&gt;&gt;&gt; print(greet[x - 2])</a:t>
            </a:r>
            <a:endParaRPr lang="en-US" spc="-1">
              <a:solidFill>
                <a:srgbClr val="000000"/>
              </a:solidFill>
              <a:uFill>
                <a:solidFill>
                  <a:srgbClr val="FFFFFF"/>
                </a:solidFill>
              </a:uFill>
              <a:latin typeface="Arial"/>
            </a:endParaRPr>
          </a:p>
          <a:p>
            <a:pPr marL="343080" indent="-342360"/>
            <a:r>
              <a:rPr lang="en-US" spc="-1">
                <a:solidFill>
                  <a:srgbClr val="000000"/>
                </a:solidFill>
                <a:uFill>
                  <a:solidFill>
                    <a:srgbClr val="FFFFFF"/>
                  </a:solidFill>
                </a:uFill>
                <a:latin typeface="Courier New"/>
              </a:rPr>
              <a:t>B</a:t>
            </a:r>
          </a:p>
          <a:p>
            <a:pPr marL="343080" indent="-342360"/>
            <a:endParaRPr lang="en-US" spc="-1">
              <a:solidFill>
                <a:srgbClr val="000000"/>
              </a:solidFill>
              <a:uFill>
                <a:solidFill>
                  <a:srgbClr val="FFFFFF"/>
                </a:solidFill>
              </a:uFill>
              <a:latin typeface="Courier New"/>
            </a:endParaRPr>
          </a:p>
          <a:p>
            <a:pPr marL="343080" indent="-342360"/>
            <a:r>
              <a:rPr lang="en-US" spc="-1">
                <a:solidFill>
                  <a:srgbClr val="000000"/>
                </a:solidFill>
                <a:uFill>
                  <a:solidFill>
                    <a:srgbClr val="FFFFFF"/>
                  </a:solidFill>
                </a:uFill>
                <a:latin typeface="Tahoma" panose="020B0604030504040204" pitchFamily="34" charset="0"/>
                <a:ea typeface="Tahoma" panose="020B0604030504040204" pitchFamily="34" charset="0"/>
                <a:cs typeface="Tahoma" panose="020B0604030504040204" pitchFamily="34" charset="0"/>
              </a:rPr>
              <a:t>The Python shell shows us the value of strings by putting them in single quotes; when we print the string, Python does not put any quotes around the sequence of characters.</a:t>
            </a:r>
          </a:p>
        </p:txBody>
      </p:sp>
      <p:sp>
        <p:nvSpPr>
          <p:cNvPr id="179" name="Line 5"/>
          <p:cNvSpPr/>
          <p:nvPr/>
        </p:nvSpPr>
        <p:spPr>
          <a:xfrm>
            <a:off x="8610600" y="2209680"/>
            <a:ext cx="360" cy="914400"/>
          </a:xfrm>
          <a:prstGeom prst="line">
            <a:avLst/>
          </a:prstGeom>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180" name="CustomShape 6"/>
          <p:cNvSpPr/>
          <p:nvPr/>
        </p:nvSpPr>
        <p:spPr>
          <a:xfrm>
            <a:off x="3124200" y="2209680"/>
            <a:ext cx="5485680" cy="913680"/>
          </a:xfrm>
          <a:prstGeom prst="rect">
            <a:avLst/>
          </a:prstGeom>
          <a:noFill/>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181" name="Line 7"/>
          <p:cNvSpPr/>
          <p:nvPr/>
        </p:nvSpPr>
        <p:spPr>
          <a:xfrm>
            <a:off x="3733680" y="2209680"/>
            <a:ext cx="360" cy="914400"/>
          </a:xfrm>
          <a:prstGeom prst="line">
            <a:avLst/>
          </a:prstGeom>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182" name="Line 8"/>
          <p:cNvSpPr/>
          <p:nvPr/>
        </p:nvSpPr>
        <p:spPr>
          <a:xfrm>
            <a:off x="4343160" y="2209680"/>
            <a:ext cx="360" cy="914400"/>
          </a:xfrm>
          <a:prstGeom prst="line">
            <a:avLst/>
          </a:prstGeom>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183" name="Line 9"/>
          <p:cNvSpPr/>
          <p:nvPr/>
        </p:nvSpPr>
        <p:spPr>
          <a:xfrm>
            <a:off x="4953000" y="2209680"/>
            <a:ext cx="360" cy="914400"/>
          </a:xfrm>
          <a:prstGeom prst="line">
            <a:avLst/>
          </a:prstGeom>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184" name="Line 10"/>
          <p:cNvSpPr/>
          <p:nvPr/>
        </p:nvSpPr>
        <p:spPr>
          <a:xfrm>
            <a:off x="5562480" y="2209680"/>
            <a:ext cx="360" cy="914400"/>
          </a:xfrm>
          <a:prstGeom prst="line">
            <a:avLst/>
          </a:prstGeom>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185" name="Line 11"/>
          <p:cNvSpPr/>
          <p:nvPr/>
        </p:nvSpPr>
        <p:spPr>
          <a:xfrm>
            <a:off x="6171960" y="2209680"/>
            <a:ext cx="360" cy="914400"/>
          </a:xfrm>
          <a:prstGeom prst="line">
            <a:avLst/>
          </a:prstGeom>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186" name="Line 12"/>
          <p:cNvSpPr/>
          <p:nvPr/>
        </p:nvSpPr>
        <p:spPr>
          <a:xfrm>
            <a:off x="6781800" y="2209680"/>
            <a:ext cx="360" cy="914400"/>
          </a:xfrm>
          <a:prstGeom prst="line">
            <a:avLst/>
          </a:prstGeom>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187" name="Line 13"/>
          <p:cNvSpPr/>
          <p:nvPr/>
        </p:nvSpPr>
        <p:spPr>
          <a:xfrm>
            <a:off x="7391280" y="2209680"/>
            <a:ext cx="360" cy="914400"/>
          </a:xfrm>
          <a:prstGeom prst="line">
            <a:avLst/>
          </a:prstGeom>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188" name="CustomShape 14"/>
          <p:cNvSpPr/>
          <p:nvPr/>
        </p:nvSpPr>
        <p:spPr>
          <a:xfrm>
            <a:off x="3267480" y="2438280"/>
            <a:ext cx="407880" cy="455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400" spc="-1">
                <a:solidFill>
                  <a:srgbClr val="000000"/>
                </a:solidFill>
                <a:uFill>
                  <a:solidFill>
                    <a:srgbClr val="FFFFFF"/>
                  </a:solidFill>
                </a:uFill>
                <a:latin typeface="Tahoma"/>
                <a:ea typeface="DejaVu Sans"/>
              </a:rPr>
              <a:t>H</a:t>
            </a:r>
            <a:endParaRPr lang="en-US" spc="-1">
              <a:solidFill>
                <a:srgbClr val="000000"/>
              </a:solidFill>
              <a:uFill>
                <a:solidFill>
                  <a:srgbClr val="FFFFFF"/>
                </a:solidFill>
              </a:uFill>
              <a:latin typeface="Arial"/>
            </a:endParaRPr>
          </a:p>
        </p:txBody>
      </p:sp>
      <p:sp>
        <p:nvSpPr>
          <p:cNvPr id="189" name="CustomShape 15"/>
          <p:cNvSpPr/>
          <p:nvPr/>
        </p:nvSpPr>
        <p:spPr>
          <a:xfrm>
            <a:off x="3874800" y="2438280"/>
            <a:ext cx="366840" cy="455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400" spc="-1">
                <a:solidFill>
                  <a:srgbClr val="000000"/>
                </a:solidFill>
                <a:uFill>
                  <a:solidFill>
                    <a:srgbClr val="FFFFFF"/>
                  </a:solidFill>
                </a:uFill>
                <a:latin typeface="Tahoma"/>
                <a:ea typeface="DejaVu Sans"/>
              </a:rPr>
              <a:t>e</a:t>
            </a:r>
            <a:endParaRPr lang="en-US" spc="-1">
              <a:solidFill>
                <a:srgbClr val="000000"/>
              </a:solidFill>
              <a:uFill>
                <a:solidFill>
                  <a:srgbClr val="FFFFFF"/>
                </a:solidFill>
              </a:uFill>
              <a:latin typeface="Arial"/>
            </a:endParaRPr>
          </a:p>
        </p:txBody>
      </p:sp>
      <p:sp>
        <p:nvSpPr>
          <p:cNvPr id="190" name="CustomShape 16"/>
          <p:cNvSpPr/>
          <p:nvPr/>
        </p:nvSpPr>
        <p:spPr>
          <a:xfrm>
            <a:off x="4566720" y="2438280"/>
            <a:ext cx="264600" cy="455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400" spc="-1">
                <a:solidFill>
                  <a:srgbClr val="000000"/>
                </a:solidFill>
                <a:uFill>
                  <a:solidFill>
                    <a:srgbClr val="FFFFFF"/>
                  </a:solidFill>
                </a:uFill>
                <a:latin typeface="Tahoma"/>
                <a:ea typeface="DejaVu Sans"/>
              </a:rPr>
              <a:t>l</a:t>
            </a:r>
            <a:endParaRPr lang="en-US" spc="-1">
              <a:solidFill>
                <a:srgbClr val="000000"/>
              </a:solidFill>
              <a:uFill>
                <a:solidFill>
                  <a:srgbClr val="FFFFFF"/>
                </a:solidFill>
              </a:uFill>
              <a:latin typeface="Arial"/>
            </a:endParaRPr>
          </a:p>
        </p:txBody>
      </p:sp>
      <p:sp>
        <p:nvSpPr>
          <p:cNvPr id="191" name="CustomShape 17"/>
          <p:cNvSpPr/>
          <p:nvPr/>
        </p:nvSpPr>
        <p:spPr>
          <a:xfrm>
            <a:off x="5099880" y="2438280"/>
            <a:ext cx="264600" cy="455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400" spc="-1">
                <a:solidFill>
                  <a:srgbClr val="000000"/>
                </a:solidFill>
                <a:uFill>
                  <a:solidFill>
                    <a:srgbClr val="FFFFFF"/>
                  </a:solidFill>
                </a:uFill>
                <a:latin typeface="Tahoma"/>
                <a:ea typeface="DejaVu Sans"/>
              </a:rPr>
              <a:t>l</a:t>
            </a:r>
            <a:endParaRPr lang="en-US" spc="-1">
              <a:solidFill>
                <a:srgbClr val="000000"/>
              </a:solidFill>
              <a:uFill>
                <a:solidFill>
                  <a:srgbClr val="FFFFFF"/>
                </a:solidFill>
              </a:uFill>
              <a:latin typeface="Arial"/>
            </a:endParaRPr>
          </a:p>
        </p:txBody>
      </p:sp>
      <p:sp>
        <p:nvSpPr>
          <p:cNvPr id="192" name="CustomShape 18"/>
          <p:cNvSpPr/>
          <p:nvPr/>
        </p:nvSpPr>
        <p:spPr>
          <a:xfrm>
            <a:off x="5706840" y="2438280"/>
            <a:ext cx="365040" cy="455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400" spc="-1">
                <a:solidFill>
                  <a:srgbClr val="000000"/>
                </a:solidFill>
                <a:uFill>
                  <a:solidFill>
                    <a:srgbClr val="FFFFFF"/>
                  </a:solidFill>
                </a:uFill>
                <a:latin typeface="Tahoma"/>
                <a:ea typeface="DejaVu Sans"/>
              </a:rPr>
              <a:t>o</a:t>
            </a:r>
            <a:endParaRPr lang="en-US" spc="-1">
              <a:solidFill>
                <a:srgbClr val="000000"/>
              </a:solidFill>
              <a:uFill>
                <a:solidFill>
                  <a:srgbClr val="FFFFFF"/>
                </a:solidFill>
              </a:uFill>
              <a:latin typeface="Arial"/>
            </a:endParaRPr>
          </a:p>
        </p:txBody>
      </p:sp>
      <p:sp>
        <p:nvSpPr>
          <p:cNvPr id="193" name="CustomShape 19"/>
          <p:cNvSpPr/>
          <p:nvPr/>
        </p:nvSpPr>
        <p:spPr>
          <a:xfrm>
            <a:off x="6921480" y="2438280"/>
            <a:ext cx="388080" cy="455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400" spc="-1">
                <a:solidFill>
                  <a:srgbClr val="000000"/>
                </a:solidFill>
                <a:uFill>
                  <a:solidFill>
                    <a:srgbClr val="FFFFFF"/>
                  </a:solidFill>
                </a:uFill>
                <a:latin typeface="Tahoma"/>
                <a:ea typeface="DejaVu Sans"/>
              </a:rPr>
              <a:t>B</a:t>
            </a:r>
            <a:endParaRPr lang="en-US" spc="-1">
              <a:solidFill>
                <a:srgbClr val="000000"/>
              </a:solidFill>
              <a:uFill>
                <a:solidFill>
                  <a:srgbClr val="FFFFFF"/>
                </a:solidFill>
              </a:uFill>
              <a:latin typeface="Arial"/>
            </a:endParaRPr>
          </a:p>
        </p:txBody>
      </p:sp>
      <p:sp>
        <p:nvSpPr>
          <p:cNvPr id="194" name="Line 20"/>
          <p:cNvSpPr/>
          <p:nvPr/>
        </p:nvSpPr>
        <p:spPr>
          <a:xfrm>
            <a:off x="8000760" y="2209680"/>
            <a:ext cx="360" cy="914400"/>
          </a:xfrm>
          <a:prstGeom prst="line">
            <a:avLst/>
          </a:prstGeom>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195" name="CustomShape 21"/>
          <p:cNvSpPr/>
          <p:nvPr/>
        </p:nvSpPr>
        <p:spPr>
          <a:xfrm>
            <a:off x="7459320" y="2438280"/>
            <a:ext cx="365040" cy="455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400" spc="-1">
                <a:solidFill>
                  <a:srgbClr val="000000"/>
                </a:solidFill>
                <a:uFill>
                  <a:solidFill>
                    <a:srgbClr val="FFFFFF"/>
                  </a:solidFill>
                </a:uFill>
                <a:latin typeface="Tahoma"/>
                <a:ea typeface="DejaVu Sans"/>
              </a:rPr>
              <a:t>o</a:t>
            </a:r>
            <a:endParaRPr lang="en-US" spc="-1">
              <a:solidFill>
                <a:srgbClr val="000000"/>
              </a:solidFill>
              <a:uFill>
                <a:solidFill>
                  <a:srgbClr val="FFFFFF"/>
                </a:solidFill>
              </a:uFill>
              <a:latin typeface="Arial"/>
            </a:endParaRPr>
          </a:p>
        </p:txBody>
      </p:sp>
      <p:sp>
        <p:nvSpPr>
          <p:cNvPr id="196" name="CustomShape 22"/>
          <p:cNvSpPr/>
          <p:nvPr/>
        </p:nvSpPr>
        <p:spPr>
          <a:xfrm>
            <a:off x="8142960" y="2438280"/>
            <a:ext cx="372960" cy="455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400" spc="-1">
                <a:solidFill>
                  <a:srgbClr val="000000"/>
                </a:solidFill>
                <a:uFill>
                  <a:solidFill>
                    <a:srgbClr val="FFFFFF"/>
                  </a:solidFill>
                </a:uFill>
                <a:latin typeface="Tahoma"/>
                <a:ea typeface="DejaVu Sans"/>
              </a:rPr>
              <a:t>b</a:t>
            </a:r>
            <a:endParaRPr lang="en-US" spc="-1">
              <a:solidFill>
                <a:srgbClr val="000000"/>
              </a:solidFill>
              <a:uFill>
                <a:solidFill>
                  <a:srgbClr val="FFFFFF"/>
                </a:solidFill>
              </a:uFill>
              <a:latin typeface="Arial"/>
            </a:endParaRPr>
          </a:p>
        </p:txBody>
      </p:sp>
      <p:sp>
        <p:nvSpPr>
          <p:cNvPr id="197" name="CustomShape 23"/>
          <p:cNvSpPr/>
          <p:nvPr/>
        </p:nvSpPr>
        <p:spPr>
          <a:xfrm>
            <a:off x="3124200" y="3048120"/>
            <a:ext cx="5485680" cy="82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2400" spc="-1">
                <a:solidFill>
                  <a:srgbClr val="000000"/>
                </a:solidFill>
                <a:uFill>
                  <a:solidFill>
                    <a:srgbClr val="FFFFFF"/>
                  </a:solidFill>
                </a:uFill>
                <a:latin typeface="Tahoma"/>
                <a:ea typeface="DejaVu Sans"/>
              </a:rPr>
              <a:t>  0    1     2    3     4    5     6     7     8</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199"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6E0C3300-B7D5-41DD-ACE3-C1726012BAD5}" type="slidenum">
              <a:rPr lang="en-US" sz="1400" spc="-1">
                <a:solidFill>
                  <a:srgbClr val="000000"/>
                </a:solidFill>
                <a:uFill>
                  <a:solidFill>
                    <a:srgbClr val="FFFFFF"/>
                  </a:solidFill>
                </a:uFill>
                <a:latin typeface="Tahoma"/>
              </a:rPr>
              <a:t>9</a:t>
            </a:fld>
            <a:endParaRPr lang="en-US" spc="-1">
              <a:solidFill>
                <a:srgbClr val="000000"/>
              </a:solidFill>
              <a:uFill>
                <a:solidFill>
                  <a:srgbClr val="FFFFFF"/>
                </a:solidFill>
              </a:uFill>
              <a:latin typeface="Arial"/>
            </a:endParaRPr>
          </a:p>
        </p:txBody>
      </p:sp>
      <p:sp>
        <p:nvSpPr>
          <p:cNvPr id="200"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The String Data Type</a:t>
            </a:r>
            <a:endParaRPr lang="en-US" spc="-1">
              <a:solidFill>
                <a:srgbClr val="000000"/>
              </a:solidFill>
              <a:uFill>
                <a:solidFill>
                  <a:srgbClr val="FFFFFF"/>
                </a:solidFill>
              </a:uFill>
              <a:latin typeface="Arial"/>
            </a:endParaRPr>
          </a:p>
        </p:txBody>
      </p:sp>
      <p:sp>
        <p:nvSpPr>
          <p:cNvPr id="201" name="CustomShape 4"/>
          <p:cNvSpPr/>
          <p:nvPr/>
        </p:nvSpPr>
        <p:spPr>
          <a:xfrm>
            <a:off x="2706600" y="3352680"/>
            <a:ext cx="7771680" cy="2778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90000"/>
              </a:lnSpc>
              <a:buClr>
                <a:srgbClr val="3333CC"/>
              </a:buClr>
              <a:buSzPct val="60000"/>
              <a:buFont typeface="Wingdings" charset="2"/>
              <a:buChar char=""/>
            </a:pPr>
            <a:r>
              <a:rPr lang="en-US" sz="2800" spc="-1">
                <a:solidFill>
                  <a:srgbClr val="000000"/>
                </a:solidFill>
                <a:uFill>
                  <a:solidFill>
                    <a:srgbClr val="FFFFFF"/>
                  </a:solidFill>
                </a:uFill>
                <a:latin typeface="Tahoma"/>
              </a:rPr>
              <a:t>In a string of </a:t>
            </a:r>
            <a:r>
              <a:rPr lang="en-US" sz="2800" i="1" spc="-1">
                <a:solidFill>
                  <a:srgbClr val="000000"/>
                </a:solidFill>
                <a:uFill>
                  <a:solidFill>
                    <a:srgbClr val="FFFFFF"/>
                  </a:solidFill>
                </a:uFill>
                <a:latin typeface="Tahoma"/>
              </a:rPr>
              <a:t>n</a:t>
            </a:r>
            <a:r>
              <a:rPr lang="en-US" sz="2800" spc="-1">
                <a:solidFill>
                  <a:srgbClr val="000000"/>
                </a:solidFill>
                <a:uFill>
                  <a:solidFill>
                    <a:srgbClr val="FFFFFF"/>
                  </a:solidFill>
                </a:uFill>
                <a:latin typeface="Tahoma"/>
              </a:rPr>
              <a:t> characters, the last character is at position </a:t>
            </a:r>
            <a:r>
              <a:rPr lang="en-US" sz="2800" i="1" spc="-1">
                <a:solidFill>
                  <a:srgbClr val="000000"/>
                </a:solidFill>
                <a:uFill>
                  <a:solidFill>
                    <a:srgbClr val="FFFFFF"/>
                  </a:solidFill>
                </a:uFill>
                <a:latin typeface="Tahoma"/>
              </a:rPr>
              <a:t>n-1</a:t>
            </a:r>
            <a:r>
              <a:rPr lang="en-US" sz="2800" spc="-1">
                <a:solidFill>
                  <a:srgbClr val="000000"/>
                </a:solidFill>
                <a:uFill>
                  <a:solidFill>
                    <a:srgbClr val="FFFFFF"/>
                  </a:solidFill>
                </a:uFill>
                <a:latin typeface="Tahoma"/>
              </a:rPr>
              <a:t> since we start counting with 0.</a:t>
            </a:r>
            <a:endParaRPr lang="en-US" spc="-1">
              <a:solidFill>
                <a:srgbClr val="000000"/>
              </a:solidFill>
              <a:uFill>
                <a:solidFill>
                  <a:srgbClr val="FFFFFF"/>
                </a:solidFill>
              </a:uFill>
              <a:latin typeface="Arial"/>
            </a:endParaRPr>
          </a:p>
          <a:p>
            <a:pPr marL="343080" indent="-342360">
              <a:lnSpc>
                <a:spcPct val="90000"/>
              </a:lnSpc>
              <a:buClr>
                <a:srgbClr val="3333CC"/>
              </a:buClr>
              <a:buSzPct val="60000"/>
              <a:buFont typeface="Wingdings" charset="2"/>
              <a:buChar char=""/>
            </a:pPr>
            <a:r>
              <a:rPr lang="en-US" sz="2800" spc="-1">
                <a:solidFill>
                  <a:srgbClr val="000000"/>
                </a:solidFill>
                <a:uFill>
                  <a:solidFill>
                    <a:srgbClr val="FFFFFF"/>
                  </a:solidFill>
                </a:uFill>
                <a:latin typeface="Tahoma"/>
              </a:rPr>
              <a:t>We can index from the right side using negative indexes.</a:t>
            </a:r>
            <a:endParaRPr lang="en-US" spc="-1">
              <a:solidFill>
                <a:srgbClr val="000000"/>
              </a:solidFill>
              <a:uFill>
                <a:solidFill>
                  <a:srgbClr val="FFFFFF"/>
                </a:solidFill>
              </a:uFill>
              <a:latin typeface="Arial"/>
            </a:endParaRPr>
          </a:p>
          <a:p>
            <a:pPr marL="343080" indent="-342360">
              <a:lnSpc>
                <a:spcPct val="90000"/>
              </a:lnSpc>
            </a:pPr>
            <a:r>
              <a:rPr lang="en-US" sz="2400" spc="-1">
                <a:solidFill>
                  <a:srgbClr val="000000"/>
                </a:solidFill>
                <a:uFill>
                  <a:solidFill>
                    <a:srgbClr val="FFFFFF"/>
                  </a:solidFill>
                </a:uFill>
                <a:latin typeface="Courier New"/>
              </a:rPr>
              <a:t>&gt;&gt;&gt; greet[-1]</a:t>
            </a:r>
            <a:endParaRPr lang="en-US" sz="2400" spc="-1">
              <a:solidFill>
                <a:srgbClr val="000000"/>
              </a:solidFill>
              <a:uFill>
                <a:solidFill>
                  <a:srgbClr val="FFFFFF"/>
                </a:solidFill>
              </a:uFill>
              <a:latin typeface="Arial"/>
            </a:endParaRPr>
          </a:p>
          <a:p>
            <a:pPr marL="343080" indent="-342360">
              <a:lnSpc>
                <a:spcPct val="90000"/>
              </a:lnSpc>
            </a:pPr>
            <a:r>
              <a:rPr lang="en-US" sz="2400" spc="-1">
                <a:solidFill>
                  <a:srgbClr val="000000"/>
                </a:solidFill>
                <a:uFill>
                  <a:solidFill>
                    <a:srgbClr val="FFFFFF"/>
                  </a:solidFill>
                </a:uFill>
                <a:latin typeface="Courier New"/>
              </a:rPr>
              <a:t>'b'</a:t>
            </a:r>
            <a:endParaRPr lang="en-US" sz="2400" spc="-1">
              <a:solidFill>
                <a:srgbClr val="000000"/>
              </a:solidFill>
              <a:uFill>
                <a:solidFill>
                  <a:srgbClr val="FFFFFF"/>
                </a:solidFill>
              </a:uFill>
              <a:latin typeface="Arial"/>
            </a:endParaRPr>
          </a:p>
          <a:p>
            <a:pPr marL="343080" indent="-342360">
              <a:lnSpc>
                <a:spcPct val="90000"/>
              </a:lnSpc>
            </a:pPr>
            <a:r>
              <a:rPr lang="en-US" sz="2400" spc="-1">
                <a:solidFill>
                  <a:srgbClr val="000000"/>
                </a:solidFill>
                <a:uFill>
                  <a:solidFill>
                    <a:srgbClr val="FFFFFF"/>
                  </a:solidFill>
                </a:uFill>
                <a:latin typeface="Courier New"/>
              </a:rPr>
              <a:t>&gt;&gt;&gt; greet[-3]</a:t>
            </a:r>
            <a:endParaRPr lang="en-US" sz="2400" spc="-1">
              <a:solidFill>
                <a:srgbClr val="000000"/>
              </a:solidFill>
              <a:uFill>
                <a:solidFill>
                  <a:srgbClr val="FFFFFF"/>
                </a:solidFill>
              </a:uFill>
              <a:latin typeface="Arial"/>
            </a:endParaRPr>
          </a:p>
          <a:p>
            <a:pPr marL="343080" indent="-342360">
              <a:lnSpc>
                <a:spcPct val="90000"/>
              </a:lnSpc>
            </a:pPr>
            <a:r>
              <a:rPr lang="en-US" sz="2400" spc="-1">
                <a:solidFill>
                  <a:srgbClr val="000000"/>
                </a:solidFill>
                <a:uFill>
                  <a:solidFill>
                    <a:srgbClr val="FFFFFF"/>
                  </a:solidFill>
                </a:uFill>
                <a:latin typeface="Courier New"/>
              </a:rPr>
              <a:t>'B'</a:t>
            </a:r>
            <a:endParaRPr lang="en-US" sz="2400" spc="-1">
              <a:solidFill>
                <a:srgbClr val="000000"/>
              </a:solidFill>
              <a:uFill>
                <a:solidFill>
                  <a:srgbClr val="FFFFFF"/>
                </a:solidFill>
              </a:uFill>
              <a:latin typeface="Arial"/>
            </a:endParaRPr>
          </a:p>
        </p:txBody>
      </p:sp>
      <p:sp>
        <p:nvSpPr>
          <p:cNvPr id="202" name="CustomShape 5"/>
          <p:cNvSpPr/>
          <p:nvPr/>
        </p:nvSpPr>
        <p:spPr>
          <a:xfrm>
            <a:off x="3124200" y="1981080"/>
            <a:ext cx="5485680" cy="913680"/>
          </a:xfrm>
          <a:prstGeom prst="rect">
            <a:avLst/>
          </a:prstGeom>
          <a:noFill/>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203" name="Line 6"/>
          <p:cNvSpPr/>
          <p:nvPr/>
        </p:nvSpPr>
        <p:spPr>
          <a:xfrm>
            <a:off x="3733680" y="1981080"/>
            <a:ext cx="360" cy="914400"/>
          </a:xfrm>
          <a:prstGeom prst="line">
            <a:avLst/>
          </a:prstGeom>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204" name="Line 7"/>
          <p:cNvSpPr/>
          <p:nvPr/>
        </p:nvSpPr>
        <p:spPr>
          <a:xfrm>
            <a:off x="4343160" y="1981080"/>
            <a:ext cx="360" cy="914400"/>
          </a:xfrm>
          <a:prstGeom prst="line">
            <a:avLst/>
          </a:prstGeom>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205" name="Line 8"/>
          <p:cNvSpPr/>
          <p:nvPr/>
        </p:nvSpPr>
        <p:spPr>
          <a:xfrm>
            <a:off x="4953000" y="1981080"/>
            <a:ext cx="360" cy="914400"/>
          </a:xfrm>
          <a:prstGeom prst="line">
            <a:avLst/>
          </a:prstGeom>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206" name="Line 9"/>
          <p:cNvSpPr/>
          <p:nvPr/>
        </p:nvSpPr>
        <p:spPr>
          <a:xfrm>
            <a:off x="5562480" y="1981080"/>
            <a:ext cx="360" cy="914400"/>
          </a:xfrm>
          <a:prstGeom prst="line">
            <a:avLst/>
          </a:prstGeom>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207" name="Line 10"/>
          <p:cNvSpPr/>
          <p:nvPr/>
        </p:nvSpPr>
        <p:spPr>
          <a:xfrm>
            <a:off x="6171960" y="1981080"/>
            <a:ext cx="360" cy="914400"/>
          </a:xfrm>
          <a:prstGeom prst="line">
            <a:avLst/>
          </a:prstGeom>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208" name="Line 11"/>
          <p:cNvSpPr/>
          <p:nvPr/>
        </p:nvSpPr>
        <p:spPr>
          <a:xfrm>
            <a:off x="6781800" y="1981080"/>
            <a:ext cx="360" cy="914400"/>
          </a:xfrm>
          <a:prstGeom prst="line">
            <a:avLst/>
          </a:prstGeom>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209" name="Line 12"/>
          <p:cNvSpPr/>
          <p:nvPr/>
        </p:nvSpPr>
        <p:spPr>
          <a:xfrm>
            <a:off x="7391280" y="1981080"/>
            <a:ext cx="360" cy="914400"/>
          </a:xfrm>
          <a:prstGeom prst="line">
            <a:avLst/>
          </a:prstGeom>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210" name="CustomShape 13"/>
          <p:cNvSpPr/>
          <p:nvPr/>
        </p:nvSpPr>
        <p:spPr>
          <a:xfrm>
            <a:off x="3267480" y="2209680"/>
            <a:ext cx="407880" cy="455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400" spc="-1">
                <a:solidFill>
                  <a:srgbClr val="000000"/>
                </a:solidFill>
                <a:uFill>
                  <a:solidFill>
                    <a:srgbClr val="FFFFFF"/>
                  </a:solidFill>
                </a:uFill>
                <a:latin typeface="Tahoma"/>
                <a:ea typeface="DejaVu Sans"/>
              </a:rPr>
              <a:t>H</a:t>
            </a:r>
            <a:endParaRPr lang="en-US" spc="-1">
              <a:solidFill>
                <a:srgbClr val="000000"/>
              </a:solidFill>
              <a:uFill>
                <a:solidFill>
                  <a:srgbClr val="FFFFFF"/>
                </a:solidFill>
              </a:uFill>
              <a:latin typeface="Arial"/>
            </a:endParaRPr>
          </a:p>
        </p:txBody>
      </p:sp>
      <p:sp>
        <p:nvSpPr>
          <p:cNvPr id="211" name="CustomShape 14"/>
          <p:cNvSpPr/>
          <p:nvPr/>
        </p:nvSpPr>
        <p:spPr>
          <a:xfrm>
            <a:off x="3874800" y="2209680"/>
            <a:ext cx="366840" cy="455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400" spc="-1">
                <a:solidFill>
                  <a:srgbClr val="000000"/>
                </a:solidFill>
                <a:uFill>
                  <a:solidFill>
                    <a:srgbClr val="FFFFFF"/>
                  </a:solidFill>
                </a:uFill>
                <a:latin typeface="Tahoma"/>
                <a:ea typeface="DejaVu Sans"/>
              </a:rPr>
              <a:t>e</a:t>
            </a:r>
            <a:endParaRPr lang="en-US" spc="-1">
              <a:solidFill>
                <a:srgbClr val="000000"/>
              </a:solidFill>
              <a:uFill>
                <a:solidFill>
                  <a:srgbClr val="FFFFFF"/>
                </a:solidFill>
              </a:uFill>
              <a:latin typeface="Arial"/>
            </a:endParaRPr>
          </a:p>
        </p:txBody>
      </p:sp>
      <p:sp>
        <p:nvSpPr>
          <p:cNvPr id="212" name="CustomShape 15"/>
          <p:cNvSpPr/>
          <p:nvPr/>
        </p:nvSpPr>
        <p:spPr>
          <a:xfrm>
            <a:off x="4566720" y="2209680"/>
            <a:ext cx="264600" cy="455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400" spc="-1">
                <a:solidFill>
                  <a:srgbClr val="000000"/>
                </a:solidFill>
                <a:uFill>
                  <a:solidFill>
                    <a:srgbClr val="FFFFFF"/>
                  </a:solidFill>
                </a:uFill>
                <a:latin typeface="Tahoma"/>
                <a:ea typeface="DejaVu Sans"/>
              </a:rPr>
              <a:t>l</a:t>
            </a:r>
            <a:endParaRPr lang="en-US" spc="-1">
              <a:solidFill>
                <a:srgbClr val="000000"/>
              </a:solidFill>
              <a:uFill>
                <a:solidFill>
                  <a:srgbClr val="FFFFFF"/>
                </a:solidFill>
              </a:uFill>
              <a:latin typeface="Arial"/>
            </a:endParaRPr>
          </a:p>
        </p:txBody>
      </p:sp>
      <p:sp>
        <p:nvSpPr>
          <p:cNvPr id="213" name="CustomShape 16"/>
          <p:cNvSpPr/>
          <p:nvPr/>
        </p:nvSpPr>
        <p:spPr>
          <a:xfrm>
            <a:off x="5099880" y="2209680"/>
            <a:ext cx="264600" cy="455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400" spc="-1">
                <a:solidFill>
                  <a:srgbClr val="000000"/>
                </a:solidFill>
                <a:uFill>
                  <a:solidFill>
                    <a:srgbClr val="FFFFFF"/>
                  </a:solidFill>
                </a:uFill>
                <a:latin typeface="Tahoma"/>
                <a:ea typeface="DejaVu Sans"/>
              </a:rPr>
              <a:t>l</a:t>
            </a:r>
            <a:endParaRPr lang="en-US" spc="-1">
              <a:solidFill>
                <a:srgbClr val="000000"/>
              </a:solidFill>
              <a:uFill>
                <a:solidFill>
                  <a:srgbClr val="FFFFFF"/>
                </a:solidFill>
              </a:uFill>
              <a:latin typeface="Arial"/>
            </a:endParaRPr>
          </a:p>
        </p:txBody>
      </p:sp>
      <p:sp>
        <p:nvSpPr>
          <p:cNvPr id="214" name="CustomShape 17"/>
          <p:cNvSpPr/>
          <p:nvPr/>
        </p:nvSpPr>
        <p:spPr>
          <a:xfrm>
            <a:off x="5706840" y="2209680"/>
            <a:ext cx="365040" cy="455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400" spc="-1">
                <a:solidFill>
                  <a:srgbClr val="000000"/>
                </a:solidFill>
                <a:uFill>
                  <a:solidFill>
                    <a:srgbClr val="FFFFFF"/>
                  </a:solidFill>
                </a:uFill>
                <a:latin typeface="Tahoma"/>
                <a:ea typeface="DejaVu Sans"/>
              </a:rPr>
              <a:t>o</a:t>
            </a:r>
            <a:endParaRPr lang="en-US" spc="-1">
              <a:solidFill>
                <a:srgbClr val="000000"/>
              </a:solidFill>
              <a:uFill>
                <a:solidFill>
                  <a:srgbClr val="FFFFFF"/>
                </a:solidFill>
              </a:uFill>
              <a:latin typeface="Arial"/>
            </a:endParaRPr>
          </a:p>
        </p:txBody>
      </p:sp>
      <p:sp>
        <p:nvSpPr>
          <p:cNvPr id="215" name="CustomShape 18"/>
          <p:cNvSpPr/>
          <p:nvPr/>
        </p:nvSpPr>
        <p:spPr>
          <a:xfrm>
            <a:off x="6921480" y="2209680"/>
            <a:ext cx="388080" cy="455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400" spc="-1">
                <a:solidFill>
                  <a:srgbClr val="000000"/>
                </a:solidFill>
                <a:uFill>
                  <a:solidFill>
                    <a:srgbClr val="FFFFFF"/>
                  </a:solidFill>
                </a:uFill>
                <a:latin typeface="Tahoma"/>
                <a:ea typeface="DejaVu Sans"/>
              </a:rPr>
              <a:t>B</a:t>
            </a:r>
            <a:endParaRPr lang="en-US" spc="-1">
              <a:solidFill>
                <a:srgbClr val="000000"/>
              </a:solidFill>
              <a:uFill>
                <a:solidFill>
                  <a:srgbClr val="FFFFFF"/>
                </a:solidFill>
              </a:uFill>
              <a:latin typeface="Arial"/>
            </a:endParaRPr>
          </a:p>
        </p:txBody>
      </p:sp>
      <p:sp>
        <p:nvSpPr>
          <p:cNvPr id="216" name="Line 19"/>
          <p:cNvSpPr/>
          <p:nvPr/>
        </p:nvSpPr>
        <p:spPr>
          <a:xfrm>
            <a:off x="8000760" y="1981080"/>
            <a:ext cx="360" cy="914400"/>
          </a:xfrm>
          <a:prstGeom prst="line">
            <a:avLst/>
          </a:prstGeom>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217" name="CustomShape 20"/>
          <p:cNvSpPr/>
          <p:nvPr/>
        </p:nvSpPr>
        <p:spPr>
          <a:xfrm>
            <a:off x="7459320" y="2209680"/>
            <a:ext cx="365040" cy="455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400" spc="-1">
                <a:solidFill>
                  <a:srgbClr val="000000"/>
                </a:solidFill>
                <a:uFill>
                  <a:solidFill>
                    <a:srgbClr val="FFFFFF"/>
                  </a:solidFill>
                </a:uFill>
                <a:latin typeface="Tahoma"/>
                <a:ea typeface="DejaVu Sans"/>
              </a:rPr>
              <a:t>o</a:t>
            </a:r>
            <a:endParaRPr lang="en-US" spc="-1">
              <a:solidFill>
                <a:srgbClr val="000000"/>
              </a:solidFill>
              <a:uFill>
                <a:solidFill>
                  <a:srgbClr val="FFFFFF"/>
                </a:solidFill>
              </a:uFill>
              <a:latin typeface="Arial"/>
            </a:endParaRPr>
          </a:p>
        </p:txBody>
      </p:sp>
      <p:sp>
        <p:nvSpPr>
          <p:cNvPr id="218" name="CustomShape 21"/>
          <p:cNvSpPr/>
          <p:nvPr/>
        </p:nvSpPr>
        <p:spPr>
          <a:xfrm>
            <a:off x="8142960" y="2209680"/>
            <a:ext cx="372960" cy="455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400" spc="-1">
                <a:solidFill>
                  <a:srgbClr val="000000"/>
                </a:solidFill>
                <a:uFill>
                  <a:solidFill>
                    <a:srgbClr val="FFFFFF"/>
                  </a:solidFill>
                </a:uFill>
                <a:latin typeface="Tahoma"/>
                <a:ea typeface="DejaVu Sans"/>
              </a:rPr>
              <a:t>b</a:t>
            </a:r>
            <a:endParaRPr lang="en-US" spc="-1">
              <a:solidFill>
                <a:srgbClr val="000000"/>
              </a:solidFill>
              <a:uFill>
                <a:solidFill>
                  <a:srgbClr val="FFFFFF"/>
                </a:solidFill>
              </a:uFill>
              <a:latin typeface="Arial"/>
            </a:endParaRPr>
          </a:p>
        </p:txBody>
      </p:sp>
      <p:sp>
        <p:nvSpPr>
          <p:cNvPr id="219" name="CustomShape 22"/>
          <p:cNvSpPr/>
          <p:nvPr/>
        </p:nvSpPr>
        <p:spPr>
          <a:xfrm>
            <a:off x="3124200" y="2819520"/>
            <a:ext cx="5485680" cy="82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2400" spc="-1">
                <a:solidFill>
                  <a:srgbClr val="000000"/>
                </a:solidFill>
                <a:uFill>
                  <a:solidFill>
                    <a:srgbClr val="FFFFFF"/>
                  </a:solidFill>
                </a:uFill>
                <a:latin typeface="Tahoma"/>
                <a:ea typeface="DejaVu Sans"/>
              </a:rPr>
              <a:t>  0    1     2    3     4    5     6     7     8</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221"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19EA756E-D0FE-4B76-89E0-2DAB55EE8300}" type="slidenum">
              <a:rPr lang="en-US" sz="1400" spc="-1">
                <a:solidFill>
                  <a:srgbClr val="000000"/>
                </a:solidFill>
                <a:uFill>
                  <a:solidFill>
                    <a:srgbClr val="FFFFFF"/>
                  </a:solidFill>
                </a:uFill>
                <a:latin typeface="Tahoma"/>
              </a:rPr>
              <a:t>10</a:t>
            </a:fld>
            <a:endParaRPr lang="en-US" spc="-1">
              <a:solidFill>
                <a:srgbClr val="000000"/>
              </a:solidFill>
              <a:uFill>
                <a:solidFill>
                  <a:srgbClr val="FFFFFF"/>
                </a:solidFill>
              </a:uFill>
              <a:latin typeface="Arial"/>
            </a:endParaRPr>
          </a:p>
        </p:txBody>
      </p:sp>
      <p:sp>
        <p:nvSpPr>
          <p:cNvPr id="222"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The String Data Type</a:t>
            </a:r>
            <a:endParaRPr lang="en-US" spc="-1">
              <a:solidFill>
                <a:srgbClr val="000000"/>
              </a:solidFill>
              <a:uFill>
                <a:solidFill>
                  <a:srgbClr val="FFFFFF"/>
                </a:solidFill>
              </a:uFill>
              <a:latin typeface="Arial"/>
            </a:endParaRPr>
          </a:p>
        </p:txBody>
      </p:sp>
      <p:sp>
        <p:nvSpPr>
          <p:cNvPr id="223"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Indexing returns a string containing a single character from a larger string.</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We can also access a contiguous sequence of characters, called a </a:t>
            </a:r>
            <a:r>
              <a:rPr lang="en-US" sz="3200" i="1" spc="-1">
                <a:solidFill>
                  <a:srgbClr val="000000"/>
                </a:solidFill>
                <a:uFill>
                  <a:solidFill>
                    <a:srgbClr val="FFFFFF"/>
                  </a:solidFill>
                </a:uFill>
                <a:latin typeface="Tahoma"/>
              </a:rPr>
              <a:t>substring</a:t>
            </a:r>
            <a:r>
              <a:rPr lang="en-US" sz="3200" spc="-1">
                <a:solidFill>
                  <a:srgbClr val="000000"/>
                </a:solidFill>
                <a:uFill>
                  <a:solidFill>
                    <a:srgbClr val="FFFFFF"/>
                  </a:solidFill>
                </a:uFill>
                <a:latin typeface="Tahoma"/>
              </a:rPr>
              <a:t>, through a process called </a:t>
            </a:r>
            <a:r>
              <a:rPr lang="en-US" sz="3200" i="1" spc="-1">
                <a:solidFill>
                  <a:srgbClr val="000000"/>
                </a:solidFill>
                <a:uFill>
                  <a:solidFill>
                    <a:srgbClr val="FFFFFF"/>
                  </a:solidFill>
                </a:uFill>
                <a:latin typeface="Tahoma"/>
              </a:rPr>
              <a:t>slicing</a:t>
            </a:r>
            <a:r>
              <a:rPr lang="en-US" sz="3200" spc="-1">
                <a:solidFill>
                  <a:srgbClr val="000000"/>
                </a:solidFill>
                <a:uFill>
                  <a:solidFill>
                    <a:srgbClr val="FFFFFF"/>
                  </a:solidFill>
                </a:uFill>
                <a:latin typeface="Tahoma"/>
              </a:rPr>
              <a:t>.</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225"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B532D659-817B-43FD-B65B-2597B8EC43A8}" type="slidenum">
              <a:rPr lang="en-US" sz="1400" spc="-1">
                <a:solidFill>
                  <a:srgbClr val="000000"/>
                </a:solidFill>
                <a:uFill>
                  <a:solidFill>
                    <a:srgbClr val="FFFFFF"/>
                  </a:solidFill>
                </a:uFill>
                <a:latin typeface="Tahoma"/>
              </a:rPr>
              <a:t>11</a:t>
            </a:fld>
            <a:endParaRPr lang="en-US" spc="-1">
              <a:solidFill>
                <a:srgbClr val="000000"/>
              </a:solidFill>
              <a:uFill>
                <a:solidFill>
                  <a:srgbClr val="FFFFFF"/>
                </a:solidFill>
              </a:uFill>
              <a:latin typeface="Arial"/>
            </a:endParaRPr>
          </a:p>
        </p:txBody>
      </p:sp>
      <p:sp>
        <p:nvSpPr>
          <p:cNvPr id="226"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The String Data Type</a:t>
            </a:r>
            <a:endParaRPr lang="en-US" spc="-1">
              <a:solidFill>
                <a:srgbClr val="000000"/>
              </a:solidFill>
              <a:uFill>
                <a:solidFill>
                  <a:srgbClr val="FFFFFF"/>
                </a:solidFill>
              </a:uFill>
              <a:latin typeface="Arial"/>
            </a:endParaRPr>
          </a:p>
        </p:txBody>
      </p:sp>
      <p:sp>
        <p:nvSpPr>
          <p:cNvPr id="227"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sz="3200" spc="-1">
                <a:solidFill>
                  <a:srgbClr val="000000"/>
                </a:solidFill>
                <a:uFill>
                  <a:solidFill>
                    <a:srgbClr val="FFFFFF"/>
                  </a:solidFill>
                </a:uFill>
                <a:latin typeface="Tahoma"/>
              </a:rPr>
              <a:t>Slicing:</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2400" spc="-1">
                <a:solidFill>
                  <a:srgbClr val="000000"/>
                </a:solidFill>
                <a:uFill>
                  <a:solidFill>
                    <a:srgbClr val="FFFFFF"/>
                  </a:solidFill>
                </a:uFill>
                <a:latin typeface="Courier New"/>
              </a:rPr>
              <a:t>&lt;string&gt;[&lt;start&gt;:&lt;end&gt;]</a:t>
            </a:r>
            <a:endParaRPr lang="en-US" sz="2400"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2800" spc="-1">
                <a:solidFill>
                  <a:srgbClr val="000000"/>
                </a:solidFill>
                <a:uFill>
                  <a:solidFill>
                    <a:srgbClr val="FFFFFF"/>
                  </a:solidFill>
                </a:uFill>
                <a:latin typeface="Courier New"/>
              </a:rPr>
              <a:t>start</a:t>
            </a:r>
            <a:r>
              <a:rPr lang="en-US" sz="3200" spc="-1">
                <a:solidFill>
                  <a:srgbClr val="000000"/>
                </a:solidFill>
                <a:uFill>
                  <a:solidFill>
                    <a:srgbClr val="FFFFFF"/>
                  </a:solidFill>
                </a:uFill>
                <a:latin typeface="Tahoma"/>
              </a:rPr>
              <a:t> and </a:t>
            </a:r>
            <a:r>
              <a:rPr lang="en-US" sz="2800" spc="-1">
                <a:solidFill>
                  <a:srgbClr val="000000"/>
                </a:solidFill>
                <a:uFill>
                  <a:solidFill>
                    <a:srgbClr val="FFFFFF"/>
                  </a:solidFill>
                </a:uFill>
                <a:latin typeface="Courier New"/>
              </a:rPr>
              <a:t>end</a:t>
            </a:r>
            <a:r>
              <a:rPr lang="en-US" sz="3200" spc="-1">
                <a:solidFill>
                  <a:srgbClr val="000000"/>
                </a:solidFill>
                <a:uFill>
                  <a:solidFill>
                    <a:srgbClr val="FFFFFF"/>
                  </a:solidFill>
                </a:uFill>
                <a:latin typeface="Tahoma"/>
              </a:rPr>
              <a:t> should both be </a:t>
            </a:r>
            <a:r>
              <a:rPr lang="en-US" sz="3200" spc="-1" err="1">
                <a:solidFill>
                  <a:srgbClr val="000000"/>
                </a:solidFill>
                <a:uFill>
                  <a:solidFill>
                    <a:srgbClr val="FFFFFF"/>
                  </a:solidFill>
                </a:uFill>
                <a:latin typeface="Tahoma"/>
              </a:rPr>
              <a:t>ints</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The slice contains the substring beginning at position </a:t>
            </a:r>
            <a:r>
              <a:rPr lang="en-US" sz="2800" spc="-1">
                <a:solidFill>
                  <a:srgbClr val="000000"/>
                </a:solidFill>
                <a:uFill>
                  <a:solidFill>
                    <a:srgbClr val="FFFFFF"/>
                  </a:solidFill>
                </a:uFill>
                <a:latin typeface="Courier New"/>
              </a:rPr>
              <a:t>start</a:t>
            </a:r>
            <a:r>
              <a:rPr lang="en-US" sz="3200" spc="-1">
                <a:solidFill>
                  <a:srgbClr val="000000"/>
                </a:solidFill>
                <a:uFill>
                  <a:solidFill>
                    <a:srgbClr val="FFFFFF"/>
                  </a:solidFill>
                </a:uFill>
                <a:latin typeface="Tahoma"/>
              </a:rPr>
              <a:t> and runs up to </a:t>
            </a:r>
            <a:r>
              <a:rPr lang="en-US" sz="3200" b="1" spc="-1">
                <a:solidFill>
                  <a:srgbClr val="000000"/>
                </a:solidFill>
                <a:uFill>
                  <a:solidFill>
                    <a:srgbClr val="FFFFFF"/>
                  </a:solidFill>
                </a:uFill>
                <a:latin typeface="Tahoma"/>
              </a:rPr>
              <a:t>but doesn</a:t>
            </a:r>
            <a:r>
              <a:rPr lang="en-US" sz="3200" b="1" spc="-1">
                <a:solidFill>
                  <a:srgbClr val="000000"/>
                </a:solidFill>
                <a:uFill>
                  <a:solidFill>
                    <a:srgbClr val="FFFFFF"/>
                  </a:solidFill>
                </a:uFill>
                <a:latin typeface="Times New Roman"/>
              </a:rPr>
              <a:t>’</a:t>
            </a:r>
            <a:r>
              <a:rPr lang="en-US" sz="3200" b="1" spc="-1">
                <a:solidFill>
                  <a:srgbClr val="000000"/>
                </a:solidFill>
                <a:uFill>
                  <a:solidFill>
                    <a:srgbClr val="FFFFFF"/>
                  </a:solidFill>
                </a:uFill>
                <a:latin typeface="Tahoma"/>
              </a:rPr>
              <a:t>t include</a:t>
            </a:r>
            <a:r>
              <a:rPr lang="en-US" sz="3200" spc="-1">
                <a:solidFill>
                  <a:srgbClr val="000000"/>
                </a:solidFill>
                <a:uFill>
                  <a:solidFill>
                    <a:srgbClr val="FFFFFF"/>
                  </a:solidFill>
                </a:uFill>
                <a:latin typeface="Tahoma"/>
              </a:rPr>
              <a:t> the position </a:t>
            </a:r>
            <a:r>
              <a:rPr lang="en-US" sz="2800" spc="-1">
                <a:solidFill>
                  <a:srgbClr val="000000"/>
                </a:solidFill>
                <a:uFill>
                  <a:solidFill>
                    <a:srgbClr val="FFFFFF"/>
                  </a:solidFill>
                </a:uFill>
                <a:latin typeface="Courier New"/>
              </a:rPr>
              <a:t>end</a:t>
            </a:r>
            <a:r>
              <a:rPr lang="en-US" sz="3200" spc="-1">
                <a:solidFill>
                  <a:srgbClr val="000000"/>
                </a:solidFill>
                <a:uFill>
                  <a:solidFill>
                    <a:srgbClr val="FFFFFF"/>
                  </a:solidFill>
                </a:uFill>
                <a:latin typeface="Tahoma"/>
              </a:rPr>
              <a:t>.</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229"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42831A2A-C55C-4B71-BB70-DA7A11A53ABF}" type="slidenum">
              <a:rPr lang="en-US" sz="1400" spc="-1">
                <a:solidFill>
                  <a:srgbClr val="000000"/>
                </a:solidFill>
                <a:uFill>
                  <a:solidFill>
                    <a:srgbClr val="FFFFFF"/>
                  </a:solidFill>
                </a:uFill>
                <a:latin typeface="Tahoma"/>
              </a:rPr>
              <a:t>12</a:t>
            </a:fld>
            <a:endParaRPr lang="en-US" spc="-1">
              <a:solidFill>
                <a:srgbClr val="000000"/>
              </a:solidFill>
              <a:uFill>
                <a:solidFill>
                  <a:srgbClr val="FFFFFF"/>
                </a:solidFill>
              </a:uFill>
              <a:latin typeface="Arial"/>
            </a:endParaRPr>
          </a:p>
        </p:txBody>
      </p:sp>
      <p:sp>
        <p:nvSpPr>
          <p:cNvPr id="230"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The String Data Type</a:t>
            </a:r>
            <a:endParaRPr lang="en-US" spc="-1">
              <a:solidFill>
                <a:srgbClr val="000000"/>
              </a:solidFill>
              <a:uFill>
                <a:solidFill>
                  <a:srgbClr val="FFFFFF"/>
                </a:solidFill>
              </a:uFill>
              <a:latin typeface="Arial"/>
            </a:endParaRPr>
          </a:p>
        </p:txBody>
      </p:sp>
      <p:sp>
        <p:nvSpPr>
          <p:cNvPr id="231" name="CustomShape 4"/>
          <p:cNvSpPr/>
          <p:nvPr/>
        </p:nvSpPr>
        <p:spPr>
          <a:xfrm>
            <a:off x="2706600" y="3276720"/>
            <a:ext cx="7771680" cy="285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90000"/>
              </a:lnSpc>
            </a:pPr>
            <a:r>
              <a:rPr lang="en-US" sz="2400" spc="-1">
                <a:solidFill>
                  <a:srgbClr val="000000"/>
                </a:solidFill>
                <a:uFill>
                  <a:solidFill>
                    <a:srgbClr val="FFFFFF"/>
                  </a:solidFill>
                </a:uFill>
                <a:latin typeface="Courier New"/>
              </a:rPr>
              <a:t>&gt;&gt;&gt; greet[0:3]</a:t>
            </a:r>
            <a:endParaRPr lang="en-US" sz="2400" spc="-1">
              <a:solidFill>
                <a:srgbClr val="000000"/>
              </a:solidFill>
              <a:uFill>
                <a:solidFill>
                  <a:srgbClr val="FFFFFF"/>
                </a:solidFill>
              </a:uFill>
              <a:latin typeface="Arial"/>
            </a:endParaRPr>
          </a:p>
          <a:p>
            <a:pPr marL="343080" indent="-342360">
              <a:lnSpc>
                <a:spcPct val="90000"/>
              </a:lnSpc>
            </a:pPr>
            <a:r>
              <a:rPr lang="en-US" sz="2400" spc="-1">
                <a:solidFill>
                  <a:srgbClr val="000000"/>
                </a:solidFill>
                <a:uFill>
                  <a:solidFill>
                    <a:srgbClr val="FFFFFF"/>
                  </a:solidFill>
                </a:uFill>
                <a:latin typeface="Courier New"/>
              </a:rPr>
              <a:t>'Hel'</a:t>
            </a:r>
            <a:endParaRPr lang="en-US" sz="2400" spc="-1">
              <a:solidFill>
                <a:srgbClr val="000000"/>
              </a:solidFill>
              <a:uFill>
                <a:solidFill>
                  <a:srgbClr val="FFFFFF"/>
                </a:solidFill>
              </a:uFill>
              <a:latin typeface="Arial"/>
            </a:endParaRPr>
          </a:p>
          <a:p>
            <a:pPr marL="343080" indent="-342360">
              <a:lnSpc>
                <a:spcPct val="90000"/>
              </a:lnSpc>
            </a:pPr>
            <a:r>
              <a:rPr lang="en-US" sz="2400" spc="-1">
                <a:solidFill>
                  <a:srgbClr val="000000"/>
                </a:solidFill>
                <a:uFill>
                  <a:solidFill>
                    <a:srgbClr val="FFFFFF"/>
                  </a:solidFill>
                </a:uFill>
                <a:latin typeface="Courier New"/>
              </a:rPr>
              <a:t>&gt;&gt;&gt; greet[5:9]</a:t>
            </a:r>
            <a:endParaRPr lang="en-US" sz="2400" spc="-1">
              <a:solidFill>
                <a:srgbClr val="000000"/>
              </a:solidFill>
              <a:uFill>
                <a:solidFill>
                  <a:srgbClr val="FFFFFF"/>
                </a:solidFill>
              </a:uFill>
              <a:latin typeface="Arial"/>
            </a:endParaRPr>
          </a:p>
          <a:p>
            <a:pPr marL="343080" indent="-342360">
              <a:lnSpc>
                <a:spcPct val="90000"/>
              </a:lnSpc>
            </a:pPr>
            <a:r>
              <a:rPr lang="en-US" sz="2400" spc="-1">
                <a:solidFill>
                  <a:srgbClr val="000000"/>
                </a:solidFill>
                <a:uFill>
                  <a:solidFill>
                    <a:srgbClr val="FFFFFF"/>
                  </a:solidFill>
                </a:uFill>
                <a:latin typeface="Courier New"/>
              </a:rPr>
              <a:t>' Bob'</a:t>
            </a:r>
            <a:endParaRPr lang="en-US" sz="2400" spc="-1">
              <a:solidFill>
                <a:srgbClr val="000000"/>
              </a:solidFill>
              <a:uFill>
                <a:solidFill>
                  <a:srgbClr val="FFFFFF"/>
                </a:solidFill>
              </a:uFill>
              <a:latin typeface="Arial"/>
            </a:endParaRPr>
          </a:p>
          <a:p>
            <a:pPr marL="343080" indent="-342360">
              <a:lnSpc>
                <a:spcPct val="90000"/>
              </a:lnSpc>
            </a:pPr>
            <a:r>
              <a:rPr lang="en-US" sz="2400" spc="-1">
                <a:solidFill>
                  <a:srgbClr val="000000"/>
                </a:solidFill>
                <a:uFill>
                  <a:solidFill>
                    <a:srgbClr val="FFFFFF"/>
                  </a:solidFill>
                </a:uFill>
                <a:latin typeface="Courier New"/>
              </a:rPr>
              <a:t>&gt;&gt;&gt; greet[:5]</a:t>
            </a:r>
            <a:endParaRPr lang="en-US" sz="2400" spc="-1">
              <a:solidFill>
                <a:srgbClr val="000000"/>
              </a:solidFill>
              <a:uFill>
                <a:solidFill>
                  <a:srgbClr val="FFFFFF"/>
                </a:solidFill>
              </a:uFill>
              <a:latin typeface="Arial"/>
            </a:endParaRPr>
          </a:p>
          <a:p>
            <a:pPr marL="343080" indent="-342360">
              <a:lnSpc>
                <a:spcPct val="90000"/>
              </a:lnSpc>
            </a:pPr>
            <a:r>
              <a:rPr lang="en-US" sz="2400" spc="-1">
                <a:solidFill>
                  <a:srgbClr val="000000"/>
                </a:solidFill>
                <a:uFill>
                  <a:solidFill>
                    <a:srgbClr val="FFFFFF"/>
                  </a:solidFill>
                </a:uFill>
                <a:latin typeface="Courier New"/>
              </a:rPr>
              <a:t>'Hello'</a:t>
            </a:r>
            <a:endParaRPr lang="en-US" sz="2400" spc="-1">
              <a:solidFill>
                <a:srgbClr val="000000"/>
              </a:solidFill>
              <a:uFill>
                <a:solidFill>
                  <a:srgbClr val="FFFFFF"/>
                </a:solidFill>
              </a:uFill>
              <a:latin typeface="Arial"/>
            </a:endParaRPr>
          </a:p>
          <a:p>
            <a:pPr marL="343080" indent="-342360">
              <a:lnSpc>
                <a:spcPct val="90000"/>
              </a:lnSpc>
            </a:pPr>
            <a:r>
              <a:rPr lang="en-US" sz="2400" spc="-1">
                <a:solidFill>
                  <a:srgbClr val="000000"/>
                </a:solidFill>
                <a:uFill>
                  <a:solidFill>
                    <a:srgbClr val="FFFFFF"/>
                  </a:solidFill>
                </a:uFill>
                <a:latin typeface="Courier New"/>
              </a:rPr>
              <a:t>&gt;&gt;&gt; greet[5:]</a:t>
            </a:r>
            <a:endParaRPr lang="en-US" sz="2400" spc="-1">
              <a:solidFill>
                <a:srgbClr val="000000"/>
              </a:solidFill>
              <a:uFill>
                <a:solidFill>
                  <a:srgbClr val="FFFFFF"/>
                </a:solidFill>
              </a:uFill>
              <a:latin typeface="Arial"/>
            </a:endParaRPr>
          </a:p>
          <a:p>
            <a:pPr marL="343080" indent="-342360">
              <a:lnSpc>
                <a:spcPct val="90000"/>
              </a:lnSpc>
            </a:pPr>
            <a:r>
              <a:rPr lang="en-US" sz="2400" spc="-1">
                <a:solidFill>
                  <a:srgbClr val="000000"/>
                </a:solidFill>
                <a:uFill>
                  <a:solidFill>
                    <a:srgbClr val="FFFFFF"/>
                  </a:solidFill>
                </a:uFill>
                <a:latin typeface="Courier New"/>
              </a:rPr>
              <a:t>' Bob'</a:t>
            </a:r>
            <a:endParaRPr lang="en-US" sz="2400" spc="-1">
              <a:solidFill>
                <a:srgbClr val="000000"/>
              </a:solidFill>
              <a:uFill>
                <a:solidFill>
                  <a:srgbClr val="FFFFFF"/>
                </a:solidFill>
              </a:uFill>
              <a:latin typeface="Arial"/>
            </a:endParaRPr>
          </a:p>
          <a:p>
            <a:pPr marL="343080" indent="-342360">
              <a:lnSpc>
                <a:spcPct val="90000"/>
              </a:lnSpc>
            </a:pPr>
            <a:r>
              <a:rPr lang="en-US" sz="2400" spc="-1">
                <a:solidFill>
                  <a:srgbClr val="000000"/>
                </a:solidFill>
                <a:uFill>
                  <a:solidFill>
                    <a:srgbClr val="FFFFFF"/>
                  </a:solidFill>
                </a:uFill>
                <a:latin typeface="Courier New"/>
              </a:rPr>
              <a:t>&gt;&gt;&gt; greet[:]</a:t>
            </a:r>
            <a:endParaRPr lang="en-US" sz="2400" spc="-1">
              <a:solidFill>
                <a:srgbClr val="000000"/>
              </a:solidFill>
              <a:uFill>
                <a:solidFill>
                  <a:srgbClr val="FFFFFF"/>
                </a:solidFill>
              </a:uFill>
              <a:latin typeface="Arial"/>
            </a:endParaRPr>
          </a:p>
          <a:p>
            <a:pPr marL="343080" indent="-342360">
              <a:lnSpc>
                <a:spcPct val="90000"/>
              </a:lnSpc>
            </a:pPr>
            <a:r>
              <a:rPr lang="en-US" sz="2400" spc="-1">
                <a:solidFill>
                  <a:srgbClr val="000000"/>
                </a:solidFill>
                <a:uFill>
                  <a:solidFill>
                    <a:srgbClr val="FFFFFF"/>
                  </a:solidFill>
                </a:uFill>
                <a:latin typeface="Courier New"/>
              </a:rPr>
              <a:t>'Hello Bob'</a:t>
            </a:r>
            <a:endParaRPr lang="en-US" sz="2400" spc="-1">
              <a:solidFill>
                <a:srgbClr val="000000"/>
              </a:solidFill>
              <a:uFill>
                <a:solidFill>
                  <a:srgbClr val="FFFFFF"/>
                </a:solidFill>
              </a:uFill>
              <a:latin typeface="Arial"/>
            </a:endParaRPr>
          </a:p>
        </p:txBody>
      </p:sp>
      <p:sp>
        <p:nvSpPr>
          <p:cNvPr id="232" name="CustomShape 5"/>
          <p:cNvSpPr/>
          <p:nvPr/>
        </p:nvSpPr>
        <p:spPr>
          <a:xfrm>
            <a:off x="3124200" y="1981080"/>
            <a:ext cx="5485680" cy="913680"/>
          </a:xfrm>
          <a:prstGeom prst="rect">
            <a:avLst/>
          </a:prstGeom>
          <a:noFill/>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233" name="Line 6"/>
          <p:cNvSpPr/>
          <p:nvPr/>
        </p:nvSpPr>
        <p:spPr>
          <a:xfrm>
            <a:off x="3733680" y="1981080"/>
            <a:ext cx="360" cy="914400"/>
          </a:xfrm>
          <a:prstGeom prst="line">
            <a:avLst/>
          </a:prstGeom>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234" name="Line 7"/>
          <p:cNvSpPr/>
          <p:nvPr/>
        </p:nvSpPr>
        <p:spPr>
          <a:xfrm>
            <a:off x="4343160" y="1981080"/>
            <a:ext cx="360" cy="914400"/>
          </a:xfrm>
          <a:prstGeom prst="line">
            <a:avLst/>
          </a:prstGeom>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235" name="Line 8"/>
          <p:cNvSpPr/>
          <p:nvPr/>
        </p:nvSpPr>
        <p:spPr>
          <a:xfrm>
            <a:off x="4953000" y="1981080"/>
            <a:ext cx="360" cy="914400"/>
          </a:xfrm>
          <a:prstGeom prst="line">
            <a:avLst/>
          </a:prstGeom>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236" name="Line 9"/>
          <p:cNvSpPr/>
          <p:nvPr/>
        </p:nvSpPr>
        <p:spPr>
          <a:xfrm>
            <a:off x="5562480" y="1981080"/>
            <a:ext cx="360" cy="914400"/>
          </a:xfrm>
          <a:prstGeom prst="line">
            <a:avLst/>
          </a:prstGeom>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237" name="Line 10"/>
          <p:cNvSpPr/>
          <p:nvPr/>
        </p:nvSpPr>
        <p:spPr>
          <a:xfrm>
            <a:off x="6171960" y="1981080"/>
            <a:ext cx="360" cy="914400"/>
          </a:xfrm>
          <a:prstGeom prst="line">
            <a:avLst/>
          </a:prstGeom>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238" name="Line 11"/>
          <p:cNvSpPr/>
          <p:nvPr/>
        </p:nvSpPr>
        <p:spPr>
          <a:xfrm>
            <a:off x="6781800" y="1981080"/>
            <a:ext cx="360" cy="914400"/>
          </a:xfrm>
          <a:prstGeom prst="line">
            <a:avLst/>
          </a:prstGeom>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239" name="Line 12"/>
          <p:cNvSpPr/>
          <p:nvPr/>
        </p:nvSpPr>
        <p:spPr>
          <a:xfrm>
            <a:off x="7391280" y="1981080"/>
            <a:ext cx="360" cy="914400"/>
          </a:xfrm>
          <a:prstGeom prst="line">
            <a:avLst/>
          </a:prstGeom>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240" name="CustomShape 13"/>
          <p:cNvSpPr/>
          <p:nvPr/>
        </p:nvSpPr>
        <p:spPr>
          <a:xfrm>
            <a:off x="3267480" y="2209680"/>
            <a:ext cx="407880" cy="455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400" spc="-1">
                <a:solidFill>
                  <a:srgbClr val="000000"/>
                </a:solidFill>
                <a:uFill>
                  <a:solidFill>
                    <a:srgbClr val="FFFFFF"/>
                  </a:solidFill>
                </a:uFill>
                <a:latin typeface="Tahoma"/>
                <a:ea typeface="DejaVu Sans"/>
              </a:rPr>
              <a:t>H</a:t>
            </a:r>
            <a:endParaRPr lang="en-US" spc="-1">
              <a:solidFill>
                <a:srgbClr val="000000"/>
              </a:solidFill>
              <a:uFill>
                <a:solidFill>
                  <a:srgbClr val="FFFFFF"/>
                </a:solidFill>
              </a:uFill>
              <a:latin typeface="Arial"/>
            </a:endParaRPr>
          </a:p>
        </p:txBody>
      </p:sp>
      <p:sp>
        <p:nvSpPr>
          <p:cNvPr id="241" name="CustomShape 14"/>
          <p:cNvSpPr/>
          <p:nvPr/>
        </p:nvSpPr>
        <p:spPr>
          <a:xfrm>
            <a:off x="3874800" y="2209680"/>
            <a:ext cx="366840" cy="455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400" spc="-1">
                <a:solidFill>
                  <a:srgbClr val="000000"/>
                </a:solidFill>
                <a:uFill>
                  <a:solidFill>
                    <a:srgbClr val="FFFFFF"/>
                  </a:solidFill>
                </a:uFill>
                <a:latin typeface="Tahoma"/>
                <a:ea typeface="DejaVu Sans"/>
              </a:rPr>
              <a:t>e</a:t>
            </a:r>
            <a:endParaRPr lang="en-US" spc="-1">
              <a:solidFill>
                <a:srgbClr val="000000"/>
              </a:solidFill>
              <a:uFill>
                <a:solidFill>
                  <a:srgbClr val="FFFFFF"/>
                </a:solidFill>
              </a:uFill>
              <a:latin typeface="Arial"/>
            </a:endParaRPr>
          </a:p>
        </p:txBody>
      </p:sp>
      <p:sp>
        <p:nvSpPr>
          <p:cNvPr id="242" name="CustomShape 15"/>
          <p:cNvSpPr/>
          <p:nvPr/>
        </p:nvSpPr>
        <p:spPr>
          <a:xfrm>
            <a:off x="4566720" y="2209680"/>
            <a:ext cx="264600" cy="455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400" spc="-1">
                <a:solidFill>
                  <a:srgbClr val="000000"/>
                </a:solidFill>
                <a:uFill>
                  <a:solidFill>
                    <a:srgbClr val="FFFFFF"/>
                  </a:solidFill>
                </a:uFill>
                <a:latin typeface="Tahoma"/>
                <a:ea typeface="DejaVu Sans"/>
              </a:rPr>
              <a:t>l</a:t>
            </a:r>
            <a:endParaRPr lang="en-US" spc="-1">
              <a:solidFill>
                <a:srgbClr val="000000"/>
              </a:solidFill>
              <a:uFill>
                <a:solidFill>
                  <a:srgbClr val="FFFFFF"/>
                </a:solidFill>
              </a:uFill>
              <a:latin typeface="Arial"/>
            </a:endParaRPr>
          </a:p>
        </p:txBody>
      </p:sp>
      <p:sp>
        <p:nvSpPr>
          <p:cNvPr id="243" name="CustomShape 16"/>
          <p:cNvSpPr/>
          <p:nvPr/>
        </p:nvSpPr>
        <p:spPr>
          <a:xfrm>
            <a:off x="5099880" y="2209680"/>
            <a:ext cx="264600" cy="455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400" spc="-1">
                <a:solidFill>
                  <a:srgbClr val="000000"/>
                </a:solidFill>
                <a:uFill>
                  <a:solidFill>
                    <a:srgbClr val="FFFFFF"/>
                  </a:solidFill>
                </a:uFill>
                <a:latin typeface="Tahoma"/>
                <a:ea typeface="DejaVu Sans"/>
              </a:rPr>
              <a:t>l</a:t>
            </a:r>
            <a:endParaRPr lang="en-US" spc="-1">
              <a:solidFill>
                <a:srgbClr val="000000"/>
              </a:solidFill>
              <a:uFill>
                <a:solidFill>
                  <a:srgbClr val="FFFFFF"/>
                </a:solidFill>
              </a:uFill>
              <a:latin typeface="Arial"/>
            </a:endParaRPr>
          </a:p>
        </p:txBody>
      </p:sp>
      <p:sp>
        <p:nvSpPr>
          <p:cNvPr id="244" name="CustomShape 17"/>
          <p:cNvSpPr/>
          <p:nvPr/>
        </p:nvSpPr>
        <p:spPr>
          <a:xfrm>
            <a:off x="5706840" y="2209680"/>
            <a:ext cx="365040" cy="455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400" spc="-1">
                <a:solidFill>
                  <a:srgbClr val="000000"/>
                </a:solidFill>
                <a:uFill>
                  <a:solidFill>
                    <a:srgbClr val="FFFFFF"/>
                  </a:solidFill>
                </a:uFill>
                <a:latin typeface="Tahoma"/>
                <a:ea typeface="DejaVu Sans"/>
              </a:rPr>
              <a:t>o</a:t>
            </a:r>
            <a:endParaRPr lang="en-US" spc="-1">
              <a:solidFill>
                <a:srgbClr val="000000"/>
              </a:solidFill>
              <a:uFill>
                <a:solidFill>
                  <a:srgbClr val="FFFFFF"/>
                </a:solidFill>
              </a:uFill>
              <a:latin typeface="Arial"/>
            </a:endParaRPr>
          </a:p>
        </p:txBody>
      </p:sp>
      <p:sp>
        <p:nvSpPr>
          <p:cNvPr id="245" name="CustomShape 18"/>
          <p:cNvSpPr/>
          <p:nvPr/>
        </p:nvSpPr>
        <p:spPr>
          <a:xfrm>
            <a:off x="6921480" y="2209680"/>
            <a:ext cx="388080" cy="455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400" spc="-1">
                <a:solidFill>
                  <a:srgbClr val="000000"/>
                </a:solidFill>
                <a:uFill>
                  <a:solidFill>
                    <a:srgbClr val="FFFFFF"/>
                  </a:solidFill>
                </a:uFill>
                <a:latin typeface="Tahoma"/>
                <a:ea typeface="DejaVu Sans"/>
              </a:rPr>
              <a:t>B</a:t>
            </a:r>
            <a:endParaRPr lang="en-US" spc="-1">
              <a:solidFill>
                <a:srgbClr val="000000"/>
              </a:solidFill>
              <a:uFill>
                <a:solidFill>
                  <a:srgbClr val="FFFFFF"/>
                </a:solidFill>
              </a:uFill>
              <a:latin typeface="Arial"/>
            </a:endParaRPr>
          </a:p>
        </p:txBody>
      </p:sp>
      <p:sp>
        <p:nvSpPr>
          <p:cNvPr id="246" name="Line 19"/>
          <p:cNvSpPr/>
          <p:nvPr/>
        </p:nvSpPr>
        <p:spPr>
          <a:xfrm>
            <a:off x="8000760" y="1981080"/>
            <a:ext cx="360" cy="914400"/>
          </a:xfrm>
          <a:prstGeom prst="line">
            <a:avLst/>
          </a:prstGeom>
          <a:ln w="9360">
            <a:solidFill>
              <a:schemeClr val="tx1"/>
            </a:solidFill>
            <a:miter/>
          </a:ln>
        </p:spPr>
        <p:style>
          <a:lnRef idx="0">
            <a:scrgbClr r="0" g="0" b="0"/>
          </a:lnRef>
          <a:fillRef idx="0">
            <a:scrgbClr r="0" g="0" b="0"/>
          </a:fillRef>
          <a:effectRef idx="0">
            <a:scrgbClr r="0" g="0" b="0"/>
          </a:effectRef>
          <a:fontRef idx="minor"/>
        </p:style>
        <p:txBody>
          <a:bodyPr/>
          <a:lstStyle/>
          <a:p>
            <a:endParaRPr lang="en-US"/>
          </a:p>
        </p:txBody>
      </p:sp>
      <p:sp>
        <p:nvSpPr>
          <p:cNvPr id="247" name="CustomShape 20"/>
          <p:cNvSpPr/>
          <p:nvPr/>
        </p:nvSpPr>
        <p:spPr>
          <a:xfrm>
            <a:off x="7459320" y="2209680"/>
            <a:ext cx="365040" cy="455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400" spc="-1">
                <a:solidFill>
                  <a:srgbClr val="000000"/>
                </a:solidFill>
                <a:uFill>
                  <a:solidFill>
                    <a:srgbClr val="FFFFFF"/>
                  </a:solidFill>
                </a:uFill>
                <a:latin typeface="Tahoma"/>
                <a:ea typeface="DejaVu Sans"/>
              </a:rPr>
              <a:t>o</a:t>
            </a:r>
            <a:endParaRPr lang="en-US" spc="-1">
              <a:solidFill>
                <a:srgbClr val="000000"/>
              </a:solidFill>
              <a:uFill>
                <a:solidFill>
                  <a:srgbClr val="FFFFFF"/>
                </a:solidFill>
              </a:uFill>
              <a:latin typeface="Arial"/>
            </a:endParaRPr>
          </a:p>
        </p:txBody>
      </p:sp>
      <p:sp>
        <p:nvSpPr>
          <p:cNvPr id="248" name="CustomShape 21"/>
          <p:cNvSpPr/>
          <p:nvPr/>
        </p:nvSpPr>
        <p:spPr>
          <a:xfrm>
            <a:off x="8142960" y="2209680"/>
            <a:ext cx="372960" cy="455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400" spc="-1">
                <a:solidFill>
                  <a:srgbClr val="000000"/>
                </a:solidFill>
                <a:uFill>
                  <a:solidFill>
                    <a:srgbClr val="FFFFFF"/>
                  </a:solidFill>
                </a:uFill>
                <a:latin typeface="Tahoma"/>
                <a:ea typeface="DejaVu Sans"/>
              </a:rPr>
              <a:t>b</a:t>
            </a:r>
            <a:endParaRPr lang="en-US" spc="-1">
              <a:solidFill>
                <a:srgbClr val="000000"/>
              </a:solidFill>
              <a:uFill>
                <a:solidFill>
                  <a:srgbClr val="FFFFFF"/>
                </a:solidFill>
              </a:uFill>
              <a:latin typeface="Arial"/>
            </a:endParaRPr>
          </a:p>
        </p:txBody>
      </p:sp>
      <p:sp>
        <p:nvSpPr>
          <p:cNvPr id="249" name="CustomShape 22"/>
          <p:cNvSpPr/>
          <p:nvPr/>
        </p:nvSpPr>
        <p:spPr>
          <a:xfrm>
            <a:off x="3124200" y="2819520"/>
            <a:ext cx="5485680" cy="82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2400" spc="-1">
                <a:solidFill>
                  <a:srgbClr val="000000"/>
                </a:solidFill>
                <a:uFill>
                  <a:solidFill>
                    <a:srgbClr val="FFFFFF"/>
                  </a:solidFill>
                </a:uFill>
                <a:latin typeface="Tahoma"/>
                <a:ea typeface="DejaVu Sans"/>
              </a:rPr>
              <a:t>  0    1     2    3     4    5     6     7     8</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251"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00369D2D-58F6-4BDB-9C72-D5AB85F7ED70}" type="slidenum">
              <a:rPr lang="en-US" sz="1400" spc="-1">
                <a:solidFill>
                  <a:srgbClr val="000000"/>
                </a:solidFill>
                <a:uFill>
                  <a:solidFill>
                    <a:srgbClr val="FFFFFF"/>
                  </a:solidFill>
                </a:uFill>
                <a:latin typeface="Tahoma"/>
              </a:rPr>
              <a:t>13</a:t>
            </a:fld>
            <a:endParaRPr lang="en-US" spc="-1">
              <a:solidFill>
                <a:srgbClr val="000000"/>
              </a:solidFill>
              <a:uFill>
                <a:solidFill>
                  <a:srgbClr val="FFFFFF"/>
                </a:solidFill>
              </a:uFill>
              <a:latin typeface="Arial"/>
            </a:endParaRPr>
          </a:p>
        </p:txBody>
      </p:sp>
      <p:sp>
        <p:nvSpPr>
          <p:cNvPr id="252"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The String Data Type</a:t>
            </a:r>
            <a:endParaRPr lang="en-US" spc="-1">
              <a:solidFill>
                <a:srgbClr val="000000"/>
              </a:solidFill>
              <a:uFill>
                <a:solidFill>
                  <a:srgbClr val="FFFFFF"/>
                </a:solidFill>
              </a:uFill>
              <a:latin typeface="Arial"/>
            </a:endParaRPr>
          </a:p>
        </p:txBody>
      </p:sp>
      <p:sp>
        <p:nvSpPr>
          <p:cNvPr id="253"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90000"/>
              </a:lnSpc>
              <a:buClr>
                <a:srgbClr val="3333CC"/>
              </a:buClr>
              <a:buSzPct val="60000"/>
              <a:buFont typeface="Wingdings" charset="2"/>
              <a:buChar char=""/>
            </a:pPr>
            <a:r>
              <a:rPr lang="en-US" sz="3200" spc="-1">
                <a:solidFill>
                  <a:srgbClr val="000000"/>
                </a:solidFill>
                <a:uFill>
                  <a:solidFill>
                    <a:srgbClr val="FFFFFF"/>
                  </a:solidFill>
                </a:uFill>
                <a:latin typeface="Tahoma"/>
              </a:rPr>
              <a:t>If either expression is missing, then the start or the end of the string are used.</a:t>
            </a:r>
            <a:endParaRPr lang="en-US" spc="-1">
              <a:solidFill>
                <a:srgbClr val="000000"/>
              </a:solidFill>
              <a:uFill>
                <a:solidFill>
                  <a:srgbClr val="FFFFFF"/>
                </a:solidFill>
              </a:uFill>
              <a:latin typeface="Arial"/>
            </a:endParaRPr>
          </a:p>
          <a:p>
            <a:pPr marL="343080" indent="-342360">
              <a:lnSpc>
                <a:spcPct val="90000"/>
              </a:lnSpc>
              <a:buClr>
                <a:srgbClr val="3333CC"/>
              </a:buClr>
              <a:buSzPct val="60000"/>
              <a:buFont typeface="Wingdings" charset="2"/>
              <a:buChar char=""/>
            </a:pPr>
            <a:r>
              <a:rPr lang="en-US" sz="3200" spc="-1">
                <a:solidFill>
                  <a:srgbClr val="000000"/>
                </a:solidFill>
                <a:uFill>
                  <a:solidFill>
                    <a:srgbClr val="FFFFFF"/>
                  </a:solidFill>
                </a:uFill>
                <a:latin typeface="Tahoma"/>
              </a:rPr>
              <a:t>Can we put two strings together into a longer string?</a:t>
            </a:r>
            <a:endParaRPr lang="en-US" spc="-1">
              <a:solidFill>
                <a:srgbClr val="000000"/>
              </a:solidFill>
              <a:uFill>
                <a:solidFill>
                  <a:srgbClr val="FFFFFF"/>
                </a:solidFill>
              </a:uFill>
              <a:latin typeface="Arial"/>
            </a:endParaRPr>
          </a:p>
          <a:p>
            <a:pPr marL="343080" indent="-342360">
              <a:lnSpc>
                <a:spcPct val="90000"/>
              </a:lnSpc>
              <a:buClr>
                <a:srgbClr val="3333CC"/>
              </a:buClr>
              <a:buSzPct val="60000"/>
              <a:buFont typeface="Wingdings" charset="2"/>
              <a:buChar char=""/>
            </a:pPr>
            <a:r>
              <a:rPr lang="en-US" sz="3200" i="1" spc="-1">
                <a:solidFill>
                  <a:srgbClr val="000000"/>
                </a:solidFill>
                <a:uFill>
                  <a:solidFill>
                    <a:srgbClr val="FFFFFF"/>
                  </a:solidFill>
                </a:uFill>
                <a:latin typeface="Tahoma"/>
              </a:rPr>
              <a:t>Concatenation</a:t>
            </a:r>
            <a:r>
              <a:rPr lang="en-US" sz="3200" spc="-1">
                <a:solidFill>
                  <a:srgbClr val="000000"/>
                </a:solidFill>
                <a:uFill>
                  <a:solidFill>
                    <a:srgbClr val="FFFFFF"/>
                  </a:solidFill>
                </a:uFill>
                <a:latin typeface="Tahoma"/>
              </a:rPr>
              <a:t> </a:t>
            </a:r>
            <a:r>
              <a:rPr lang="en-US" sz="3200" spc="-1">
                <a:solidFill>
                  <a:srgbClr val="000000"/>
                </a:solidFill>
                <a:uFill>
                  <a:solidFill>
                    <a:srgbClr val="FFFFFF"/>
                  </a:solidFill>
                </a:uFill>
                <a:latin typeface="Times New Roman"/>
              </a:rPr>
              <a:t>“</a:t>
            </a:r>
            <a:r>
              <a:rPr lang="en-US" sz="3200" spc="-1">
                <a:solidFill>
                  <a:srgbClr val="000000"/>
                </a:solidFill>
                <a:uFill>
                  <a:solidFill>
                    <a:srgbClr val="FFFFFF"/>
                  </a:solidFill>
                </a:uFill>
                <a:latin typeface="Tahoma"/>
              </a:rPr>
              <a:t>glues</a:t>
            </a:r>
            <a:r>
              <a:rPr lang="en-US" sz="3200" spc="-1">
                <a:solidFill>
                  <a:srgbClr val="000000"/>
                </a:solidFill>
                <a:uFill>
                  <a:solidFill>
                    <a:srgbClr val="FFFFFF"/>
                  </a:solidFill>
                </a:uFill>
                <a:latin typeface="Times New Roman"/>
              </a:rPr>
              <a:t>”</a:t>
            </a:r>
            <a:r>
              <a:rPr lang="en-US" sz="3200" spc="-1">
                <a:solidFill>
                  <a:srgbClr val="000000"/>
                </a:solidFill>
                <a:uFill>
                  <a:solidFill>
                    <a:srgbClr val="FFFFFF"/>
                  </a:solidFill>
                </a:uFill>
                <a:latin typeface="Tahoma"/>
              </a:rPr>
              <a:t> two strings together (+)</a:t>
            </a:r>
            <a:endParaRPr lang="en-US" spc="-1">
              <a:solidFill>
                <a:srgbClr val="000000"/>
              </a:solidFill>
              <a:uFill>
                <a:solidFill>
                  <a:srgbClr val="FFFFFF"/>
                </a:solidFill>
              </a:uFill>
              <a:latin typeface="Arial"/>
            </a:endParaRPr>
          </a:p>
          <a:p>
            <a:pPr marL="343080" indent="-342360">
              <a:lnSpc>
                <a:spcPct val="90000"/>
              </a:lnSpc>
              <a:buClr>
                <a:srgbClr val="3333CC"/>
              </a:buClr>
              <a:buSzPct val="60000"/>
              <a:buFont typeface="Wingdings" charset="2"/>
              <a:buChar char=""/>
            </a:pPr>
            <a:r>
              <a:rPr lang="en-US" sz="3200" i="1" spc="-1">
                <a:solidFill>
                  <a:srgbClr val="000000"/>
                </a:solidFill>
                <a:uFill>
                  <a:solidFill>
                    <a:srgbClr val="FFFFFF"/>
                  </a:solidFill>
                </a:uFill>
                <a:latin typeface="Tahoma"/>
              </a:rPr>
              <a:t>Repetition</a:t>
            </a:r>
            <a:r>
              <a:rPr lang="en-US" sz="3200" spc="-1">
                <a:solidFill>
                  <a:srgbClr val="000000"/>
                </a:solidFill>
                <a:uFill>
                  <a:solidFill>
                    <a:srgbClr val="FFFFFF"/>
                  </a:solidFill>
                </a:uFill>
                <a:latin typeface="Tahoma"/>
              </a:rPr>
              <a:t> builds up a string by multiple concatenations of a string with itself (*)</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255"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460FB2EC-49AF-4411-8701-FA8CAA05A50E}" type="slidenum">
              <a:rPr lang="en-US" sz="1400" spc="-1">
                <a:solidFill>
                  <a:srgbClr val="000000"/>
                </a:solidFill>
                <a:uFill>
                  <a:solidFill>
                    <a:srgbClr val="FFFFFF"/>
                  </a:solidFill>
                </a:uFill>
                <a:latin typeface="Tahoma"/>
              </a:rPr>
              <a:t>14</a:t>
            </a:fld>
            <a:endParaRPr lang="en-US" spc="-1">
              <a:solidFill>
                <a:srgbClr val="000000"/>
              </a:solidFill>
              <a:uFill>
                <a:solidFill>
                  <a:srgbClr val="FFFFFF"/>
                </a:solidFill>
              </a:uFill>
              <a:latin typeface="Arial"/>
            </a:endParaRPr>
          </a:p>
        </p:txBody>
      </p:sp>
      <p:sp>
        <p:nvSpPr>
          <p:cNvPr id="256"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The String Data Type</a:t>
            </a:r>
            <a:endParaRPr lang="en-US" spc="-1">
              <a:solidFill>
                <a:srgbClr val="000000"/>
              </a:solidFill>
              <a:uFill>
                <a:solidFill>
                  <a:srgbClr val="FFFFFF"/>
                </a:solidFill>
              </a:uFill>
              <a:latin typeface="Arial"/>
            </a:endParaRPr>
          </a:p>
        </p:txBody>
      </p:sp>
      <p:sp>
        <p:nvSpPr>
          <p:cNvPr id="257"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90000"/>
              </a:lnSpc>
              <a:buClr>
                <a:srgbClr val="3333CC"/>
              </a:buClr>
              <a:buSzPct val="60000"/>
              <a:buFont typeface="Wingdings" charset="2"/>
              <a:buChar char=""/>
            </a:pPr>
            <a:r>
              <a:rPr lang="en-US" sz="2800" spc="-1">
                <a:solidFill>
                  <a:srgbClr val="000000"/>
                </a:solidFill>
                <a:uFill>
                  <a:solidFill>
                    <a:srgbClr val="FFFFFF"/>
                  </a:solidFill>
                </a:uFill>
                <a:latin typeface="Tahoma"/>
              </a:rPr>
              <a:t>The function </a:t>
            </a:r>
            <a:r>
              <a:rPr lang="en-US" sz="2800" i="1" spc="-1" err="1">
                <a:solidFill>
                  <a:srgbClr val="000000"/>
                </a:solidFill>
                <a:uFill>
                  <a:solidFill>
                    <a:srgbClr val="FFFFFF"/>
                  </a:solidFill>
                </a:uFill>
                <a:latin typeface="Tahoma"/>
              </a:rPr>
              <a:t>len</a:t>
            </a:r>
            <a:r>
              <a:rPr lang="en-US" sz="2800" spc="-1">
                <a:solidFill>
                  <a:srgbClr val="000000"/>
                </a:solidFill>
                <a:uFill>
                  <a:solidFill>
                    <a:srgbClr val="FFFFFF"/>
                  </a:solidFill>
                </a:uFill>
                <a:latin typeface="Tahoma"/>
              </a:rPr>
              <a:t> will return the length of a string.</a:t>
            </a:r>
            <a:endParaRPr lang="en-US" spc="-1">
              <a:solidFill>
                <a:srgbClr val="000000"/>
              </a:solidFill>
              <a:uFill>
                <a:solidFill>
                  <a:srgbClr val="FFFFFF"/>
                </a:solidFill>
              </a:uFill>
              <a:latin typeface="Arial"/>
            </a:endParaRPr>
          </a:p>
          <a:p>
            <a:pPr marL="343080" indent="-342360">
              <a:lnSpc>
                <a:spcPct val="90000"/>
              </a:lnSpc>
            </a:pPr>
            <a:r>
              <a:rPr lang="en-US" sz="2400" spc="-1">
                <a:solidFill>
                  <a:srgbClr val="000000"/>
                </a:solidFill>
                <a:uFill>
                  <a:solidFill>
                    <a:srgbClr val="FFFFFF"/>
                  </a:solidFill>
                </a:uFill>
                <a:latin typeface="Courier New"/>
              </a:rPr>
              <a:t>&gt;&gt;&gt; "spam" + "eggs"</a:t>
            </a:r>
            <a:endParaRPr lang="en-US" sz="2400" spc="-1">
              <a:solidFill>
                <a:srgbClr val="000000"/>
              </a:solidFill>
              <a:uFill>
                <a:solidFill>
                  <a:srgbClr val="FFFFFF"/>
                </a:solidFill>
              </a:uFill>
              <a:latin typeface="Arial"/>
            </a:endParaRPr>
          </a:p>
          <a:p>
            <a:pPr marL="343080" indent="-342360">
              <a:lnSpc>
                <a:spcPct val="90000"/>
              </a:lnSpc>
            </a:pPr>
            <a:r>
              <a:rPr lang="en-US" sz="2400" spc="-1">
                <a:solidFill>
                  <a:srgbClr val="000000"/>
                </a:solidFill>
                <a:uFill>
                  <a:solidFill>
                    <a:srgbClr val="FFFFFF"/>
                  </a:solidFill>
                </a:uFill>
                <a:latin typeface="Courier New"/>
              </a:rPr>
              <a:t>'</a:t>
            </a:r>
            <a:r>
              <a:rPr lang="en-US" sz="2400" spc="-1" err="1">
                <a:solidFill>
                  <a:srgbClr val="000000"/>
                </a:solidFill>
                <a:uFill>
                  <a:solidFill>
                    <a:srgbClr val="FFFFFF"/>
                  </a:solidFill>
                </a:uFill>
                <a:latin typeface="Courier New"/>
              </a:rPr>
              <a:t>spameggs</a:t>
            </a:r>
            <a:r>
              <a:rPr lang="en-US" sz="2400" spc="-1">
                <a:solidFill>
                  <a:srgbClr val="000000"/>
                </a:solidFill>
                <a:uFill>
                  <a:solidFill>
                    <a:srgbClr val="FFFFFF"/>
                  </a:solidFill>
                </a:uFill>
                <a:latin typeface="Courier New"/>
              </a:rPr>
              <a:t>'</a:t>
            </a:r>
            <a:endParaRPr lang="en-US" sz="2400" spc="-1">
              <a:solidFill>
                <a:srgbClr val="000000"/>
              </a:solidFill>
              <a:uFill>
                <a:solidFill>
                  <a:srgbClr val="FFFFFF"/>
                </a:solidFill>
              </a:uFill>
              <a:latin typeface="Arial"/>
            </a:endParaRPr>
          </a:p>
          <a:p>
            <a:pPr marL="343080" indent="-342360">
              <a:lnSpc>
                <a:spcPct val="90000"/>
              </a:lnSpc>
            </a:pPr>
            <a:r>
              <a:rPr lang="en-US" sz="2400" spc="-1">
                <a:solidFill>
                  <a:srgbClr val="000000"/>
                </a:solidFill>
                <a:uFill>
                  <a:solidFill>
                    <a:srgbClr val="FFFFFF"/>
                  </a:solidFill>
                </a:uFill>
                <a:latin typeface="Courier New"/>
              </a:rPr>
              <a:t>&gt;&gt;&gt; "Spam" + "And" + "Eggs"</a:t>
            </a:r>
            <a:endParaRPr lang="en-US" sz="2400" spc="-1">
              <a:solidFill>
                <a:srgbClr val="000000"/>
              </a:solidFill>
              <a:uFill>
                <a:solidFill>
                  <a:srgbClr val="FFFFFF"/>
                </a:solidFill>
              </a:uFill>
              <a:latin typeface="Arial"/>
            </a:endParaRPr>
          </a:p>
          <a:p>
            <a:pPr marL="343080" indent="-342360">
              <a:lnSpc>
                <a:spcPct val="90000"/>
              </a:lnSpc>
            </a:pPr>
            <a:r>
              <a:rPr lang="en-US" sz="2400" spc="-1">
                <a:solidFill>
                  <a:srgbClr val="000000"/>
                </a:solidFill>
                <a:uFill>
                  <a:solidFill>
                    <a:srgbClr val="FFFFFF"/>
                  </a:solidFill>
                </a:uFill>
                <a:latin typeface="Courier New"/>
              </a:rPr>
              <a:t>'</a:t>
            </a:r>
            <a:r>
              <a:rPr lang="en-US" sz="2400" spc="-1" err="1">
                <a:solidFill>
                  <a:srgbClr val="000000"/>
                </a:solidFill>
                <a:uFill>
                  <a:solidFill>
                    <a:srgbClr val="FFFFFF"/>
                  </a:solidFill>
                </a:uFill>
                <a:latin typeface="Courier New"/>
              </a:rPr>
              <a:t>SpamAndEggs</a:t>
            </a:r>
            <a:r>
              <a:rPr lang="en-US" sz="2400" spc="-1">
                <a:solidFill>
                  <a:srgbClr val="000000"/>
                </a:solidFill>
                <a:uFill>
                  <a:solidFill>
                    <a:srgbClr val="FFFFFF"/>
                  </a:solidFill>
                </a:uFill>
                <a:latin typeface="Courier New"/>
              </a:rPr>
              <a:t>'</a:t>
            </a:r>
            <a:endParaRPr lang="en-US" sz="2400" spc="-1">
              <a:solidFill>
                <a:srgbClr val="000000"/>
              </a:solidFill>
              <a:uFill>
                <a:solidFill>
                  <a:srgbClr val="FFFFFF"/>
                </a:solidFill>
              </a:uFill>
              <a:latin typeface="Arial"/>
            </a:endParaRPr>
          </a:p>
          <a:p>
            <a:pPr marL="343080" indent="-342360">
              <a:lnSpc>
                <a:spcPct val="90000"/>
              </a:lnSpc>
            </a:pPr>
            <a:r>
              <a:rPr lang="en-US" sz="2400" spc="-1">
                <a:solidFill>
                  <a:srgbClr val="000000"/>
                </a:solidFill>
                <a:uFill>
                  <a:solidFill>
                    <a:srgbClr val="FFFFFF"/>
                  </a:solidFill>
                </a:uFill>
                <a:latin typeface="Courier New"/>
              </a:rPr>
              <a:t>&gt;&gt;&gt; 3 * "spam"</a:t>
            </a:r>
            <a:endParaRPr lang="en-US" sz="2400" spc="-1">
              <a:solidFill>
                <a:srgbClr val="000000"/>
              </a:solidFill>
              <a:uFill>
                <a:solidFill>
                  <a:srgbClr val="FFFFFF"/>
                </a:solidFill>
              </a:uFill>
              <a:latin typeface="Arial"/>
            </a:endParaRPr>
          </a:p>
          <a:p>
            <a:pPr marL="343080" indent="-342360">
              <a:lnSpc>
                <a:spcPct val="90000"/>
              </a:lnSpc>
            </a:pPr>
            <a:r>
              <a:rPr lang="en-US" sz="2400" spc="-1">
                <a:solidFill>
                  <a:srgbClr val="000000"/>
                </a:solidFill>
                <a:uFill>
                  <a:solidFill>
                    <a:srgbClr val="FFFFFF"/>
                  </a:solidFill>
                </a:uFill>
                <a:latin typeface="Courier New"/>
              </a:rPr>
              <a:t>'</a:t>
            </a:r>
            <a:r>
              <a:rPr lang="en-US" sz="2400" spc="-1" err="1">
                <a:solidFill>
                  <a:srgbClr val="000000"/>
                </a:solidFill>
                <a:uFill>
                  <a:solidFill>
                    <a:srgbClr val="FFFFFF"/>
                  </a:solidFill>
                </a:uFill>
                <a:latin typeface="Courier New"/>
              </a:rPr>
              <a:t>spamspamspam</a:t>
            </a:r>
            <a:r>
              <a:rPr lang="en-US" sz="2400" spc="-1">
                <a:solidFill>
                  <a:srgbClr val="000000"/>
                </a:solidFill>
                <a:uFill>
                  <a:solidFill>
                    <a:srgbClr val="FFFFFF"/>
                  </a:solidFill>
                </a:uFill>
                <a:latin typeface="Courier New"/>
              </a:rPr>
              <a:t>'</a:t>
            </a:r>
            <a:endParaRPr lang="en-US" sz="2400" spc="-1">
              <a:solidFill>
                <a:srgbClr val="000000"/>
              </a:solidFill>
              <a:uFill>
                <a:solidFill>
                  <a:srgbClr val="FFFFFF"/>
                </a:solidFill>
              </a:uFill>
              <a:latin typeface="Arial"/>
            </a:endParaRPr>
          </a:p>
          <a:p>
            <a:pPr marL="343080" indent="-342360">
              <a:lnSpc>
                <a:spcPct val="90000"/>
              </a:lnSpc>
            </a:pPr>
            <a:r>
              <a:rPr lang="en-US" sz="2400" spc="-1">
                <a:solidFill>
                  <a:srgbClr val="000000"/>
                </a:solidFill>
                <a:uFill>
                  <a:solidFill>
                    <a:srgbClr val="FFFFFF"/>
                  </a:solidFill>
                </a:uFill>
                <a:latin typeface="Courier New"/>
              </a:rPr>
              <a:t>&gt;&gt;&gt; "spam" * 5</a:t>
            </a:r>
            <a:endParaRPr lang="en-US" sz="2400" spc="-1">
              <a:solidFill>
                <a:srgbClr val="000000"/>
              </a:solidFill>
              <a:uFill>
                <a:solidFill>
                  <a:srgbClr val="FFFFFF"/>
                </a:solidFill>
              </a:uFill>
              <a:latin typeface="Arial"/>
            </a:endParaRPr>
          </a:p>
          <a:p>
            <a:pPr marL="343080" indent="-342360">
              <a:lnSpc>
                <a:spcPct val="90000"/>
              </a:lnSpc>
            </a:pPr>
            <a:r>
              <a:rPr lang="en-US" sz="2400" spc="-1">
                <a:solidFill>
                  <a:srgbClr val="000000"/>
                </a:solidFill>
                <a:uFill>
                  <a:solidFill>
                    <a:srgbClr val="FFFFFF"/>
                  </a:solidFill>
                </a:uFill>
                <a:latin typeface="Courier New"/>
              </a:rPr>
              <a:t>'</a:t>
            </a:r>
            <a:r>
              <a:rPr lang="en-US" sz="2400" spc="-1" err="1">
                <a:solidFill>
                  <a:srgbClr val="000000"/>
                </a:solidFill>
                <a:uFill>
                  <a:solidFill>
                    <a:srgbClr val="FFFFFF"/>
                  </a:solidFill>
                </a:uFill>
                <a:latin typeface="Courier New"/>
              </a:rPr>
              <a:t>spamspamspamspamspam</a:t>
            </a:r>
            <a:r>
              <a:rPr lang="en-US" sz="2400" spc="-1">
                <a:solidFill>
                  <a:srgbClr val="000000"/>
                </a:solidFill>
                <a:uFill>
                  <a:solidFill>
                    <a:srgbClr val="FFFFFF"/>
                  </a:solidFill>
                </a:uFill>
                <a:latin typeface="Courier New"/>
              </a:rPr>
              <a:t>'</a:t>
            </a:r>
            <a:endParaRPr lang="en-US" sz="2400" spc="-1">
              <a:solidFill>
                <a:srgbClr val="000000"/>
              </a:solidFill>
              <a:uFill>
                <a:solidFill>
                  <a:srgbClr val="FFFFFF"/>
                </a:solidFill>
              </a:uFill>
              <a:latin typeface="Arial"/>
            </a:endParaRPr>
          </a:p>
          <a:p>
            <a:pPr marL="343080" indent="-342360">
              <a:lnSpc>
                <a:spcPct val="90000"/>
              </a:lnSpc>
            </a:pPr>
            <a:r>
              <a:rPr lang="en-US" sz="2400" spc="-1">
                <a:solidFill>
                  <a:srgbClr val="000000"/>
                </a:solidFill>
                <a:uFill>
                  <a:solidFill>
                    <a:srgbClr val="FFFFFF"/>
                  </a:solidFill>
                </a:uFill>
                <a:latin typeface="Courier New"/>
              </a:rPr>
              <a:t>&gt;&gt;&gt; (3 * "spam") + ("eggs" * 5)</a:t>
            </a:r>
            <a:endParaRPr lang="en-US" sz="2400" spc="-1">
              <a:solidFill>
                <a:srgbClr val="000000"/>
              </a:solidFill>
              <a:uFill>
                <a:solidFill>
                  <a:srgbClr val="FFFFFF"/>
                </a:solidFill>
              </a:uFill>
              <a:latin typeface="Arial"/>
            </a:endParaRPr>
          </a:p>
          <a:p>
            <a:pPr marL="343080" indent="-342360">
              <a:lnSpc>
                <a:spcPct val="90000"/>
              </a:lnSpc>
            </a:pPr>
            <a:r>
              <a:rPr lang="en-US" sz="2400" spc="-1">
                <a:solidFill>
                  <a:srgbClr val="000000"/>
                </a:solidFill>
                <a:uFill>
                  <a:solidFill>
                    <a:srgbClr val="FFFFFF"/>
                  </a:solidFill>
                </a:uFill>
                <a:latin typeface="Courier New"/>
              </a:rPr>
              <a:t>'</a:t>
            </a:r>
            <a:r>
              <a:rPr lang="en-US" sz="2400" spc="-1" err="1">
                <a:solidFill>
                  <a:srgbClr val="000000"/>
                </a:solidFill>
                <a:uFill>
                  <a:solidFill>
                    <a:srgbClr val="FFFFFF"/>
                  </a:solidFill>
                </a:uFill>
                <a:latin typeface="Courier New"/>
              </a:rPr>
              <a:t>spamspamspameggseggseggseggseggs</a:t>
            </a:r>
            <a:r>
              <a:rPr lang="en-US" sz="2400" spc="-1">
                <a:solidFill>
                  <a:srgbClr val="000000"/>
                </a:solidFill>
                <a:uFill>
                  <a:solidFill>
                    <a:srgbClr val="FFFFFF"/>
                  </a:solidFill>
                </a:uFill>
                <a:latin typeface="Courier New"/>
              </a:rPr>
              <a:t>'</a:t>
            </a:r>
            <a:endParaRPr lang="en-US" sz="2400"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259"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2A26CF5D-1FD3-434E-90EC-646758893694}" type="slidenum">
              <a:rPr lang="en-US" sz="1400" spc="-1">
                <a:solidFill>
                  <a:srgbClr val="000000"/>
                </a:solidFill>
                <a:uFill>
                  <a:solidFill>
                    <a:srgbClr val="FFFFFF"/>
                  </a:solidFill>
                </a:uFill>
                <a:latin typeface="Tahoma"/>
              </a:rPr>
              <a:t>15</a:t>
            </a:fld>
            <a:endParaRPr lang="en-US" spc="-1">
              <a:solidFill>
                <a:srgbClr val="000000"/>
              </a:solidFill>
              <a:uFill>
                <a:solidFill>
                  <a:srgbClr val="FFFFFF"/>
                </a:solidFill>
              </a:uFill>
              <a:latin typeface="Arial"/>
            </a:endParaRPr>
          </a:p>
        </p:txBody>
      </p:sp>
      <p:sp>
        <p:nvSpPr>
          <p:cNvPr id="260"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The String Data Type</a:t>
            </a:r>
            <a:endParaRPr lang="en-US" spc="-1">
              <a:solidFill>
                <a:srgbClr val="000000"/>
              </a:solidFill>
              <a:uFill>
                <a:solidFill>
                  <a:srgbClr val="FFFFFF"/>
                </a:solidFill>
              </a:uFill>
              <a:latin typeface="Arial"/>
            </a:endParaRPr>
          </a:p>
        </p:txBody>
      </p:sp>
      <p:sp>
        <p:nvSpPr>
          <p:cNvPr id="261"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r>
              <a:rPr lang="en-US" sz="2400" spc="-1">
                <a:solidFill>
                  <a:srgbClr val="000000"/>
                </a:solidFill>
                <a:uFill>
                  <a:solidFill>
                    <a:srgbClr val="FFFFFF"/>
                  </a:solidFill>
                </a:uFill>
                <a:latin typeface="Courier New"/>
              </a:rPr>
              <a:t>&gt;&gt;&gt; </a:t>
            </a:r>
            <a:r>
              <a:rPr lang="en-US" sz="2400" spc="-1" err="1">
                <a:solidFill>
                  <a:srgbClr val="000000"/>
                </a:solidFill>
                <a:uFill>
                  <a:solidFill>
                    <a:srgbClr val="FFFFFF"/>
                  </a:solidFill>
                </a:uFill>
                <a:latin typeface="Courier New"/>
              </a:rPr>
              <a:t>len</a:t>
            </a:r>
            <a:r>
              <a:rPr lang="en-US" sz="2400" spc="-1">
                <a:solidFill>
                  <a:srgbClr val="000000"/>
                </a:solidFill>
                <a:uFill>
                  <a:solidFill>
                    <a:srgbClr val="FFFFFF"/>
                  </a:solidFill>
                </a:uFill>
                <a:latin typeface="Courier New"/>
              </a:rPr>
              <a:t>("spam")</a:t>
            </a:r>
            <a:endParaRPr lang="en-US" sz="2400" spc="-1">
              <a:solidFill>
                <a:srgbClr val="000000"/>
              </a:solidFill>
              <a:uFill>
                <a:solidFill>
                  <a:srgbClr val="FFFFFF"/>
                </a:solidFill>
              </a:uFill>
              <a:latin typeface="Arial"/>
            </a:endParaRPr>
          </a:p>
          <a:p>
            <a:pPr marL="343080" indent="-342360"/>
            <a:r>
              <a:rPr lang="en-US" sz="2400" spc="-1">
                <a:solidFill>
                  <a:srgbClr val="000000"/>
                </a:solidFill>
                <a:uFill>
                  <a:solidFill>
                    <a:srgbClr val="FFFFFF"/>
                  </a:solidFill>
                </a:uFill>
                <a:latin typeface="Courier New"/>
              </a:rPr>
              <a:t>4</a:t>
            </a:r>
            <a:endParaRPr lang="en-US" sz="2400" spc="-1">
              <a:solidFill>
                <a:srgbClr val="000000"/>
              </a:solidFill>
              <a:uFill>
                <a:solidFill>
                  <a:srgbClr val="FFFFFF"/>
                </a:solidFill>
              </a:uFill>
              <a:latin typeface="Arial"/>
            </a:endParaRPr>
          </a:p>
          <a:p>
            <a:pPr marL="343080" indent="-342360"/>
            <a:r>
              <a:rPr lang="en-US" sz="2400" spc="-1">
                <a:solidFill>
                  <a:srgbClr val="000000"/>
                </a:solidFill>
                <a:uFill>
                  <a:solidFill>
                    <a:srgbClr val="FFFFFF"/>
                  </a:solidFill>
                </a:uFill>
                <a:latin typeface="Courier New"/>
              </a:rPr>
              <a:t>&gt;&gt;&gt; for </a:t>
            </a:r>
            <a:r>
              <a:rPr lang="en-US" sz="2400" spc="-1" err="1">
                <a:solidFill>
                  <a:srgbClr val="000000"/>
                </a:solidFill>
                <a:uFill>
                  <a:solidFill>
                    <a:srgbClr val="FFFFFF"/>
                  </a:solidFill>
                </a:uFill>
                <a:latin typeface="Courier New"/>
              </a:rPr>
              <a:t>ch</a:t>
            </a:r>
            <a:r>
              <a:rPr lang="en-US" sz="2400" spc="-1">
                <a:solidFill>
                  <a:srgbClr val="000000"/>
                </a:solidFill>
                <a:uFill>
                  <a:solidFill>
                    <a:srgbClr val="FFFFFF"/>
                  </a:solidFill>
                </a:uFill>
                <a:latin typeface="Courier New"/>
              </a:rPr>
              <a:t> in "Spam!":</a:t>
            </a:r>
            <a:endParaRPr lang="en-US" sz="2400" spc="-1">
              <a:solidFill>
                <a:srgbClr val="000000"/>
              </a:solidFill>
              <a:uFill>
                <a:solidFill>
                  <a:srgbClr val="FFFFFF"/>
                </a:solidFill>
              </a:uFill>
              <a:latin typeface="Arial"/>
            </a:endParaRPr>
          </a:p>
          <a:p>
            <a:pPr marL="343080" indent="-342360"/>
            <a:r>
              <a:rPr lang="en-US" sz="2400" spc="-1">
                <a:solidFill>
                  <a:srgbClr val="000000"/>
                </a:solidFill>
                <a:uFill>
                  <a:solidFill>
                    <a:srgbClr val="FFFFFF"/>
                  </a:solidFill>
                </a:uFill>
                <a:latin typeface="Courier New"/>
              </a:rPr>
              <a:t>	      print (</a:t>
            </a:r>
            <a:r>
              <a:rPr lang="en-US" sz="2400" spc="-1" err="1">
                <a:solidFill>
                  <a:srgbClr val="000000"/>
                </a:solidFill>
                <a:uFill>
                  <a:solidFill>
                    <a:srgbClr val="FFFFFF"/>
                  </a:solidFill>
                </a:uFill>
                <a:latin typeface="Courier New"/>
              </a:rPr>
              <a:t>ch</a:t>
            </a:r>
            <a:r>
              <a:rPr lang="en-US" sz="2400" spc="-1">
                <a:solidFill>
                  <a:srgbClr val="000000"/>
                </a:solidFill>
                <a:uFill>
                  <a:solidFill>
                    <a:srgbClr val="FFFFFF"/>
                  </a:solidFill>
                </a:uFill>
                <a:latin typeface="Courier New"/>
              </a:rPr>
              <a:t>, end=" ")</a:t>
            </a:r>
            <a:endParaRPr lang="en-US" sz="2400" spc="-1">
              <a:solidFill>
                <a:srgbClr val="000000"/>
              </a:solidFill>
              <a:uFill>
                <a:solidFill>
                  <a:srgbClr val="FFFFFF"/>
                </a:solidFill>
              </a:uFill>
              <a:latin typeface="Arial"/>
            </a:endParaRPr>
          </a:p>
          <a:p>
            <a:pPr marL="343080" indent="-342360"/>
            <a:r>
              <a:rPr lang="en-US" sz="2400" spc="-1">
                <a:solidFill>
                  <a:srgbClr val="000000"/>
                </a:solidFill>
                <a:uFill>
                  <a:solidFill>
                    <a:srgbClr val="FFFFFF"/>
                  </a:solidFill>
                </a:uFill>
                <a:latin typeface="Courier New"/>
              </a:rPr>
              <a:t>	</a:t>
            </a:r>
            <a:endParaRPr lang="en-US" sz="2400" spc="-1">
              <a:solidFill>
                <a:srgbClr val="000000"/>
              </a:solidFill>
              <a:uFill>
                <a:solidFill>
                  <a:srgbClr val="FFFFFF"/>
                </a:solidFill>
              </a:uFill>
              <a:latin typeface="Arial"/>
            </a:endParaRPr>
          </a:p>
          <a:p>
            <a:pPr marL="343080" indent="-342360"/>
            <a:r>
              <a:rPr lang="en-US" sz="2400" spc="-1">
                <a:solidFill>
                  <a:srgbClr val="000000"/>
                </a:solidFill>
                <a:uFill>
                  <a:solidFill>
                    <a:srgbClr val="FFFFFF"/>
                  </a:solidFill>
                </a:uFill>
                <a:latin typeface="Courier New"/>
              </a:rPr>
              <a:t>S p a m !</a:t>
            </a:r>
            <a:endParaRPr lang="en-US" sz="2400"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263"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A06D48F5-250D-4D13-B36A-1A9D4269D86C}" type="slidenum">
              <a:rPr lang="en-US" sz="1400" spc="-1">
                <a:solidFill>
                  <a:srgbClr val="000000"/>
                </a:solidFill>
                <a:uFill>
                  <a:solidFill>
                    <a:srgbClr val="FFFFFF"/>
                  </a:solidFill>
                </a:uFill>
                <a:latin typeface="Tahoma"/>
              </a:rPr>
              <a:t>16</a:t>
            </a:fld>
            <a:endParaRPr lang="en-US" spc="-1">
              <a:solidFill>
                <a:srgbClr val="000000"/>
              </a:solidFill>
              <a:uFill>
                <a:solidFill>
                  <a:srgbClr val="FFFFFF"/>
                </a:solidFill>
              </a:uFill>
              <a:latin typeface="Arial"/>
            </a:endParaRPr>
          </a:p>
        </p:txBody>
      </p:sp>
      <p:sp>
        <p:nvSpPr>
          <p:cNvPr id="264"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The String Data Type</a:t>
            </a:r>
            <a:endParaRPr lang="en-US" spc="-1">
              <a:solidFill>
                <a:srgbClr val="000000"/>
              </a:solidFill>
              <a:uFill>
                <a:solidFill>
                  <a:srgbClr val="FFFFFF"/>
                </a:solidFill>
              </a:uFill>
              <a:latin typeface="Arial"/>
            </a:endParaRPr>
          </a:p>
        </p:txBody>
      </p:sp>
      <p:graphicFrame>
        <p:nvGraphicFramePr>
          <p:cNvPr id="265" name="Table 4"/>
          <p:cNvGraphicFramePr/>
          <p:nvPr/>
        </p:nvGraphicFramePr>
        <p:xfrm>
          <a:off x="2971920" y="2133720"/>
          <a:ext cx="6095520" cy="4064760"/>
        </p:xfrm>
        <a:graphic>
          <a:graphicData uri="http://schemas.openxmlformats.org/drawingml/2006/table">
            <a:tbl>
              <a:tblPr/>
              <a:tblGrid>
                <a:gridCol w="3047760">
                  <a:extLst>
                    <a:ext uri="{9D8B030D-6E8A-4147-A177-3AD203B41FA5}">
                      <a16:colId xmlns:a16="http://schemas.microsoft.com/office/drawing/2014/main" val="20000"/>
                    </a:ext>
                  </a:extLst>
                </a:gridCol>
                <a:gridCol w="3047760">
                  <a:extLst>
                    <a:ext uri="{9D8B030D-6E8A-4147-A177-3AD203B41FA5}">
                      <a16:colId xmlns:a16="http://schemas.microsoft.com/office/drawing/2014/main" val="20001"/>
                    </a:ext>
                  </a:extLst>
                </a:gridCol>
              </a:tblGrid>
              <a:tr h="554400">
                <a:tc>
                  <a:txBody>
                    <a:bodyPr/>
                    <a:lstStyle/>
                    <a:p>
                      <a:pPr algn="ctr">
                        <a:lnSpc>
                          <a:spcPct val="100000"/>
                        </a:lnSpc>
                      </a:pPr>
                      <a:r>
                        <a:rPr lang="en-US" sz="2800" b="1" strike="noStrike" spc="-1">
                          <a:solidFill>
                            <a:srgbClr val="FFFFFF"/>
                          </a:solidFill>
                          <a:uFill>
                            <a:solidFill>
                              <a:srgbClr val="FFFFFF"/>
                            </a:solidFill>
                          </a:uFill>
                          <a:latin typeface="Tahoma"/>
                        </a:rPr>
                        <a:t>Operator</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100000"/>
                        </a:lnSpc>
                      </a:pPr>
                      <a:r>
                        <a:rPr lang="en-US" sz="2800" b="1" strike="noStrike" spc="-1">
                          <a:solidFill>
                            <a:srgbClr val="FFFFFF"/>
                          </a:solidFill>
                          <a:uFill>
                            <a:solidFill>
                              <a:srgbClr val="FFFFFF"/>
                            </a:solidFill>
                          </a:uFill>
                          <a:latin typeface="Tahoma"/>
                        </a:rPr>
                        <a:t>Meaning</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extLst>
                  <a:ext uri="{0D108BD9-81ED-4DB2-BD59-A6C34878D82A}">
                    <a16:rowId xmlns:a16="http://schemas.microsoft.com/office/drawing/2014/main" val="10000"/>
                  </a:ext>
                </a:extLst>
              </a:tr>
              <a:tr h="552960">
                <a:tc>
                  <a:txBody>
                    <a:bodyPr/>
                    <a:lstStyle/>
                    <a:p>
                      <a:pPr algn="ctr">
                        <a:lnSpc>
                          <a:spcPct val="100000"/>
                        </a:lnSpc>
                      </a:pPr>
                      <a:r>
                        <a:rPr lang="en-US" sz="2800" b="0" strike="noStrike" spc="-1">
                          <a:solidFill>
                            <a:srgbClr val="000000"/>
                          </a:solidFill>
                          <a:uFill>
                            <a:solidFill>
                              <a:srgbClr val="FFFFFF"/>
                            </a:solidFill>
                          </a:uFill>
                          <a:latin typeface="Tahoma"/>
                        </a:rPr>
                        <a:t>+</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pPr algn="ctr">
                        <a:lnSpc>
                          <a:spcPct val="100000"/>
                        </a:lnSpc>
                      </a:pPr>
                      <a:r>
                        <a:rPr lang="en-US" sz="2800" b="0" strike="noStrike" spc="-1">
                          <a:solidFill>
                            <a:srgbClr val="000000"/>
                          </a:solidFill>
                          <a:uFill>
                            <a:solidFill>
                              <a:srgbClr val="FFFFFF"/>
                            </a:solidFill>
                          </a:uFill>
                          <a:latin typeface="Tahoma"/>
                        </a:rPr>
                        <a:t>Concatenation</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extLst>
                  <a:ext uri="{0D108BD9-81ED-4DB2-BD59-A6C34878D82A}">
                    <a16:rowId xmlns:a16="http://schemas.microsoft.com/office/drawing/2014/main" val="10001"/>
                  </a:ext>
                </a:extLst>
              </a:tr>
              <a:tr h="554400">
                <a:tc>
                  <a:txBody>
                    <a:bodyPr/>
                    <a:lstStyle/>
                    <a:p>
                      <a:pPr algn="ctr">
                        <a:lnSpc>
                          <a:spcPct val="100000"/>
                        </a:lnSpc>
                      </a:pPr>
                      <a:r>
                        <a:rPr lang="en-US" sz="2800" b="0" strike="noStrike" spc="-1">
                          <a:solidFill>
                            <a:srgbClr val="000000"/>
                          </a:solidFill>
                          <a:uFill>
                            <a:solidFill>
                              <a:srgbClr val="FFFFFF"/>
                            </a:solidFill>
                          </a:uFill>
                          <a:latin typeface="Tahoma"/>
                        </a:rPr>
                        <a:t>*</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pPr>
                      <a:r>
                        <a:rPr lang="en-US" sz="2800" b="0" strike="noStrike" spc="-1">
                          <a:solidFill>
                            <a:srgbClr val="000000"/>
                          </a:solidFill>
                          <a:uFill>
                            <a:solidFill>
                              <a:srgbClr val="FFFFFF"/>
                            </a:solidFill>
                          </a:uFill>
                          <a:latin typeface="Tahoma"/>
                        </a:rPr>
                        <a:t>Repetition</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extLst>
                  <a:ext uri="{0D108BD9-81ED-4DB2-BD59-A6C34878D82A}">
                    <a16:rowId xmlns:a16="http://schemas.microsoft.com/office/drawing/2014/main" val="10002"/>
                  </a:ext>
                </a:extLst>
              </a:tr>
              <a:tr h="554400">
                <a:tc>
                  <a:txBody>
                    <a:bodyPr/>
                    <a:lstStyle/>
                    <a:p>
                      <a:pPr algn="ctr">
                        <a:lnSpc>
                          <a:spcPct val="100000"/>
                        </a:lnSpc>
                      </a:pPr>
                      <a:r>
                        <a:rPr lang="en-US" sz="2800" b="0" strike="noStrike" spc="-1">
                          <a:solidFill>
                            <a:srgbClr val="000000"/>
                          </a:solidFill>
                          <a:uFill>
                            <a:solidFill>
                              <a:srgbClr val="FFFFFF"/>
                            </a:solidFill>
                          </a:uFill>
                          <a:latin typeface="Tahoma"/>
                        </a:rPr>
                        <a:t>&lt;string&gt;[]</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pPr algn="ctr">
                        <a:lnSpc>
                          <a:spcPct val="100000"/>
                        </a:lnSpc>
                      </a:pPr>
                      <a:r>
                        <a:rPr lang="en-US" sz="2800" b="0" strike="noStrike" spc="-1">
                          <a:solidFill>
                            <a:srgbClr val="000000"/>
                          </a:solidFill>
                          <a:uFill>
                            <a:solidFill>
                              <a:srgbClr val="FFFFFF"/>
                            </a:solidFill>
                          </a:uFill>
                          <a:latin typeface="Tahoma"/>
                        </a:rPr>
                        <a:t>Indexing</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extLst>
                  <a:ext uri="{0D108BD9-81ED-4DB2-BD59-A6C34878D82A}">
                    <a16:rowId xmlns:a16="http://schemas.microsoft.com/office/drawing/2014/main" val="10003"/>
                  </a:ext>
                </a:extLst>
              </a:tr>
              <a:tr h="554400">
                <a:tc>
                  <a:txBody>
                    <a:bodyPr/>
                    <a:lstStyle/>
                    <a:p>
                      <a:pPr algn="ctr">
                        <a:lnSpc>
                          <a:spcPct val="100000"/>
                        </a:lnSpc>
                      </a:pPr>
                      <a:r>
                        <a:rPr lang="en-US" sz="2800" b="0" strike="noStrike" spc="-1">
                          <a:solidFill>
                            <a:srgbClr val="000000"/>
                          </a:solidFill>
                          <a:uFill>
                            <a:solidFill>
                              <a:srgbClr val="FFFFFF"/>
                            </a:solidFill>
                          </a:uFill>
                          <a:latin typeface="Tahoma"/>
                        </a:rPr>
                        <a:t>&lt;string&gt;[:]</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pPr>
                      <a:r>
                        <a:rPr lang="en-US" sz="2800" b="0" strike="noStrike" spc="-1">
                          <a:solidFill>
                            <a:srgbClr val="000000"/>
                          </a:solidFill>
                          <a:uFill>
                            <a:solidFill>
                              <a:srgbClr val="FFFFFF"/>
                            </a:solidFill>
                          </a:uFill>
                          <a:latin typeface="Tahoma"/>
                        </a:rPr>
                        <a:t>Slicing</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extLst>
                  <a:ext uri="{0D108BD9-81ED-4DB2-BD59-A6C34878D82A}">
                    <a16:rowId xmlns:a16="http://schemas.microsoft.com/office/drawing/2014/main" val="10004"/>
                  </a:ext>
                </a:extLst>
              </a:tr>
              <a:tr h="552960">
                <a:tc>
                  <a:txBody>
                    <a:bodyPr/>
                    <a:lstStyle/>
                    <a:p>
                      <a:pPr algn="ctr">
                        <a:lnSpc>
                          <a:spcPct val="100000"/>
                        </a:lnSpc>
                      </a:pPr>
                      <a:r>
                        <a:rPr lang="en-US" sz="2800" b="0" strike="noStrike" spc="-1">
                          <a:solidFill>
                            <a:srgbClr val="000000"/>
                          </a:solidFill>
                          <a:uFill>
                            <a:solidFill>
                              <a:srgbClr val="FFFFFF"/>
                            </a:solidFill>
                          </a:uFill>
                          <a:latin typeface="Tahoma"/>
                        </a:rPr>
                        <a:t>len(&lt;string&gt;)</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pPr algn="ctr">
                        <a:lnSpc>
                          <a:spcPct val="100000"/>
                        </a:lnSpc>
                      </a:pPr>
                      <a:r>
                        <a:rPr lang="en-US" sz="2800" b="0" strike="noStrike" spc="-1">
                          <a:solidFill>
                            <a:srgbClr val="000000"/>
                          </a:solidFill>
                          <a:uFill>
                            <a:solidFill>
                              <a:srgbClr val="FFFFFF"/>
                            </a:solidFill>
                          </a:uFill>
                          <a:latin typeface="Tahoma"/>
                        </a:rPr>
                        <a:t>Length</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extLst>
                  <a:ext uri="{0D108BD9-81ED-4DB2-BD59-A6C34878D82A}">
                    <a16:rowId xmlns:a16="http://schemas.microsoft.com/office/drawing/2014/main" val="10005"/>
                  </a:ext>
                </a:extLst>
              </a:tr>
              <a:tr h="741240">
                <a:tc>
                  <a:txBody>
                    <a:bodyPr/>
                    <a:lstStyle/>
                    <a:p>
                      <a:pPr algn="ctr">
                        <a:lnSpc>
                          <a:spcPct val="100000"/>
                        </a:lnSpc>
                      </a:pPr>
                      <a:r>
                        <a:rPr lang="en-US" sz="2200" b="0" strike="noStrike" spc="-1">
                          <a:solidFill>
                            <a:srgbClr val="000000"/>
                          </a:solidFill>
                          <a:uFill>
                            <a:solidFill>
                              <a:srgbClr val="FFFFFF"/>
                            </a:solidFill>
                          </a:uFill>
                          <a:latin typeface="Tahoma"/>
                        </a:rPr>
                        <a:t>for &lt;var&gt; in &lt;string&gt;</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pPr>
                      <a:r>
                        <a:rPr lang="en-US" sz="1800" b="0" strike="noStrike" spc="-1">
                          <a:solidFill>
                            <a:srgbClr val="000000"/>
                          </a:solidFill>
                          <a:uFill>
                            <a:solidFill>
                              <a:srgbClr val="FFFFFF"/>
                            </a:solidFill>
                          </a:uFill>
                          <a:latin typeface="Tahoma"/>
                        </a:rPr>
                        <a:t>Iteration through characters</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267"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208B7392-3BC2-4E92-8F05-1F0271E76B67}" type="slidenum">
              <a:rPr lang="en-US" sz="1400" spc="-1">
                <a:solidFill>
                  <a:srgbClr val="000000"/>
                </a:solidFill>
                <a:uFill>
                  <a:solidFill>
                    <a:srgbClr val="FFFFFF"/>
                  </a:solidFill>
                </a:uFill>
                <a:latin typeface="Tahoma"/>
              </a:rPr>
              <a:t>17</a:t>
            </a:fld>
            <a:endParaRPr lang="en-US" spc="-1">
              <a:solidFill>
                <a:srgbClr val="000000"/>
              </a:solidFill>
              <a:uFill>
                <a:solidFill>
                  <a:srgbClr val="FFFFFF"/>
                </a:solidFill>
              </a:uFill>
              <a:latin typeface="Arial"/>
            </a:endParaRPr>
          </a:p>
        </p:txBody>
      </p:sp>
      <p:sp>
        <p:nvSpPr>
          <p:cNvPr id="268"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Simple String Processing</a:t>
            </a:r>
            <a:endParaRPr lang="en-US" spc="-1">
              <a:solidFill>
                <a:srgbClr val="000000"/>
              </a:solidFill>
              <a:uFill>
                <a:solidFill>
                  <a:srgbClr val="FFFFFF"/>
                </a:solidFill>
              </a:uFill>
              <a:latin typeface="Arial"/>
            </a:endParaRPr>
          </a:p>
        </p:txBody>
      </p:sp>
      <p:sp>
        <p:nvSpPr>
          <p:cNvPr id="269" name="CustomShape 4"/>
          <p:cNvSpPr/>
          <p:nvPr/>
        </p:nvSpPr>
        <p:spPr>
          <a:xfrm>
            <a:off x="265176" y="2223360"/>
            <a:ext cx="11512296"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Usernames on a computer system</a:t>
            </a:r>
            <a:endParaRPr lang="en-US" spc="-1">
              <a:solidFill>
                <a:srgbClr val="000000"/>
              </a:solidFill>
              <a:uFill>
                <a:solidFill>
                  <a:srgbClr val="FFFFFF"/>
                </a:solidFill>
              </a:uFill>
              <a:latin typeface="Arial"/>
            </a:endParaRPr>
          </a:p>
          <a:p>
            <a:pPr marL="743040" lvl="1" indent="-285120">
              <a:buClr>
                <a:srgbClr val="FF0000"/>
              </a:buClr>
              <a:buSzPct val="55000"/>
              <a:buFont typeface="Wingdings" charset="2"/>
              <a:buChar char=""/>
            </a:pPr>
            <a:r>
              <a:rPr lang="en-US" sz="2800" spc="-1">
                <a:solidFill>
                  <a:srgbClr val="000000"/>
                </a:solidFill>
                <a:uFill>
                  <a:solidFill>
                    <a:srgbClr val="FFFFFF"/>
                  </a:solidFill>
                </a:uFill>
                <a:latin typeface="Tahoma"/>
              </a:rPr>
              <a:t>First initial, first seven characters of last name</a:t>
            </a:r>
            <a:endParaRPr lang="en-US" spc="-1">
              <a:solidFill>
                <a:srgbClr val="000000"/>
              </a:solidFill>
              <a:uFill>
                <a:solidFill>
                  <a:srgbClr val="FFFFFF"/>
                </a:solidFill>
              </a:uFill>
              <a:latin typeface="Arial"/>
            </a:endParaRPr>
          </a:p>
          <a:p>
            <a:pPr marL="343080" indent="-342360"/>
            <a:endParaRPr lang="en-US" spc="-1">
              <a:solidFill>
                <a:srgbClr val="000000"/>
              </a:solidFill>
              <a:uFill>
                <a:solidFill>
                  <a:srgbClr val="FFFFFF"/>
                </a:solidFill>
              </a:uFill>
              <a:latin typeface="Arial"/>
            </a:endParaRPr>
          </a:p>
          <a:p>
            <a:pPr marL="343080" indent="-342360"/>
            <a:r>
              <a:rPr lang="en-US" sz="2200" spc="-1">
                <a:solidFill>
                  <a:srgbClr val="000000"/>
                </a:solidFill>
                <a:uFill>
                  <a:solidFill>
                    <a:srgbClr val="FFFFFF"/>
                  </a:solidFill>
                </a:uFill>
                <a:latin typeface="Courier New"/>
              </a:rPr>
              <a:t># get user’s first and last names</a:t>
            </a:r>
            <a:endParaRPr lang="en-US" sz="2200" spc="-1">
              <a:solidFill>
                <a:srgbClr val="000000"/>
              </a:solidFill>
              <a:uFill>
                <a:solidFill>
                  <a:srgbClr val="FFFFFF"/>
                </a:solidFill>
              </a:uFill>
              <a:latin typeface="Arial"/>
            </a:endParaRPr>
          </a:p>
          <a:p>
            <a:pPr marL="343080" indent="-342360"/>
            <a:r>
              <a:rPr lang="en-US" sz="2200" spc="-1">
                <a:solidFill>
                  <a:srgbClr val="000000"/>
                </a:solidFill>
                <a:uFill>
                  <a:solidFill>
                    <a:srgbClr val="FFFFFF"/>
                  </a:solidFill>
                </a:uFill>
                <a:latin typeface="Courier New"/>
              </a:rPr>
              <a:t>first = input("Please enter your first name (all lowercase): ")</a:t>
            </a:r>
            <a:endParaRPr lang="en-US" sz="2200" spc="-1">
              <a:solidFill>
                <a:srgbClr val="000000"/>
              </a:solidFill>
              <a:uFill>
                <a:solidFill>
                  <a:srgbClr val="FFFFFF"/>
                </a:solidFill>
              </a:uFill>
              <a:latin typeface="Arial"/>
            </a:endParaRPr>
          </a:p>
          <a:p>
            <a:pPr marL="343080" indent="-342360"/>
            <a:r>
              <a:rPr lang="en-US" sz="2200" spc="-1">
                <a:solidFill>
                  <a:srgbClr val="000000"/>
                </a:solidFill>
                <a:uFill>
                  <a:solidFill>
                    <a:srgbClr val="FFFFFF"/>
                  </a:solidFill>
                </a:uFill>
                <a:latin typeface="Courier New"/>
              </a:rPr>
              <a:t>last = input("Please enter your last name (all lowercase): ")</a:t>
            </a:r>
            <a:endParaRPr lang="en-US" sz="2200" spc="-1">
              <a:solidFill>
                <a:srgbClr val="000000"/>
              </a:solidFill>
              <a:uFill>
                <a:solidFill>
                  <a:srgbClr val="FFFFFF"/>
                </a:solidFill>
              </a:uFill>
              <a:latin typeface="Arial"/>
            </a:endParaRPr>
          </a:p>
          <a:p>
            <a:pPr marL="343080" indent="-342360"/>
            <a:endParaRPr lang="en-US" sz="2200" spc="-1">
              <a:solidFill>
                <a:srgbClr val="000000"/>
              </a:solidFill>
              <a:uFill>
                <a:solidFill>
                  <a:srgbClr val="FFFFFF"/>
                </a:solidFill>
              </a:uFill>
              <a:latin typeface="Arial"/>
            </a:endParaRPr>
          </a:p>
          <a:p>
            <a:pPr marL="343080" indent="-342360"/>
            <a:r>
              <a:rPr lang="en-US" sz="2200" spc="-1">
                <a:solidFill>
                  <a:srgbClr val="000000"/>
                </a:solidFill>
                <a:uFill>
                  <a:solidFill>
                    <a:srgbClr val="FFFFFF"/>
                  </a:solidFill>
                </a:uFill>
                <a:latin typeface="Courier New"/>
              </a:rPr>
              <a:t># concatenate first initial with 7 chars of last name</a:t>
            </a:r>
            <a:endParaRPr lang="en-US" sz="2200" spc="-1">
              <a:solidFill>
                <a:srgbClr val="000000"/>
              </a:solidFill>
              <a:uFill>
                <a:solidFill>
                  <a:srgbClr val="FFFFFF"/>
                </a:solidFill>
              </a:uFill>
              <a:latin typeface="Arial"/>
            </a:endParaRPr>
          </a:p>
          <a:p>
            <a:pPr marL="343080" indent="-342360"/>
            <a:r>
              <a:rPr lang="en-US" sz="2200" spc="-1" err="1">
                <a:solidFill>
                  <a:srgbClr val="000000"/>
                </a:solidFill>
                <a:uFill>
                  <a:solidFill>
                    <a:srgbClr val="FFFFFF"/>
                  </a:solidFill>
                </a:uFill>
                <a:latin typeface="Courier New"/>
              </a:rPr>
              <a:t>uname</a:t>
            </a:r>
            <a:r>
              <a:rPr lang="en-US" sz="2200" spc="-1">
                <a:solidFill>
                  <a:srgbClr val="000000"/>
                </a:solidFill>
                <a:uFill>
                  <a:solidFill>
                    <a:srgbClr val="FFFFFF"/>
                  </a:solidFill>
                </a:uFill>
                <a:latin typeface="Courier New"/>
              </a:rPr>
              <a:t> = first[0] + last[:7]</a:t>
            </a:r>
            <a:endParaRPr lang="en-US" sz="2200"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271"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0C28857E-1910-4ACE-91F7-4CD94DC6E55E}" type="slidenum">
              <a:rPr lang="en-US" sz="1400" spc="-1">
                <a:solidFill>
                  <a:srgbClr val="000000"/>
                </a:solidFill>
                <a:uFill>
                  <a:solidFill>
                    <a:srgbClr val="FFFFFF"/>
                  </a:solidFill>
                </a:uFill>
                <a:latin typeface="Tahoma"/>
              </a:rPr>
              <a:t>18</a:t>
            </a:fld>
            <a:endParaRPr lang="en-US" spc="-1">
              <a:solidFill>
                <a:srgbClr val="000000"/>
              </a:solidFill>
              <a:uFill>
                <a:solidFill>
                  <a:srgbClr val="FFFFFF"/>
                </a:solidFill>
              </a:uFill>
              <a:latin typeface="Arial"/>
            </a:endParaRPr>
          </a:p>
        </p:txBody>
      </p:sp>
      <p:sp>
        <p:nvSpPr>
          <p:cNvPr id="272"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Simple String Processing</a:t>
            </a:r>
            <a:endParaRPr lang="en-US" spc="-1">
              <a:solidFill>
                <a:srgbClr val="000000"/>
              </a:solidFill>
              <a:uFill>
                <a:solidFill>
                  <a:srgbClr val="FFFFFF"/>
                </a:solidFill>
              </a:uFill>
              <a:latin typeface="Arial"/>
            </a:endParaRPr>
          </a:p>
        </p:txBody>
      </p:sp>
      <p:sp>
        <p:nvSpPr>
          <p:cNvPr id="273" name="CustomShape 4"/>
          <p:cNvSpPr/>
          <p:nvPr/>
        </p:nvSpPr>
        <p:spPr>
          <a:xfrm>
            <a:off x="1676280" y="2017800"/>
            <a:ext cx="9817728"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r>
              <a:rPr lang="en-US" sz="2400" spc="-1">
                <a:solidFill>
                  <a:srgbClr val="000000"/>
                </a:solidFill>
                <a:uFill>
                  <a:solidFill>
                    <a:srgbClr val="FFFFFF"/>
                  </a:solidFill>
                </a:uFill>
                <a:latin typeface="Courier New"/>
              </a:rPr>
              <a:t>&gt;&gt;&gt; </a:t>
            </a:r>
            <a:endParaRPr lang="en-US" sz="2400" spc="-1">
              <a:solidFill>
                <a:srgbClr val="000000"/>
              </a:solidFill>
              <a:uFill>
                <a:solidFill>
                  <a:srgbClr val="FFFFFF"/>
                </a:solidFill>
              </a:uFill>
              <a:latin typeface="Arial"/>
            </a:endParaRPr>
          </a:p>
          <a:p>
            <a:pPr marL="343080" indent="-342360"/>
            <a:r>
              <a:rPr lang="en-US" sz="2400" spc="-1">
                <a:solidFill>
                  <a:srgbClr val="000000"/>
                </a:solidFill>
                <a:uFill>
                  <a:solidFill>
                    <a:srgbClr val="FFFFFF"/>
                  </a:solidFill>
                </a:uFill>
                <a:latin typeface="Courier New"/>
              </a:rPr>
              <a:t>Please enter your first name (all lowercase): john</a:t>
            </a:r>
            <a:endParaRPr lang="en-US" sz="2400" spc="-1">
              <a:solidFill>
                <a:srgbClr val="000000"/>
              </a:solidFill>
              <a:uFill>
                <a:solidFill>
                  <a:srgbClr val="FFFFFF"/>
                </a:solidFill>
              </a:uFill>
              <a:latin typeface="Arial"/>
            </a:endParaRPr>
          </a:p>
          <a:p>
            <a:pPr marL="343080" indent="-342360"/>
            <a:r>
              <a:rPr lang="en-US" sz="2400" spc="-1">
                <a:solidFill>
                  <a:srgbClr val="000000"/>
                </a:solidFill>
                <a:uFill>
                  <a:solidFill>
                    <a:srgbClr val="FFFFFF"/>
                  </a:solidFill>
                </a:uFill>
                <a:latin typeface="Courier New"/>
              </a:rPr>
              <a:t>Please enter your last name (all lowercase): doe</a:t>
            </a:r>
            <a:endParaRPr lang="en-US" sz="2400" spc="-1">
              <a:solidFill>
                <a:srgbClr val="000000"/>
              </a:solidFill>
              <a:uFill>
                <a:solidFill>
                  <a:srgbClr val="FFFFFF"/>
                </a:solidFill>
              </a:uFill>
              <a:latin typeface="Arial"/>
            </a:endParaRPr>
          </a:p>
          <a:p>
            <a:pPr marL="343080" indent="-342360"/>
            <a:r>
              <a:rPr lang="en-US" sz="2400" spc="-1" err="1">
                <a:solidFill>
                  <a:srgbClr val="000000"/>
                </a:solidFill>
                <a:uFill>
                  <a:solidFill>
                    <a:srgbClr val="FFFFFF"/>
                  </a:solidFill>
                </a:uFill>
                <a:latin typeface="Courier New"/>
              </a:rPr>
              <a:t>uname</a:t>
            </a:r>
            <a:r>
              <a:rPr lang="en-US" sz="2400" spc="-1">
                <a:solidFill>
                  <a:srgbClr val="000000"/>
                </a:solidFill>
                <a:uFill>
                  <a:solidFill>
                    <a:srgbClr val="FFFFFF"/>
                  </a:solidFill>
                </a:uFill>
                <a:latin typeface="Courier New"/>
              </a:rPr>
              <a:t> =  </a:t>
            </a:r>
            <a:r>
              <a:rPr lang="en-US" sz="2400" spc="-1" err="1">
                <a:solidFill>
                  <a:srgbClr val="000000"/>
                </a:solidFill>
                <a:uFill>
                  <a:solidFill>
                    <a:srgbClr val="FFFFFF"/>
                  </a:solidFill>
                </a:uFill>
                <a:latin typeface="Courier New"/>
              </a:rPr>
              <a:t>jdoe</a:t>
            </a:r>
            <a:endParaRPr lang="en-US" sz="2400" spc="-1">
              <a:solidFill>
                <a:srgbClr val="000000"/>
              </a:solidFill>
              <a:uFill>
                <a:solidFill>
                  <a:srgbClr val="FFFFFF"/>
                </a:solidFill>
              </a:uFill>
              <a:latin typeface="Arial"/>
            </a:endParaRPr>
          </a:p>
          <a:p>
            <a:pPr marL="343080" indent="-342360"/>
            <a:endParaRPr lang="en-US" sz="2400" spc="-1">
              <a:solidFill>
                <a:srgbClr val="000000"/>
              </a:solidFill>
              <a:uFill>
                <a:solidFill>
                  <a:srgbClr val="FFFFFF"/>
                </a:solidFill>
              </a:uFill>
              <a:latin typeface="Arial"/>
            </a:endParaRPr>
          </a:p>
          <a:p>
            <a:pPr marL="343080" indent="-342360"/>
            <a:r>
              <a:rPr lang="en-US" sz="2400" spc="-1">
                <a:solidFill>
                  <a:srgbClr val="000000"/>
                </a:solidFill>
                <a:uFill>
                  <a:solidFill>
                    <a:srgbClr val="FFFFFF"/>
                  </a:solidFill>
                </a:uFill>
                <a:latin typeface="Courier New"/>
              </a:rPr>
              <a:t>&gt;&gt;&gt; </a:t>
            </a:r>
            <a:endParaRPr lang="en-US" sz="2400" spc="-1">
              <a:solidFill>
                <a:srgbClr val="000000"/>
              </a:solidFill>
              <a:uFill>
                <a:solidFill>
                  <a:srgbClr val="FFFFFF"/>
                </a:solidFill>
              </a:uFill>
              <a:latin typeface="Arial"/>
            </a:endParaRPr>
          </a:p>
          <a:p>
            <a:pPr marL="343080" indent="-342360"/>
            <a:r>
              <a:rPr lang="en-US" sz="2400" spc="-1">
                <a:solidFill>
                  <a:srgbClr val="000000"/>
                </a:solidFill>
                <a:uFill>
                  <a:solidFill>
                    <a:srgbClr val="FFFFFF"/>
                  </a:solidFill>
                </a:uFill>
                <a:latin typeface="Courier New"/>
              </a:rPr>
              <a:t>Please enter your first name (all lowercase): donna</a:t>
            </a:r>
            <a:endParaRPr lang="en-US" sz="2400" spc="-1">
              <a:solidFill>
                <a:srgbClr val="000000"/>
              </a:solidFill>
              <a:uFill>
                <a:solidFill>
                  <a:srgbClr val="FFFFFF"/>
                </a:solidFill>
              </a:uFill>
              <a:latin typeface="Arial"/>
            </a:endParaRPr>
          </a:p>
          <a:p>
            <a:pPr marL="343080" indent="-342360"/>
            <a:r>
              <a:rPr lang="en-US" sz="2400" spc="-1">
                <a:solidFill>
                  <a:srgbClr val="000000"/>
                </a:solidFill>
                <a:uFill>
                  <a:solidFill>
                    <a:srgbClr val="FFFFFF"/>
                  </a:solidFill>
                </a:uFill>
                <a:latin typeface="Courier New"/>
              </a:rPr>
              <a:t>Please enter your last name (all lowercase): </a:t>
            </a:r>
            <a:r>
              <a:rPr lang="en-US" sz="2400" spc="-1" err="1">
                <a:solidFill>
                  <a:srgbClr val="000000"/>
                </a:solidFill>
                <a:uFill>
                  <a:solidFill>
                    <a:srgbClr val="FFFFFF"/>
                  </a:solidFill>
                </a:uFill>
                <a:latin typeface="Courier New"/>
              </a:rPr>
              <a:t>rostenkowski</a:t>
            </a:r>
            <a:endParaRPr lang="en-US" sz="2400" spc="-1">
              <a:solidFill>
                <a:srgbClr val="000000"/>
              </a:solidFill>
              <a:uFill>
                <a:solidFill>
                  <a:srgbClr val="FFFFFF"/>
                </a:solidFill>
              </a:uFill>
              <a:latin typeface="Arial"/>
            </a:endParaRPr>
          </a:p>
          <a:p>
            <a:pPr marL="343080" indent="-342360"/>
            <a:r>
              <a:rPr lang="en-US" sz="2400" spc="-1" err="1">
                <a:solidFill>
                  <a:srgbClr val="000000"/>
                </a:solidFill>
                <a:uFill>
                  <a:solidFill>
                    <a:srgbClr val="FFFFFF"/>
                  </a:solidFill>
                </a:uFill>
                <a:latin typeface="Courier New"/>
              </a:rPr>
              <a:t>uname</a:t>
            </a:r>
            <a:r>
              <a:rPr lang="en-US" sz="2400" spc="-1">
                <a:solidFill>
                  <a:srgbClr val="000000"/>
                </a:solidFill>
                <a:uFill>
                  <a:solidFill>
                    <a:srgbClr val="FFFFFF"/>
                  </a:solidFill>
                </a:uFill>
                <a:latin typeface="Courier New"/>
              </a:rPr>
              <a:t> =  </a:t>
            </a:r>
            <a:r>
              <a:rPr lang="en-US" sz="2400" spc="-1" err="1">
                <a:solidFill>
                  <a:srgbClr val="000000"/>
                </a:solidFill>
                <a:uFill>
                  <a:solidFill>
                    <a:srgbClr val="FFFFFF"/>
                  </a:solidFill>
                </a:uFill>
                <a:latin typeface="Courier New"/>
              </a:rPr>
              <a:t>drostenk</a:t>
            </a:r>
            <a:endParaRPr lang="en-US" sz="2400"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275"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0F722A83-68F9-41AF-A654-CAC098D67F3B}" type="slidenum">
              <a:rPr lang="en-US" sz="1400" spc="-1">
                <a:solidFill>
                  <a:srgbClr val="000000"/>
                </a:solidFill>
                <a:uFill>
                  <a:solidFill>
                    <a:srgbClr val="FFFFFF"/>
                  </a:solidFill>
                </a:uFill>
                <a:latin typeface="Tahoma"/>
              </a:rPr>
              <a:t>19</a:t>
            </a:fld>
            <a:endParaRPr lang="en-US" spc="-1">
              <a:solidFill>
                <a:srgbClr val="000000"/>
              </a:solidFill>
              <a:uFill>
                <a:solidFill>
                  <a:srgbClr val="FFFFFF"/>
                </a:solidFill>
              </a:uFill>
              <a:latin typeface="Arial"/>
            </a:endParaRPr>
          </a:p>
        </p:txBody>
      </p:sp>
      <p:sp>
        <p:nvSpPr>
          <p:cNvPr id="276"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Simple String Processing</a:t>
            </a:r>
            <a:endParaRPr lang="en-US" spc="-1">
              <a:solidFill>
                <a:srgbClr val="000000"/>
              </a:solidFill>
              <a:uFill>
                <a:solidFill>
                  <a:srgbClr val="FFFFFF"/>
                </a:solidFill>
              </a:uFill>
              <a:latin typeface="Arial"/>
            </a:endParaRPr>
          </a:p>
        </p:txBody>
      </p:sp>
      <p:sp>
        <p:nvSpPr>
          <p:cNvPr id="277"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Another use </a:t>
            </a:r>
            <a:r>
              <a:rPr lang="en-US" sz="3200" spc="-1">
                <a:solidFill>
                  <a:srgbClr val="000000"/>
                </a:solidFill>
                <a:uFill>
                  <a:solidFill>
                    <a:srgbClr val="FFFFFF"/>
                  </a:solidFill>
                </a:uFill>
                <a:latin typeface="Times New Roman"/>
              </a:rPr>
              <a:t>–</a:t>
            </a:r>
            <a:r>
              <a:rPr lang="en-US" sz="3200" spc="-1">
                <a:solidFill>
                  <a:srgbClr val="000000"/>
                </a:solidFill>
                <a:uFill>
                  <a:solidFill>
                    <a:srgbClr val="FFFFFF"/>
                  </a:solidFill>
                </a:uFill>
                <a:latin typeface="Tahoma"/>
              </a:rPr>
              <a:t> converting an int that stands for the month into the three letter abbreviation for that month.</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Store all the names in one big string:</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2400" spc="-1">
                <a:solidFill>
                  <a:srgbClr val="000000"/>
                </a:solidFill>
                <a:uFill>
                  <a:solidFill>
                    <a:srgbClr val="FFFFFF"/>
                  </a:solidFill>
                </a:uFill>
                <a:latin typeface="Times New Roman"/>
              </a:rPr>
              <a:t>“</a:t>
            </a:r>
            <a:r>
              <a:rPr lang="en-US" sz="2400" spc="-1" err="1">
                <a:solidFill>
                  <a:srgbClr val="000000"/>
                </a:solidFill>
                <a:uFill>
                  <a:solidFill>
                    <a:srgbClr val="FFFFFF"/>
                  </a:solidFill>
                </a:uFill>
                <a:latin typeface="Tahoma"/>
              </a:rPr>
              <a:t>JanFebMarAprMayJunJulAugSepOctNovDec</a:t>
            </a:r>
            <a:r>
              <a:rPr lang="en-US" sz="2400" spc="-1">
                <a:solidFill>
                  <a:srgbClr val="000000"/>
                </a:solidFill>
                <a:uFill>
                  <a:solidFill>
                    <a:srgbClr val="FFFFFF"/>
                  </a:solidFill>
                </a:uFill>
                <a:latin typeface="Times New Roman"/>
              </a:rPr>
              <a:t>”</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Use the month number as an index for slicing this string:</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2800" spc="-1" err="1">
                <a:solidFill>
                  <a:srgbClr val="000000"/>
                </a:solidFill>
                <a:uFill>
                  <a:solidFill>
                    <a:srgbClr val="FFFFFF"/>
                  </a:solidFill>
                </a:uFill>
                <a:latin typeface="Courier New"/>
              </a:rPr>
              <a:t>monthAbbrev</a:t>
            </a:r>
            <a:r>
              <a:rPr lang="en-US" sz="2800" spc="-1">
                <a:solidFill>
                  <a:srgbClr val="000000"/>
                </a:solidFill>
                <a:uFill>
                  <a:solidFill>
                    <a:srgbClr val="FFFFFF"/>
                  </a:solidFill>
                </a:uFill>
                <a:latin typeface="Courier New"/>
              </a:rPr>
              <a:t> = months[pos:pos+3]</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279"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4A962B63-6576-46A5-8661-65CC21CA9377}" type="slidenum">
              <a:rPr lang="en-US" sz="1400" spc="-1">
                <a:solidFill>
                  <a:srgbClr val="000000"/>
                </a:solidFill>
                <a:uFill>
                  <a:solidFill>
                    <a:srgbClr val="FFFFFF"/>
                  </a:solidFill>
                </a:uFill>
                <a:latin typeface="Tahoma"/>
              </a:rPr>
              <a:t>20</a:t>
            </a:fld>
            <a:endParaRPr lang="en-US" spc="-1">
              <a:solidFill>
                <a:srgbClr val="000000"/>
              </a:solidFill>
              <a:uFill>
                <a:solidFill>
                  <a:srgbClr val="FFFFFF"/>
                </a:solidFill>
              </a:uFill>
              <a:latin typeface="Arial"/>
            </a:endParaRPr>
          </a:p>
        </p:txBody>
      </p:sp>
      <p:sp>
        <p:nvSpPr>
          <p:cNvPr id="280"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Simple String Processing</a:t>
            </a:r>
            <a:endParaRPr lang="en-US" spc="-1">
              <a:solidFill>
                <a:srgbClr val="000000"/>
              </a:solidFill>
              <a:uFill>
                <a:solidFill>
                  <a:srgbClr val="FFFFFF"/>
                </a:solidFill>
              </a:uFill>
              <a:latin typeface="Arial"/>
            </a:endParaRPr>
          </a:p>
        </p:txBody>
      </p:sp>
      <p:graphicFrame>
        <p:nvGraphicFramePr>
          <p:cNvPr id="281" name="Table 4"/>
          <p:cNvGraphicFramePr/>
          <p:nvPr/>
        </p:nvGraphicFramePr>
        <p:xfrm>
          <a:off x="3124200" y="2133720"/>
          <a:ext cx="6095520" cy="3123720"/>
        </p:xfrm>
        <a:graphic>
          <a:graphicData uri="http://schemas.openxmlformats.org/drawingml/2006/table">
            <a:tbl>
              <a:tblPr/>
              <a:tblGrid>
                <a:gridCol w="2031840">
                  <a:extLst>
                    <a:ext uri="{9D8B030D-6E8A-4147-A177-3AD203B41FA5}">
                      <a16:colId xmlns:a16="http://schemas.microsoft.com/office/drawing/2014/main" val="20000"/>
                    </a:ext>
                  </a:extLst>
                </a:gridCol>
                <a:gridCol w="2031840">
                  <a:extLst>
                    <a:ext uri="{9D8B030D-6E8A-4147-A177-3AD203B41FA5}">
                      <a16:colId xmlns:a16="http://schemas.microsoft.com/office/drawing/2014/main" val="20001"/>
                    </a:ext>
                  </a:extLst>
                </a:gridCol>
                <a:gridCol w="2031840">
                  <a:extLst>
                    <a:ext uri="{9D8B030D-6E8A-4147-A177-3AD203B41FA5}">
                      <a16:colId xmlns:a16="http://schemas.microsoft.com/office/drawing/2014/main" val="20002"/>
                    </a:ext>
                  </a:extLst>
                </a:gridCol>
              </a:tblGrid>
              <a:tr h="625320">
                <a:tc>
                  <a:txBody>
                    <a:bodyPr/>
                    <a:lstStyle/>
                    <a:p>
                      <a:pPr algn="ctr">
                        <a:lnSpc>
                          <a:spcPct val="100000"/>
                        </a:lnSpc>
                      </a:pPr>
                      <a:r>
                        <a:rPr lang="en-US" sz="2800" b="1" strike="noStrike" spc="-1">
                          <a:solidFill>
                            <a:srgbClr val="FFFFFF"/>
                          </a:solidFill>
                          <a:uFill>
                            <a:solidFill>
                              <a:srgbClr val="FFFFFF"/>
                            </a:solidFill>
                          </a:uFill>
                          <a:latin typeface="Tahoma"/>
                        </a:rPr>
                        <a:t>Month</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100000"/>
                        </a:lnSpc>
                      </a:pPr>
                      <a:r>
                        <a:rPr lang="en-US" sz="2800" b="1" strike="noStrike" spc="-1">
                          <a:solidFill>
                            <a:srgbClr val="FFFFFF"/>
                          </a:solidFill>
                          <a:uFill>
                            <a:solidFill>
                              <a:srgbClr val="FFFFFF"/>
                            </a:solidFill>
                          </a:uFill>
                          <a:latin typeface="Tahoma"/>
                        </a:rPr>
                        <a:t>Number</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tc>
                  <a:txBody>
                    <a:bodyPr/>
                    <a:lstStyle/>
                    <a:p>
                      <a:pPr algn="ctr">
                        <a:lnSpc>
                          <a:spcPct val="100000"/>
                        </a:lnSpc>
                      </a:pPr>
                      <a:r>
                        <a:rPr lang="en-US" sz="2800" b="1" strike="noStrike" spc="-1">
                          <a:solidFill>
                            <a:srgbClr val="FFFFFF"/>
                          </a:solidFill>
                          <a:uFill>
                            <a:solidFill>
                              <a:srgbClr val="FFFFFF"/>
                            </a:solidFill>
                          </a:uFill>
                          <a:latin typeface="Tahoma"/>
                        </a:rPr>
                        <a:t>Position</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000000"/>
                    </a:solidFill>
                  </a:tcPr>
                </a:tc>
                <a:extLst>
                  <a:ext uri="{0D108BD9-81ED-4DB2-BD59-A6C34878D82A}">
                    <a16:rowId xmlns:a16="http://schemas.microsoft.com/office/drawing/2014/main" val="10000"/>
                  </a:ext>
                </a:extLst>
              </a:tr>
              <a:tr h="623880">
                <a:tc>
                  <a:txBody>
                    <a:bodyPr/>
                    <a:lstStyle/>
                    <a:p>
                      <a:pPr algn="ctr">
                        <a:lnSpc>
                          <a:spcPct val="100000"/>
                        </a:lnSpc>
                      </a:pPr>
                      <a:r>
                        <a:rPr lang="en-US" sz="2800" b="0" strike="noStrike" spc="-1">
                          <a:solidFill>
                            <a:srgbClr val="000000"/>
                          </a:solidFill>
                          <a:uFill>
                            <a:solidFill>
                              <a:srgbClr val="FFFFFF"/>
                            </a:solidFill>
                          </a:uFill>
                          <a:latin typeface="Tahoma"/>
                        </a:rPr>
                        <a:t>Jan</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pPr algn="ctr">
                        <a:lnSpc>
                          <a:spcPct val="100000"/>
                        </a:lnSpc>
                      </a:pPr>
                      <a:r>
                        <a:rPr lang="en-US" sz="2800" b="0" strike="noStrike" spc="-1">
                          <a:solidFill>
                            <a:srgbClr val="000000"/>
                          </a:solidFill>
                          <a:uFill>
                            <a:solidFill>
                              <a:srgbClr val="FFFFFF"/>
                            </a:solidFill>
                          </a:uFill>
                          <a:latin typeface="Tahoma"/>
                        </a:rPr>
                        <a:t>1</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pPr algn="ctr">
                        <a:lnSpc>
                          <a:spcPct val="100000"/>
                        </a:lnSpc>
                      </a:pPr>
                      <a:r>
                        <a:rPr lang="en-US" sz="2800" b="0" strike="noStrike" spc="-1">
                          <a:solidFill>
                            <a:srgbClr val="000000"/>
                          </a:solidFill>
                          <a:uFill>
                            <a:solidFill>
                              <a:srgbClr val="FFFFFF"/>
                            </a:solidFill>
                          </a:uFill>
                          <a:latin typeface="Tahoma"/>
                        </a:rPr>
                        <a:t>0</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extLst>
                  <a:ext uri="{0D108BD9-81ED-4DB2-BD59-A6C34878D82A}">
                    <a16:rowId xmlns:a16="http://schemas.microsoft.com/office/drawing/2014/main" val="10001"/>
                  </a:ext>
                </a:extLst>
              </a:tr>
              <a:tr h="625320">
                <a:tc>
                  <a:txBody>
                    <a:bodyPr/>
                    <a:lstStyle/>
                    <a:p>
                      <a:pPr algn="ctr">
                        <a:lnSpc>
                          <a:spcPct val="100000"/>
                        </a:lnSpc>
                      </a:pPr>
                      <a:r>
                        <a:rPr lang="en-US" sz="2800" b="0" strike="noStrike" spc="-1">
                          <a:solidFill>
                            <a:srgbClr val="000000"/>
                          </a:solidFill>
                          <a:uFill>
                            <a:solidFill>
                              <a:srgbClr val="FFFFFF"/>
                            </a:solidFill>
                          </a:uFill>
                          <a:latin typeface="Tahoma"/>
                        </a:rPr>
                        <a:t>Feb</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pPr>
                      <a:r>
                        <a:rPr lang="en-US" sz="2800" b="0" strike="noStrike" spc="-1">
                          <a:solidFill>
                            <a:srgbClr val="000000"/>
                          </a:solidFill>
                          <a:uFill>
                            <a:solidFill>
                              <a:srgbClr val="FFFFFF"/>
                            </a:solidFill>
                          </a:uFill>
                          <a:latin typeface="Tahoma"/>
                        </a:rPr>
                        <a:t>2</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pPr>
                      <a:r>
                        <a:rPr lang="en-US" sz="2800" b="0" strike="noStrike" spc="-1">
                          <a:solidFill>
                            <a:srgbClr val="000000"/>
                          </a:solidFill>
                          <a:uFill>
                            <a:solidFill>
                              <a:srgbClr val="FFFFFF"/>
                            </a:solidFill>
                          </a:uFill>
                          <a:latin typeface="Tahoma"/>
                        </a:rPr>
                        <a:t>3</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extLst>
                  <a:ext uri="{0D108BD9-81ED-4DB2-BD59-A6C34878D82A}">
                    <a16:rowId xmlns:a16="http://schemas.microsoft.com/office/drawing/2014/main" val="10002"/>
                  </a:ext>
                </a:extLst>
              </a:tr>
              <a:tr h="623880">
                <a:tc>
                  <a:txBody>
                    <a:bodyPr/>
                    <a:lstStyle/>
                    <a:p>
                      <a:pPr algn="ctr">
                        <a:lnSpc>
                          <a:spcPct val="100000"/>
                        </a:lnSpc>
                      </a:pPr>
                      <a:r>
                        <a:rPr lang="en-US" sz="2800" b="0" strike="noStrike" spc="-1">
                          <a:solidFill>
                            <a:srgbClr val="000000"/>
                          </a:solidFill>
                          <a:uFill>
                            <a:solidFill>
                              <a:srgbClr val="FFFFFF"/>
                            </a:solidFill>
                          </a:uFill>
                          <a:latin typeface="Tahoma"/>
                        </a:rPr>
                        <a:t>Mar</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pPr algn="ctr">
                        <a:lnSpc>
                          <a:spcPct val="100000"/>
                        </a:lnSpc>
                      </a:pPr>
                      <a:r>
                        <a:rPr lang="en-US" sz="2800" b="0" strike="noStrike" spc="-1">
                          <a:solidFill>
                            <a:srgbClr val="000000"/>
                          </a:solidFill>
                          <a:uFill>
                            <a:solidFill>
                              <a:srgbClr val="FFFFFF"/>
                            </a:solidFill>
                          </a:uFill>
                          <a:latin typeface="Tahoma"/>
                        </a:rPr>
                        <a:t>3</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pPr algn="ctr">
                        <a:lnSpc>
                          <a:spcPct val="100000"/>
                        </a:lnSpc>
                      </a:pPr>
                      <a:r>
                        <a:rPr lang="en-US" sz="2800" b="0" strike="noStrike" spc="-1">
                          <a:solidFill>
                            <a:srgbClr val="000000"/>
                          </a:solidFill>
                          <a:uFill>
                            <a:solidFill>
                              <a:srgbClr val="FFFFFF"/>
                            </a:solidFill>
                          </a:uFill>
                          <a:latin typeface="Tahoma"/>
                        </a:rPr>
                        <a:t>6</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extLst>
                  <a:ext uri="{0D108BD9-81ED-4DB2-BD59-A6C34878D82A}">
                    <a16:rowId xmlns:a16="http://schemas.microsoft.com/office/drawing/2014/main" val="10003"/>
                  </a:ext>
                </a:extLst>
              </a:tr>
              <a:tr h="625320">
                <a:tc>
                  <a:txBody>
                    <a:bodyPr/>
                    <a:lstStyle/>
                    <a:p>
                      <a:pPr algn="ctr">
                        <a:lnSpc>
                          <a:spcPct val="100000"/>
                        </a:lnSpc>
                      </a:pPr>
                      <a:r>
                        <a:rPr lang="en-US" sz="2800" b="0" strike="noStrike" spc="-1">
                          <a:solidFill>
                            <a:srgbClr val="000000"/>
                          </a:solidFill>
                          <a:uFill>
                            <a:solidFill>
                              <a:srgbClr val="FFFFFF"/>
                            </a:solidFill>
                          </a:uFill>
                          <a:latin typeface="Tahoma"/>
                        </a:rPr>
                        <a:t>Apr</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pPr>
                      <a:r>
                        <a:rPr lang="en-US" sz="2800" b="0" strike="noStrike" spc="-1">
                          <a:solidFill>
                            <a:srgbClr val="000000"/>
                          </a:solidFill>
                          <a:uFill>
                            <a:solidFill>
                              <a:srgbClr val="FFFFFF"/>
                            </a:solidFill>
                          </a:uFill>
                          <a:latin typeface="Tahoma"/>
                        </a:rPr>
                        <a:t>4</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pPr>
                      <a:r>
                        <a:rPr lang="en-US" sz="2800" b="0" strike="noStrike" spc="-1">
                          <a:solidFill>
                            <a:srgbClr val="000000"/>
                          </a:solidFill>
                          <a:uFill>
                            <a:solidFill>
                              <a:srgbClr val="FFFFFF"/>
                            </a:solidFill>
                          </a:uFill>
                          <a:latin typeface="Tahoma"/>
                        </a:rPr>
                        <a:t>9</a:t>
                      </a:r>
                      <a:endParaRPr lang="en-US" sz="1800" b="0" strike="noStrike" spc="-1">
                        <a:solidFill>
                          <a:srgbClr val="000000"/>
                        </a:solidFill>
                        <a:uFill>
                          <a:solidFill>
                            <a:srgbClr val="FFFFFF"/>
                          </a:solidFill>
                        </a:uFill>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extLst>
                  <a:ext uri="{0D108BD9-81ED-4DB2-BD59-A6C34878D82A}">
                    <a16:rowId xmlns:a16="http://schemas.microsoft.com/office/drawing/2014/main" val="10004"/>
                  </a:ext>
                </a:extLst>
              </a:tr>
            </a:tbl>
          </a:graphicData>
        </a:graphic>
      </p:graphicFrame>
      <p:sp>
        <p:nvSpPr>
          <p:cNvPr id="282" name="CustomShape 5"/>
          <p:cNvSpPr/>
          <p:nvPr/>
        </p:nvSpPr>
        <p:spPr>
          <a:xfrm>
            <a:off x="3124200" y="5367240"/>
            <a:ext cx="6247800" cy="1186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5640">
              <a:buClr>
                <a:srgbClr val="000000"/>
              </a:buClr>
              <a:buFont typeface="Wingdings" charset="2"/>
              <a:buChar char=""/>
            </a:pPr>
            <a:r>
              <a:rPr lang="en-US" sz="2400" spc="-1">
                <a:solidFill>
                  <a:srgbClr val="000000"/>
                </a:solidFill>
                <a:uFill>
                  <a:solidFill>
                    <a:srgbClr val="FFFFFF"/>
                  </a:solidFill>
                </a:uFill>
                <a:latin typeface="Tahoma"/>
                <a:ea typeface="DejaVu Sans"/>
              </a:rPr>
              <a:t> To get the correct position, subtract one from the month number and multiply by three</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284"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79492D45-C37A-4F01-9159-9672ABE4EF70}" type="slidenum">
              <a:rPr lang="en-US" sz="1400" spc="-1">
                <a:solidFill>
                  <a:srgbClr val="000000"/>
                </a:solidFill>
                <a:uFill>
                  <a:solidFill>
                    <a:srgbClr val="FFFFFF"/>
                  </a:solidFill>
                </a:uFill>
                <a:latin typeface="Tahoma"/>
              </a:rPr>
              <a:t>21</a:t>
            </a:fld>
            <a:endParaRPr lang="en-US" spc="-1">
              <a:solidFill>
                <a:srgbClr val="000000"/>
              </a:solidFill>
              <a:uFill>
                <a:solidFill>
                  <a:srgbClr val="FFFFFF"/>
                </a:solidFill>
              </a:uFill>
              <a:latin typeface="Arial"/>
            </a:endParaRPr>
          </a:p>
        </p:txBody>
      </p:sp>
      <p:sp>
        <p:nvSpPr>
          <p:cNvPr id="285"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Simple String Processing</a:t>
            </a:r>
            <a:endParaRPr lang="en-US" spc="-1">
              <a:solidFill>
                <a:srgbClr val="000000"/>
              </a:solidFill>
              <a:uFill>
                <a:solidFill>
                  <a:srgbClr val="FFFFFF"/>
                </a:solidFill>
              </a:uFill>
              <a:latin typeface="Arial"/>
            </a:endParaRPr>
          </a:p>
        </p:txBody>
      </p:sp>
      <p:sp>
        <p:nvSpPr>
          <p:cNvPr id="286" name="CustomShape 4"/>
          <p:cNvSpPr/>
          <p:nvPr/>
        </p:nvSpPr>
        <p:spPr>
          <a:xfrm>
            <a:off x="2057520" y="2017800"/>
            <a:ext cx="842112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90000"/>
              </a:lnSpc>
            </a:pPr>
            <a:r>
              <a:rPr lang="en-US" sz="1600" spc="-1">
                <a:solidFill>
                  <a:srgbClr val="000000"/>
                </a:solidFill>
                <a:uFill>
                  <a:solidFill>
                    <a:srgbClr val="FFFFFF"/>
                  </a:solidFill>
                </a:uFill>
                <a:latin typeface="Courier New"/>
              </a:rPr>
              <a:t># month.py</a:t>
            </a:r>
            <a:endParaRPr lang="en-US" spc="-1">
              <a:solidFill>
                <a:srgbClr val="000000"/>
              </a:solidFill>
              <a:uFill>
                <a:solidFill>
                  <a:srgbClr val="FFFFFF"/>
                </a:solidFill>
              </a:uFill>
              <a:latin typeface="Arial"/>
            </a:endParaRPr>
          </a:p>
          <a:p>
            <a:pPr marL="343080" indent="-342360">
              <a:lnSpc>
                <a:spcPct val="90000"/>
              </a:lnSpc>
            </a:pPr>
            <a:r>
              <a:rPr lang="en-US" sz="1600" spc="-1">
                <a:solidFill>
                  <a:srgbClr val="000000"/>
                </a:solidFill>
                <a:uFill>
                  <a:solidFill>
                    <a:srgbClr val="FFFFFF"/>
                  </a:solidFill>
                </a:uFill>
                <a:latin typeface="Courier New"/>
              </a:rPr>
              <a:t>#  A program to print the abbreviation of a month, given its number</a:t>
            </a:r>
            <a:endParaRPr lang="en-US" spc="-1">
              <a:solidFill>
                <a:srgbClr val="000000"/>
              </a:solidFill>
              <a:uFill>
                <a:solidFill>
                  <a:srgbClr val="FFFFFF"/>
                </a:solidFill>
              </a:uFill>
              <a:latin typeface="Arial"/>
            </a:endParaRPr>
          </a:p>
          <a:p>
            <a:pPr marL="343080" indent="-342360">
              <a:lnSpc>
                <a:spcPct val="90000"/>
              </a:lnSpc>
            </a:pPr>
            <a:endParaRPr lang="en-US" spc="-1">
              <a:solidFill>
                <a:srgbClr val="000000"/>
              </a:solidFill>
              <a:uFill>
                <a:solidFill>
                  <a:srgbClr val="FFFFFF"/>
                </a:solidFill>
              </a:uFill>
              <a:latin typeface="Arial"/>
            </a:endParaRPr>
          </a:p>
          <a:p>
            <a:pPr marL="343080" indent="-342360">
              <a:lnSpc>
                <a:spcPct val="90000"/>
              </a:lnSpc>
            </a:pPr>
            <a:r>
              <a:rPr lang="en-US" sz="1600" spc="-1">
                <a:solidFill>
                  <a:srgbClr val="000000"/>
                </a:solidFill>
                <a:uFill>
                  <a:solidFill>
                    <a:srgbClr val="FFFFFF"/>
                  </a:solidFill>
                </a:uFill>
                <a:latin typeface="Courier New"/>
              </a:rPr>
              <a:t>def main():</a:t>
            </a:r>
            <a:endParaRPr lang="en-US" spc="-1">
              <a:solidFill>
                <a:srgbClr val="000000"/>
              </a:solidFill>
              <a:uFill>
                <a:solidFill>
                  <a:srgbClr val="FFFFFF"/>
                </a:solidFill>
              </a:uFill>
              <a:latin typeface="Arial"/>
            </a:endParaRPr>
          </a:p>
          <a:p>
            <a:pPr marL="343080" indent="-342360">
              <a:lnSpc>
                <a:spcPct val="90000"/>
              </a:lnSpc>
            </a:pPr>
            <a:r>
              <a:rPr lang="en-US" sz="800" spc="-1">
                <a:solidFill>
                  <a:srgbClr val="000000"/>
                </a:solidFill>
                <a:uFill>
                  <a:solidFill>
                    <a:srgbClr val="FFFFFF"/>
                  </a:solidFill>
                </a:uFill>
                <a:latin typeface="Courier New"/>
              </a:rPr>
              <a:t> </a:t>
            </a:r>
            <a:r>
              <a:rPr lang="en-US" sz="1600" spc="-1">
                <a:solidFill>
                  <a:srgbClr val="000000"/>
                </a:solidFill>
                <a:uFill>
                  <a:solidFill>
                    <a:srgbClr val="FFFFFF"/>
                  </a:solidFill>
                </a:uFill>
                <a:latin typeface="Courier New"/>
              </a:rPr>
              <a:t>  </a:t>
            </a:r>
            <a:endParaRPr lang="en-US" spc="-1">
              <a:solidFill>
                <a:srgbClr val="000000"/>
              </a:solidFill>
              <a:uFill>
                <a:solidFill>
                  <a:srgbClr val="FFFFFF"/>
                </a:solidFill>
              </a:uFill>
              <a:latin typeface="Arial"/>
            </a:endParaRPr>
          </a:p>
          <a:p>
            <a:pPr marL="343080" indent="-342360">
              <a:lnSpc>
                <a:spcPct val="90000"/>
              </a:lnSpc>
            </a:pPr>
            <a:r>
              <a:rPr lang="en-US" sz="1600" spc="-1">
                <a:solidFill>
                  <a:srgbClr val="000000"/>
                </a:solidFill>
                <a:uFill>
                  <a:solidFill>
                    <a:srgbClr val="FFFFFF"/>
                  </a:solidFill>
                </a:uFill>
                <a:latin typeface="Courier New"/>
              </a:rPr>
              <a:t>    # months is used as a lookup table</a:t>
            </a:r>
            <a:endParaRPr lang="en-US" spc="-1">
              <a:solidFill>
                <a:srgbClr val="000000"/>
              </a:solidFill>
              <a:uFill>
                <a:solidFill>
                  <a:srgbClr val="FFFFFF"/>
                </a:solidFill>
              </a:uFill>
              <a:latin typeface="Arial"/>
            </a:endParaRPr>
          </a:p>
          <a:p>
            <a:pPr marL="343080" indent="-342360">
              <a:lnSpc>
                <a:spcPct val="90000"/>
              </a:lnSpc>
            </a:pPr>
            <a:r>
              <a:rPr lang="en-US" sz="1600" spc="-1">
                <a:solidFill>
                  <a:srgbClr val="000000"/>
                </a:solidFill>
                <a:uFill>
                  <a:solidFill>
                    <a:srgbClr val="FFFFFF"/>
                  </a:solidFill>
                </a:uFill>
                <a:latin typeface="Courier New"/>
              </a:rPr>
              <a:t>    months = "</a:t>
            </a:r>
            <a:r>
              <a:rPr lang="en-US" sz="1600" spc="-1" err="1">
                <a:solidFill>
                  <a:srgbClr val="000000"/>
                </a:solidFill>
                <a:uFill>
                  <a:solidFill>
                    <a:srgbClr val="FFFFFF"/>
                  </a:solidFill>
                </a:uFill>
                <a:latin typeface="Courier New"/>
              </a:rPr>
              <a:t>JanFebMarAprMayJunJulAugSepOctNovDec</a:t>
            </a:r>
            <a:r>
              <a:rPr lang="en-US" sz="1600" spc="-1">
                <a:solidFill>
                  <a:srgbClr val="000000"/>
                </a:solidFill>
                <a:uFill>
                  <a:solidFill>
                    <a:srgbClr val="FFFFFF"/>
                  </a:solidFill>
                </a:uFill>
                <a:latin typeface="Courier New"/>
              </a:rPr>
              <a:t>"</a:t>
            </a:r>
            <a:endParaRPr lang="en-US" spc="-1">
              <a:solidFill>
                <a:srgbClr val="000000"/>
              </a:solidFill>
              <a:uFill>
                <a:solidFill>
                  <a:srgbClr val="FFFFFF"/>
                </a:solidFill>
              </a:uFill>
              <a:latin typeface="Arial"/>
            </a:endParaRPr>
          </a:p>
          <a:p>
            <a:pPr marL="343080" indent="-342360">
              <a:lnSpc>
                <a:spcPct val="90000"/>
              </a:lnSpc>
            </a:pPr>
            <a:endParaRPr lang="en-US" spc="-1">
              <a:solidFill>
                <a:srgbClr val="000000"/>
              </a:solidFill>
              <a:uFill>
                <a:solidFill>
                  <a:srgbClr val="FFFFFF"/>
                </a:solidFill>
              </a:uFill>
              <a:latin typeface="Arial"/>
            </a:endParaRPr>
          </a:p>
          <a:p>
            <a:pPr marL="343080" indent="-342360">
              <a:lnSpc>
                <a:spcPct val="90000"/>
              </a:lnSpc>
            </a:pPr>
            <a:r>
              <a:rPr lang="en-US" sz="1600" spc="-1">
                <a:solidFill>
                  <a:srgbClr val="000000"/>
                </a:solidFill>
                <a:uFill>
                  <a:solidFill>
                    <a:srgbClr val="FFFFFF"/>
                  </a:solidFill>
                </a:uFill>
                <a:latin typeface="Courier New"/>
              </a:rPr>
              <a:t>    n = int(input("Enter a month number (1-12): "))</a:t>
            </a:r>
            <a:endParaRPr lang="en-US" spc="-1">
              <a:solidFill>
                <a:srgbClr val="000000"/>
              </a:solidFill>
              <a:uFill>
                <a:solidFill>
                  <a:srgbClr val="FFFFFF"/>
                </a:solidFill>
              </a:uFill>
              <a:latin typeface="Arial"/>
            </a:endParaRPr>
          </a:p>
          <a:p>
            <a:pPr marL="343080" indent="-342360">
              <a:lnSpc>
                <a:spcPct val="90000"/>
              </a:lnSpc>
            </a:pPr>
            <a:endParaRPr lang="en-US" spc="-1">
              <a:solidFill>
                <a:srgbClr val="000000"/>
              </a:solidFill>
              <a:uFill>
                <a:solidFill>
                  <a:srgbClr val="FFFFFF"/>
                </a:solidFill>
              </a:uFill>
              <a:latin typeface="Arial"/>
            </a:endParaRPr>
          </a:p>
          <a:p>
            <a:pPr marL="343080" indent="-342360">
              <a:lnSpc>
                <a:spcPct val="90000"/>
              </a:lnSpc>
            </a:pPr>
            <a:r>
              <a:rPr lang="en-US" sz="1600" spc="-1">
                <a:solidFill>
                  <a:srgbClr val="000000"/>
                </a:solidFill>
                <a:uFill>
                  <a:solidFill>
                    <a:srgbClr val="FFFFFF"/>
                  </a:solidFill>
                </a:uFill>
                <a:latin typeface="Courier New"/>
              </a:rPr>
              <a:t>    # compute starting position of month n in months</a:t>
            </a:r>
            <a:endParaRPr lang="en-US" spc="-1">
              <a:solidFill>
                <a:srgbClr val="000000"/>
              </a:solidFill>
              <a:uFill>
                <a:solidFill>
                  <a:srgbClr val="FFFFFF"/>
                </a:solidFill>
              </a:uFill>
              <a:latin typeface="Arial"/>
            </a:endParaRPr>
          </a:p>
          <a:p>
            <a:pPr marL="343080" indent="-342360">
              <a:lnSpc>
                <a:spcPct val="90000"/>
              </a:lnSpc>
            </a:pPr>
            <a:r>
              <a:rPr lang="en-US" sz="1600" spc="-1">
                <a:solidFill>
                  <a:srgbClr val="000000"/>
                </a:solidFill>
                <a:uFill>
                  <a:solidFill>
                    <a:srgbClr val="FFFFFF"/>
                  </a:solidFill>
                </a:uFill>
                <a:latin typeface="Courier New"/>
              </a:rPr>
              <a:t>    pos = (n-1) * 3</a:t>
            </a:r>
            <a:endParaRPr lang="en-US" spc="-1">
              <a:solidFill>
                <a:srgbClr val="000000"/>
              </a:solidFill>
              <a:uFill>
                <a:solidFill>
                  <a:srgbClr val="FFFFFF"/>
                </a:solidFill>
              </a:uFill>
              <a:latin typeface="Arial"/>
            </a:endParaRPr>
          </a:p>
          <a:p>
            <a:pPr marL="343080" indent="-342360">
              <a:lnSpc>
                <a:spcPct val="90000"/>
              </a:lnSpc>
            </a:pPr>
            <a:r>
              <a:rPr lang="en-US" sz="800" spc="-1">
                <a:solidFill>
                  <a:srgbClr val="000000"/>
                </a:solidFill>
                <a:uFill>
                  <a:solidFill>
                    <a:srgbClr val="FFFFFF"/>
                  </a:solidFill>
                </a:uFill>
                <a:latin typeface="Courier New"/>
              </a:rPr>
              <a:t>    </a:t>
            </a:r>
            <a:endParaRPr lang="en-US" spc="-1">
              <a:solidFill>
                <a:srgbClr val="000000"/>
              </a:solidFill>
              <a:uFill>
                <a:solidFill>
                  <a:srgbClr val="FFFFFF"/>
                </a:solidFill>
              </a:uFill>
              <a:latin typeface="Arial"/>
            </a:endParaRPr>
          </a:p>
          <a:p>
            <a:pPr marL="343080" indent="-342360">
              <a:lnSpc>
                <a:spcPct val="90000"/>
              </a:lnSpc>
            </a:pPr>
            <a:r>
              <a:rPr lang="en-US" sz="1600" spc="-1">
                <a:solidFill>
                  <a:srgbClr val="000000"/>
                </a:solidFill>
                <a:uFill>
                  <a:solidFill>
                    <a:srgbClr val="FFFFFF"/>
                  </a:solidFill>
                </a:uFill>
                <a:latin typeface="Courier New"/>
              </a:rPr>
              <a:t>    # Grab the appropriate slice from months</a:t>
            </a:r>
            <a:endParaRPr lang="en-US" spc="-1">
              <a:solidFill>
                <a:srgbClr val="000000"/>
              </a:solidFill>
              <a:uFill>
                <a:solidFill>
                  <a:srgbClr val="FFFFFF"/>
                </a:solidFill>
              </a:uFill>
              <a:latin typeface="Arial"/>
            </a:endParaRPr>
          </a:p>
          <a:p>
            <a:pPr marL="343080" indent="-342360">
              <a:lnSpc>
                <a:spcPct val="90000"/>
              </a:lnSpc>
            </a:pPr>
            <a:r>
              <a:rPr lang="en-US" sz="1600" spc="-1">
                <a:solidFill>
                  <a:srgbClr val="000000"/>
                </a:solidFill>
                <a:uFill>
                  <a:solidFill>
                    <a:srgbClr val="FFFFFF"/>
                  </a:solidFill>
                </a:uFill>
                <a:latin typeface="Courier New"/>
              </a:rPr>
              <a:t>    </a:t>
            </a:r>
            <a:r>
              <a:rPr lang="en-US" sz="1600" spc="-1" err="1">
                <a:solidFill>
                  <a:srgbClr val="000000"/>
                </a:solidFill>
                <a:uFill>
                  <a:solidFill>
                    <a:srgbClr val="FFFFFF"/>
                  </a:solidFill>
                </a:uFill>
                <a:latin typeface="Courier New"/>
              </a:rPr>
              <a:t>monthAbbrev</a:t>
            </a:r>
            <a:r>
              <a:rPr lang="en-US" sz="1600" spc="-1">
                <a:solidFill>
                  <a:srgbClr val="000000"/>
                </a:solidFill>
                <a:uFill>
                  <a:solidFill>
                    <a:srgbClr val="FFFFFF"/>
                  </a:solidFill>
                </a:uFill>
                <a:latin typeface="Courier New"/>
              </a:rPr>
              <a:t> = months[pos:pos+3]</a:t>
            </a:r>
            <a:endParaRPr lang="en-US" spc="-1">
              <a:solidFill>
                <a:srgbClr val="000000"/>
              </a:solidFill>
              <a:uFill>
                <a:solidFill>
                  <a:srgbClr val="FFFFFF"/>
                </a:solidFill>
              </a:uFill>
              <a:latin typeface="Arial"/>
            </a:endParaRPr>
          </a:p>
          <a:p>
            <a:pPr marL="343080" indent="-342360">
              <a:lnSpc>
                <a:spcPct val="90000"/>
              </a:lnSpc>
            </a:pPr>
            <a:endParaRPr lang="en-US" spc="-1">
              <a:solidFill>
                <a:srgbClr val="000000"/>
              </a:solidFill>
              <a:uFill>
                <a:solidFill>
                  <a:srgbClr val="FFFFFF"/>
                </a:solidFill>
              </a:uFill>
              <a:latin typeface="Arial"/>
            </a:endParaRPr>
          </a:p>
          <a:p>
            <a:pPr marL="343080" indent="-342360">
              <a:lnSpc>
                <a:spcPct val="90000"/>
              </a:lnSpc>
            </a:pPr>
            <a:r>
              <a:rPr lang="en-US" sz="1600" spc="-1">
                <a:solidFill>
                  <a:srgbClr val="000000"/>
                </a:solidFill>
                <a:uFill>
                  <a:solidFill>
                    <a:srgbClr val="FFFFFF"/>
                  </a:solidFill>
                </a:uFill>
                <a:latin typeface="Courier New"/>
              </a:rPr>
              <a:t>    # print the result    </a:t>
            </a:r>
            <a:endParaRPr lang="en-US" spc="-1">
              <a:solidFill>
                <a:srgbClr val="000000"/>
              </a:solidFill>
              <a:uFill>
                <a:solidFill>
                  <a:srgbClr val="FFFFFF"/>
                </a:solidFill>
              </a:uFill>
              <a:latin typeface="Arial"/>
            </a:endParaRPr>
          </a:p>
          <a:p>
            <a:pPr marL="343080" indent="-342360">
              <a:lnSpc>
                <a:spcPct val="90000"/>
              </a:lnSpc>
            </a:pPr>
            <a:r>
              <a:rPr lang="en-US" sz="1600" spc="-1">
                <a:solidFill>
                  <a:srgbClr val="000000"/>
                </a:solidFill>
                <a:uFill>
                  <a:solidFill>
                    <a:srgbClr val="FFFFFF"/>
                  </a:solidFill>
                </a:uFill>
                <a:latin typeface="Courier New"/>
              </a:rPr>
              <a:t>    print ("The month abbreviation is", </a:t>
            </a:r>
            <a:r>
              <a:rPr lang="en-US" sz="1600" spc="-1" err="1">
                <a:solidFill>
                  <a:srgbClr val="000000"/>
                </a:solidFill>
                <a:uFill>
                  <a:solidFill>
                    <a:srgbClr val="FFFFFF"/>
                  </a:solidFill>
                </a:uFill>
                <a:latin typeface="Courier New"/>
              </a:rPr>
              <a:t>monthAbbrev</a:t>
            </a:r>
            <a:r>
              <a:rPr lang="en-US" sz="1600" spc="-1">
                <a:solidFill>
                  <a:srgbClr val="000000"/>
                </a:solidFill>
                <a:uFill>
                  <a:solidFill>
                    <a:srgbClr val="FFFFFF"/>
                  </a:solidFill>
                </a:uFill>
                <a:latin typeface="Courier New"/>
              </a:rPr>
              <a:t> + ".")</a:t>
            </a:r>
            <a:endParaRPr lang="en-US" spc="-1">
              <a:solidFill>
                <a:srgbClr val="000000"/>
              </a:solidFill>
              <a:uFill>
                <a:solidFill>
                  <a:srgbClr val="FFFFFF"/>
                </a:solidFill>
              </a:uFill>
              <a:latin typeface="Arial"/>
            </a:endParaRPr>
          </a:p>
          <a:p>
            <a:pPr marL="343080" indent="-342360">
              <a:lnSpc>
                <a:spcPct val="90000"/>
              </a:lnSpc>
            </a:pP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288"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E68D6919-96AA-4064-AA9E-F62FC11A8B74}" type="slidenum">
              <a:rPr lang="en-US" sz="1400" spc="-1">
                <a:solidFill>
                  <a:srgbClr val="000000"/>
                </a:solidFill>
                <a:uFill>
                  <a:solidFill>
                    <a:srgbClr val="FFFFFF"/>
                  </a:solidFill>
                </a:uFill>
                <a:latin typeface="Tahoma"/>
              </a:rPr>
              <a:t>22</a:t>
            </a:fld>
            <a:endParaRPr lang="en-US" spc="-1">
              <a:solidFill>
                <a:srgbClr val="000000"/>
              </a:solidFill>
              <a:uFill>
                <a:solidFill>
                  <a:srgbClr val="FFFFFF"/>
                </a:solidFill>
              </a:uFill>
              <a:latin typeface="Arial"/>
            </a:endParaRPr>
          </a:p>
        </p:txBody>
      </p:sp>
      <p:sp>
        <p:nvSpPr>
          <p:cNvPr id="289"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Simple String Processing</a:t>
            </a:r>
            <a:endParaRPr lang="en-US" spc="-1">
              <a:solidFill>
                <a:srgbClr val="000000"/>
              </a:solidFill>
              <a:uFill>
                <a:solidFill>
                  <a:srgbClr val="FFFFFF"/>
                </a:solidFill>
              </a:uFill>
              <a:latin typeface="Arial"/>
            </a:endParaRPr>
          </a:p>
        </p:txBody>
      </p:sp>
      <p:sp>
        <p:nvSpPr>
          <p:cNvPr id="290"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r>
              <a:rPr lang="en-US" sz="2400" spc="-1">
                <a:solidFill>
                  <a:srgbClr val="000000"/>
                </a:solidFill>
                <a:uFill>
                  <a:solidFill>
                    <a:srgbClr val="FFFFFF"/>
                  </a:solidFill>
                </a:uFill>
                <a:latin typeface="Courier New"/>
              </a:rPr>
              <a:t>&gt;&gt;&gt; main()</a:t>
            </a:r>
            <a:endParaRPr lang="en-US" sz="2400" spc="-1">
              <a:solidFill>
                <a:srgbClr val="000000"/>
              </a:solidFill>
              <a:uFill>
                <a:solidFill>
                  <a:srgbClr val="FFFFFF"/>
                </a:solidFill>
              </a:uFill>
              <a:latin typeface="Arial"/>
            </a:endParaRPr>
          </a:p>
          <a:p>
            <a:pPr marL="343080" indent="-342360"/>
            <a:r>
              <a:rPr lang="en-US" sz="2400" spc="-1">
                <a:solidFill>
                  <a:srgbClr val="000000"/>
                </a:solidFill>
                <a:uFill>
                  <a:solidFill>
                    <a:srgbClr val="FFFFFF"/>
                  </a:solidFill>
                </a:uFill>
                <a:latin typeface="Courier New"/>
              </a:rPr>
              <a:t>Enter a month number (1-12): 1</a:t>
            </a:r>
            <a:endParaRPr lang="en-US" sz="2400" spc="-1">
              <a:solidFill>
                <a:srgbClr val="000000"/>
              </a:solidFill>
              <a:uFill>
                <a:solidFill>
                  <a:srgbClr val="FFFFFF"/>
                </a:solidFill>
              </a:uFill>
              <a:latin typeface="Arial"/>
            </a:endParaRPr>
          </a:p>
          <a:p>
            <a:pPr marL="343080" indent="-342360"/>
            <a:r>
              <a:rPr lang="en-US" sz="2400" spc="-1">
                <a:solidFill>
                  <a:srgbClr val="000000"/>
                </a:solidFill>
                <a:uFill>
                  <a:solidFill>
                    <a:srgbClr val="FFFFFF"/>
                  </a:solidFill>
                </a:uFill>
                <a:latin typeface="Courier New"/>
              </a:rPr>
              <a:t>The month abbreviation is Jan.</a:t>
            </a:r>
            <a:endParaRPr lang="en-US" sz="2400" spc="-1">
              <a:solidFill>
                <a:srgbClr val="000000"/>
              </a:solidFill>
              <a:uFill>
                <a:solidFill>
                  <a:srgbClr val="FFFFFF"/>
                </a:solidFill>
              </a:uFill>
              <a:latin typeface="Arial"/>
            </a:endParaRPr>
          </a:p>
          <a:p>
            <a:pPr marL="343080" indent="-342360"/>
            <a:r>
              <a:rPr lang="en-US" sz="2400" spc="-1">
                <a:solidFill>
                  <a:srgbClr val="000000"/>
                </a:solidFill>
                <a:uFill>
                  <a:solidFill>
                    <a:srgbClr val="FFFFFF"/>
                  </a:solidFill>
                </a:uFill>
                <a:latin typeface="Courier New"/>
              </a:rPr>
              <a:t>&gt;&gt;&gt; main()</a:t>
            </a:r>
            <a:endParaRPr lang="en-US" sz="2400" spc="-1">
              <a:solidFill>
                <a:srgbClr val="000000"/>
              </a:solidFill>
              <a:uFill>
                <a:solidFill>
                  <a:srgbClr val="FFFFFF"/>
                </a:solidFill>
              </a:uFill>
              <a:latin typeface="Arial"/>
            </a:endParaRPr>
          </a:p>
          <a:p>
            <a:pPr marL="343080" indent="-342360"/>
            <a:r>
              <a:rPr lang="en-US" sz="2400" spc="-1">
                <a:solidFill>
                  <a:srgbClr val="000000"/>
                </a:solidFill>
                <a:uFill>
                  <a:solidFill>
                    <a:srgbClr val="FFFFFF"/>
                  </a:solidFill>
                </a:uFill>
                <a:latin typeface="Courier New"/>
              </a:rPr>
              <a:t>Enter a month number (1-12): 12</a:t>
            </a:r>
            <a:endParaRPr lang="en-US" sz="2400" spc="-1">
              <a:solidFill>
                <a:srgbClr val="000000"/>
              </a:solidFill>
              <a:uFill>
                <a:solidFill>
                  <a:srgbClr val="FFFFFF"/>
                </a:solidFill>
              </a:uFill>
              <a:latin typeface="Arial"/>
            </a:endParaRPr>
          </a:p>
          <a:p>
            <a:pPr marL="343080" indent="-342360"/>
            <a:r>
              <a:rPr lang="en-US" sz="2400" spc="-1">
                <a:solidFill>
                  <a:srgbClr val="000000"/>
                </a:solidFill>
                <a:uFill>
                  <a:solidFill>
                    <a:srgbClr val="FFFFFF"/>
                  </a:solidFill>
                </a:uFill>
                <a:latin typeface="Courier New"/>
              </a:rPr>
              <a:t>The month abbreviation is Dec.</a:t>
            </a:r>
            <a:endParaRPr lang="en-US" sz="2400"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2800" spc="-1">
                <a:solidFill>
                  <a:srgbClr val="000000"/>
                </a:solidFill>
                <a:uFill>
                  <a:solidFill>
                    <a:srgbClr val="FFFFFF"/>
                  </a:solidFill>
                </a:uFill>
                <a:latin typeface="Tahoma"/>
              </a:rPr>
              <a:t>One weakness </a:t>
            </a:r>
            <a:r>
              <a:rPr lang="en-US" sz="2800" spc="-1">
                <a:solidFill>
                  <a:srgbClr val="000000"/>
                </a:solidFill>
                <a:uFill>
                  <a:solidFill>
                    <a:srgbClr val="FFFFFF"/>
                  </a:solidFill>
                </a:uFill>
                <a:latin typeface="Times New Roman"/>
              </a:rPr>
              <a:t>–</a:t>
            </a:r>
            <a:r>
              <a:rPr lang="en-US" sz="2800" spc="-1">
                <a:solidFill>
                  <a:srgbClr val="000000"/>
                </a:solidFill>
                <a:uFill>
                  <a:solidFill>
                    <a:srgbClr val="FFFFFF"/>
                  </a:solidFill>
                </a:uFill>
                <a:latin typeface="Tahoma"/>
              </a:rPr>
              <a:t> this method only works where the potential outputs all have the same length.</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2800" spc="-1">
                <a:solidFill>
                  <a:srgbClr val="000000"/>
                </a:solidFill>
                <a:uFill>
                  <a:solidFill>
                    <a:srgbClr val="FFFFFF"/>
                  </a:solidFill>
                </a:uFill>
                <a:latin typeface="Tahoma"/>
              </a:rPr>
              <a:t>How could you handle spelling out the months?</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324"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76E94F47-9386-43E3-B25B-49DFBE47D627}" type="slidenum">
              <a:rPr lang="en-US" sz="1400" spc="-1">
                <a:solidFill>
                  <a:srgbClr val="000000"/>
                </a:solidFill>
                <a:uFill>
                  <a:solidFill>
                    <a:srgbClr val="FFFFFF"/>
                  </a:solidFill>
                </a:uFill>
                <a:latin typeface="Tahoma"/>
              </a:rPr>
              <a:t>23</a:t>
            </a:fld>
            <a:endParaRPr lang="en-US" spc="-1">
              <a:solidFill>
                <a:srgbClr val="000000"/>
              </a:solidFill>
              <a:uFill>
                <a:solidFill>
                  <a:srgbClr val="FFFFFF"/>
                </a:solidFill>
              </a:uFill>
              <a:latin typeface="Arial"/>
            </a:endParaRPr>
          </a:p>
        </p:txBody>
      </p:sp>
      <p:sp>
        <p:nvSpPr>
          <p:cNvPr id="325"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String Representation</a:t>
            </a:r>
            <a:endParaRPr lang="en-US" spc="-1">
              <a:solidFill>
                <a:srgbClr val="000000"/>
              </a:solidFill>
              <a:uFill>
                <a:solidFill>
                  <a:srgbClr val="FFFFFF"/>
                </a:solidFill>
              </a:uFill>
              <a:latin typeface="Arial"/>
            </a:endParaRPr>
          </a:p>
        </p:txBody>
      </p:sp>
      <p:sp>
        <p:nvSpPr>
          <p:cNvPr id="326"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90000"/>
              </a:lnSpc>
              <a:buClr>
                <a:srgbClr val="3333CC"/>
              </a:buClr>
              <a:buSzPct val="60000"/>
              <a:buFont typeface="Wingdings" charset="2"/>
              <a:buChar char=""/>
            </a:pPr>
            <a:r>
              <a:rPr lang="en-US" sz="3200" spc="-1">
                <a:solidFill>
                  <a:srgbClr val="000000"/>
                </a:solidFill>
                <a:uFill>
                  <a:solidFill>
                    <a:srgbClr val="FFFFFF"/>
                  </a:solidFill>
                </a:uFill>
                <a:latin typeface="Tahoma"/>
              </a:rPr>
              <a:t>Inside the computer, strings are represented as sequences of 1</a:t>
            </a:r>
            <a:r>
              <a:rPr lang="en-US" sz="3200" spc="-1">
                <a:solidFill>
                  <a:srgbClr val="000000"/>
                </a:solidFill>
                <a:uFill>
                  <a:solidFill>
                    <a:srgbClr val="FFFFFF"/>
                  </a:solidFill>
                </a:uFill>
                <a:latin typeface="Times New Roman"/>
              </a:rPr>
              <a:t>’</a:t>
            </a:r>
            <a:r>
              <a:rPr lang="en-US" sz="3200" spc="-1">
                <a:solidFill>
                  <a:srgbClr val="000000"/>
                </a:solidFill>
                <a:uFill>
                  <a:solidFill>
                    <a:srgbClr val="FFFFFF"/>
                  </a:solidFill>
                </a:uFill>
                <a:latin typeface="Tahoma"/>
              </a:rPr>
              <a:t>s and 0</a:t>
            </a:r>
            <a:r>
              <a:rPr lang="en-US" sz="3200" spc="-1">
                <a:solidFill>
                  <a:srgbClr val="000000"/>
                </a:solidFill>
                <a:uFill>
                  <a:solidFill>
                    <a:srgbClr val="FFFFFF"/>
                  </a:solidFill>
                </a:uFill>
                <a:latin typeface="Times New Roman"/>
              </a:rPr>
              <a:t>’</a:t>
            </a:r>
            <a:r>
              <a:rPr lang="en-US" sz="3200" spc="-1">
                <a:solidFill>
                  <a:srgbClr val="000000"/>
                </a:solidFill>
                <a:uFill>
                  <a:solidFill>
                    <a:srgbClr val="FFFFFF"/>
                  </a:solidFill>
                </a:uFill>
                <a:latin typeface="Tahoma"/>
              </a:rPr>
              <a:t>s, just like numbers.</a:t>
            </a:r>
            <a:endParaRPr lang="en-US" spc="-1">
              <a:solidFill>
                <a:srgbClr val="000000"/>
              </a:solidFill>
              <a:uFill>
                <a:solidFill>
                  <a:srgbClr val="FFFFFF"/>
                </a:solidFill>
              </a:uFill>
              <a:latin typeface="Arial"/>
            </a:endParaRPr>
          </a:p>
          <a:p>
            <a:pPr marL="343080" indent="-342360">
              <a:lnSpc>
                <a:spcPct val="90000"/>
              </a:lnSpc>
              <a:buClr>
                <a:srgbClr val="3333CC"/>
              </a:buClr>
              <a:buSzPct val="60000"/>
              <a:buFont typeface="Wingdings" charset="2"/>
              <a:buChar char=""/>
            </a:pPr>
            <a:r>
              <a:rPr lang="en-US" sz="3200" spc="-1">
                <a:solidFill>
                  <a:srgbClr val="000000"/>
                </a:solidFill>
                <a:uFill>
                  <a:solidFill>
                    <a:srgbClr val="FFFFFF"/>
                  </a:solidFill>
                </a:uFill>
                <a:latin typeface="Tahoma"/>
              </a:rPr>
              <a:t>A string is stored as a sequence of binary numbers, one number per character.</a:t>
            </a:r>
            <a:endParaRPr lang="en-US" spc="-1">
              <a:solidFill>
                <a:srgbClr val="000000"/>
              </a:solidFill>
              <a:uFill>
                <a:solidFill>
                  <a:srgbClr val="FFFFFF"/>
                </a:solidFill>
              </a:uFill>
              <a:latin typeface="Arial"/>
            </a:endParaRPr>
          </a:p>
          <a:p>
            <a:pPr marL="343080" indent="-342360">
              <a:lnSpc>
                <a:spcPct val="90000"/>
              </a:lnSpc>
              <a:buClr>
                <a:srgbClr val="3333CC"/>
              </a:buClr>
              <a:buSzPct val="60000"/>
              <a:buFont typeface="Wingdings" charset="2"/>
              <a:buChar char=""/>
            </a:pPr>
            <a:r>
              <a:rPr lang="en-US" sz="3200" spc="-1">
                <a:solidFill>
                  <a:srgbClr val="000000"/>
                </a:solidFill>
                <a:uFill>
                  <a:solidFill>
                    <a:srgbClr val="FFFFFF"/>
                  </a:solidFill>
                </a:uFill>
                <a:latin typeface="Tahoma"/>
              </a:rPr>
              <a:t>It doesn</a:t>
            </a:r>
            <a:r>
              <a:rPr lang="en-US" sz="3200" spc="-1">
                <a:solidFill>
                  <a:srgbClr val="000000"/>
                </a:solidFill>
                <a:uFill>
                  <a:solidFill>
                    <a:srgbClr val="FFFFFF"/>
                  </a:solidFill>
                </a:uFill>
                <a:latin typeface="Times New Roman"/>
              </a:rPr>
              <a:t>’</a:t>
            </a:r>
            <a:r>
              <a:rPr lang="en-US" sz="3200" spc="-1">
                <a:solidFill>
                  <a:srgbClr val="000000"/>
                </a:solidFill>
                <a:uFill>
                  <a:solidFill>
                    <a:srgbClr val="FFFFFF"/>
                  </a:solidFill>
                </a:uFill>
                <a:latin typeface="Tahoma"/>
              </a:rPr>
              <a:t>t matter what value is assigned as long as it</a:t>
            </a:r>
            <a:r>
              <a:rPr lang="en-US" sz="3200" spc="-1">
                <a:solidFill>
                  <a:srgbClr val="000000"/>
                </a:solidFill>
                <a:uFill>
                  <a:solidFill>
                    <a:srgbClr val="FFFFFF"/>
                  </a:solidFill>
                </a:uFill>
                <a:latin typeface="Times New Roman"/>
              </a:rPr>
              <a:t>’</a:t>
            </a:r>
            <a:r>
              <a:rPr lang="en-US" sz="3200" spc="-1">
                <a:solidFill>
                  <a:srgbClr val="000000"/>
                </a:solidFill>
                <a:uFill>
                  <a:solidFill>
                    <a:srgbClr val="FFFFFF"/>
                  </a:solidFill>
                </a:uFill>
                <a:latin typeface="Tahoma"/>
              </a:rPr>
              <a:t>s done consistently.</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328"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1E6598F9-6EE8-4A99-BEFE-79A430AF869B}" type="slidenum">
              <a:rPr lang="en-US" sz="1400" spc="-1">
                <a:solidFill>
                  <a:srgbClr val="000000"/>
                </a:solidFill>
                <a:uFill>
                  <a:solidFill>
                    <a:srgbClr val="FFFFFF"/>
                  </a:solidFill>
                </a:uFill>
                <a:latin typeface="Tahoma"/>
              </a:rPr>
              <a:t>24</a:t>
            </a:fld>
            <a:endParaRPr lang="en-US" spc="-1">
              <a:solidFill>
                <a:srgbClr val="000000"/>
              </a:solidFill>
              <a:uFill>
                <a:solidFill>
                  <a:srgbClr val="FFFFFF"/>
                </a:solidFill>
              </a:uFill>
              <a:latin typeface="Arial"/>
            </a:endParaRPr>
          </a:p>
        </p:txBody>
      </p:sp>
      <p:sp>
        <p:nvSpPr>
          <p:cNvPr id="329"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String Representation</a:t>
            </a:r>
            <a:endParaRPr lang="en-US" spc="-1">
              <a:solidFill>
                <a:srgbClr val="000000"/>
              </a:solidFill>
              <a:uFill>
                <a:solidFill>
                  <a:srgbClr val="FFFFFF"/>
                </a:solidFill>
              </a:uFill>
              <a:latin typeface="Arial"/>
            </a:endParaRPr>
          </a:p>
        </p:txBody>
      </p:sp>
      <p:sp>
        <p:nvSpPr>
          <p:cNvPr id="330"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In the early days of computers, each manufacturer used their own encoding of numbers for characters.</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ASCII system (American Standard Code for Information Interchange) uses numbers between 0 and 127.</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Python supports Unicode (100,000+ characters)</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332"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237C823B-CC90-402D-9DFA-C67F3E567F5E}" type="slidenum">
              <a:rPr lang="en-US" sz="1400" spc="-1">
                <a:solidFill>
                  <a:srgbClr val="000000"/>
                </a:solidFill>
                <a:uFill>
                  <a:solidFill>
                    <a:srgbClr val="FFFFFF"/>
                  </a:solidFill>
                </a:uFill>
                <a:latin typeface="Tahoma"/>
              </a:rPr>
              <a:t>25</a:t>
            </a:fld>
            <a:endParaRPr lang="en-US" spc="-1">
              <a:solidFill>
                <a:srgbClr val="000000"/>
              </a:solidFill>
              <a:uFill>
                <a:solidFill>
                  <a:srgbClr val="FFFFFF"/>
                </a:solidFill>
              </a:uFill>
              <a:latin typeface="Arial"/>
            </a:endParaRPr>
          </a:p>
        </p:txBody>
      </p:sp>
      <p:sp>
        <p:nvSpPr>
          <p:cNvPr id="333"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String Representation</a:t>
            </a:r>
            <a:endParaRPr lang="en-US" spc="-1">
              <a:solidFill>
                <a:srgbClr val="000000"/>
              </a:solidFill>
              <a:uFill>
                <a:solidFill>
                  <a:srgbClr val="FFFFFF"/>
                </a:solidFill>
              </a:uFill>
              <a:latin typeface="Arial"/>
            </a:endParaRPr>
          </a:p>
        </p:txBody>
      </p:sp>
      <p:sp>
        <p:nvSpPr>
          <p:cNvPr id="334"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90000"/>
              </a:lnSpc>
              <a:buClr>
                <a:srgbClr val="3333CC"/>
              </a:buClr>
              <a:buSzPct val="60000"/>
              <a:buFont typeface="Wingdings" charset="2"/>
              <a:buChar char=""/>
            </a:pPr>
            <a:r>
              <a:rPr lang="en-US" sz="2800" spc="-1">
                <a:solidFill>
                  <a:srgbClr val="000000"/>
                </a:solidFill>
                <a:uFill>
                  <a:solidFill>
                    <a:srgbClr val="FFFFFF"/>
                  </a:solidFill>
                </a:uFill>
                <a:latin typeface="Tahoma"/>
              </a:rPr>
              <a:t>The </a:t>
            </a:r>
            <a:r>
              <a:rPr lang="en-US" sz="2800" i="1" spc="-1" err="1">
                <a:solidFill>
                  <a:srgbClr val="000000"/>
                </a:solidFill>
                <a:uFill>
                  <a:solidFill>
                    <a:srgbClr val="FFFFFF"/>
                  </a:solidFill>
                </a:uFill>
                <a:latin typeface="Tahoma"/>
              </a:rPr>
              <a:t>ord</a:t>
            </a:r>
            <a:r>
              <a:rPr lang="en-US" sz="2800" spc="-1">
                <a:solidFill>
                  <a:srgbClr val="000000"/>
                </a:solidFill>
                <a:uFill>
                  <a:solidFill>
                    <a:srgbClr val="FFFFFF"/>
                  </a:solidFill>
                </a:uFill>
                <a:latin typeface="Tahoma"/>
              </a:rPr>
              <a:t> function returns the numeric (ordinal) code of a single character.</a:t>
            </a:r>
            <a:endParaRPr lang="en-US" spc="-1">
              <a:solidFill>
                <a:srgbClr val="000000"/>
              </a:solidFill>
              <a:uFill>
                <a:solidFill>
                  <a:srgbClr val="FFFFFF"/>
                </a:solidFill>
              </a:uFill>
              <a:latin typeface="Arial"/>
            </a:endParaRPr>
          </a:p>
          <a:p>
            <a:pPr marL="343080" indent="-342360">
              <a:lnSpc>
                <a:spcPct val="90000"/>
              </a:lnSpc>
              <a:buClr>
                <a:srgbClr val="3333CC"/>
              </a:buClr>
              <a:buSzPct val="60000"/>
              <a:buFont typeface="Wingdings" charset="2"/>
              <a:buChar char=""/>
            </a:pPr>
            <a:r>
              <a:rPr lang="en-US" sz="2800" spc="-1">
                <a:solidFill>
                  <a:srgbClr val="000000"/>
                </a:solidFill>
                <a:uFill>
                  <a:solidFill>
                    <a:srgbClr val="FFFFFF"/>
                  </a:solidFill>
                </a:uFill>
                <a:latin typeface="Tahoma"/>
              </a:rPr>
              <a:t>The </a:t>
            </a:r>
            <a:r>
              <a:rPr lang="en-US" sz="2800" i="1" spc="-1">
                <a:solidFill>
                  <a:srgbClr val="000000"/>
                </a:solidFill>
                <a:uFill>
                  <a:solidFill>
                    <a:srgbClr val="FFFFFF"/>
                  </a:solidFill>
                </a:uFill>
                <a:latin typeface="Tahoma"/>
              </a:rPr>
              <a:t>chr</a:t>
            </a:r>
            <a:r>
              <a:rPr lang="en-US" sz="2800" spc="-1">
                <a:solidFill>
                  <a:srgbClr val="000000"/>
                </a:solidFill>
                <a:uFill>
                  <a:solidFill>
                    <a:srgbClr val="FFFFFF"/>
                  </a:solidFill>
                </a:uFill>
                <a:latin typeface="Tahoma"/>
              </a:rPr>
              <a:t> function converts a numeric code to the corresponding character.</a:t>
            </a:r>
            <a:endParaRPr lang="en-US" spc="-1">
              <a:solidFill>
                <a:srgbClr val="000000"/>
              </a:solidFill>
              <a:uFill>
                <a:solidFill>
                  <a:srgbClr val="FFFFFF"/>
                </a:solidFill>
              </a:uFill>
              <a:latin typeface="Arial"/>
            </a:endParaRPr>
          </a:p>
          <a:p>
            <a:pPr marL="343080" indent="-342360">
              <a:lnSpc>
                <a:spcPct val="90000"/>
              </a:lnSpc>
            </a:pPr>
            <a:r>
              <a:rPr lang="en-US" sz="2000" spc="-1">
                <a:solidFill>
                  <a:srgbClr val="000000"/>
                </a:solidFill>
                <a:uFill>
                  <a:solidFill>
                    <a:srgbClr val="FFFFFF"/>
                  </a:solidFill>
                </a:uFill>
                <a:latin typeface="Courier New"/>
              </a:rPr>
              <a:t>&gt;&gt;&gt; </a:t>
            </a:r>
            <a:r>
              <a:rPr lang="en-US" sz="2000" spc="-1" err="1">
                <a:solidFill>
                  <a:srgbClr val="000000"/>
                </a:solidFill>
                <a:uFill>
                  <a:solidFill>
                    <a:srgbClr val="FFFFFF"/>
                  </a:solidFill>
                </a:uFill>
                <a:latin typeface="Courier New"/>
              </a:rPr>
              <a:t>ord</a:t>
            </a:r>
            <a:r>
              <a:rPr lang="en-US" sz="2000" spc="-1">
                <a:solidFill>
                  <a:srgbClr val="000000"/>
                </a:solidFill>
                <a:uFill>
                  <a:solidFill>
                    <a:srgbClr val="FFFFFF"/>
                  </a:solidFill>
                </a:uFill>
                <a:latin typeface="Courier New"/>
              </a:rPr>
              <a:t>("A")</a:t>
            </a:r>
            <a:endParaRPr lang="en-US" spc="-1">
              <a:solidFill>
                <a:srgbClr val="000000"/>
              </a:solidFill>
              <a:uFill>
                <a:solidFill>
                  <a:srgbClr val="FFFFFF"/>
                </a:solidFill>
              </a:uFill>
              <a:latin typeface="Arial"/>
            </a:endParaRPr>
          </a:p>
          <a:p>
            <a:pPr marL="343080" indent="-342360">
              <a:lnSpc>
                <a:spcPct val="90000"/>
              </a:lnSpc>
            </a:pPr>
            <a:r>
              <a:rPr lang="en-US" sz="2000" spc="-1">
                <a:solidFill>
                  <a:srgbClr val="000000"/>
                </a:solidFill>
                <a:uFill>
                  <a:solidFill>
                    <a:srgbClr val="FFFFFF"/>
                  </a:solidFill>
                </a:uFill>
                <a:latin typeface="Courier New"/>
              </a:rPr>
              <a:t>65</a:t>
            </a:r>
            <a:endParaRPr lang="en-US" spc="-1">
              <a:solidFill>
                <a:srgbClr val="000000"/>
              </a:solidFill>
              <a:uFill>
                <a:solidFill>
                  <a:srgbClr val="FFFFFF"/>
                </a:solidFill>
              </a:uFill>
              <a:latin typeface="Arial"/>
            </a:endParaRPr>
          </a:p>
          <a:p>
            <a:pPr marL="343080" indent="-342360">
              <a:lnSpc>
                <a:spcPct val="90000"/>
              </a:lnSpc>
            </a:pPr>
            <a:r>
              <a:rPr lang="en-US" sz="2000" spc="-1">
                <a:solidFill>
                  <a:srgbClr val="000000"/>
                </a:solidFill>
                <a:uFill>
                  <a:solidFill>
                    <a:srgbClr val="FFFFFF"/>
                  </a:solidFill>
                </a:uFill>
                <a:latin typeface="Courier New"/>
              </a:rPr>
              <a:t>&gt;&gt;&gt; </a:t>
            </a:r>
            <a:r>
              <a:rPr lang="en-US" sz="2000" spc="-1" err="1">
                <a:solidFill>
                  <a:srgbClr val="000000"/>
                </a:solidFill>
                <a:uFill>
                  <a:solidFill>
                    <a:srgbClr val="FFFFFF"/>
                  </a:solidFill>
                </a:uFill>
                <a:latin typeface="Courier New"/>
              </a:rPr>
              <a:t>ord</a:t>
            </a:r>
            <a:r>
              <a:rPr lang="en-US" sz="2000" spc="-1">
                <a:solidFill>
                  <a:srgbClr val="000000"/>
                </a:solidFill>
                <a:uFill>
                  <a:solidFill>
                    <a:srgbClr val="FFFFFF"/>
                  </a:solidFill>
                </a:uFill>
                <a:latin typeface="Courier New"/>
              </a:rPr>
              <a:t>("a")</a:t>
            </a:r>
            <a:endParaRPr lang="en-US" spc="-1">
              <a:solidFill>
                <a:srgbClr val="000000"/>
              </a:solidFill>
              <a:uFill>
                <a:solidFill>
                  <a:srgbClr val="FFFFFF"/>
                </a:solidFill>
              </a:uFill>
              <a:latin typeface="Arial"/>
            </a:endParaRPr>
          </a:p>
          <a:p>
            <a:pPr marL="343080" indent="-342360">
              <a:lnSpc>
                <a:spcPct val="90000"/>
              </a:lnSpc>
            </a:pPr>
            <a:r>
              <a:rPr lang="en-US" sz="2000" spc="-1">
                <a:solidFill>
                  <a:srgbClr val="000000"/>
                </a:solidFill>
                <a:uFill>
                  <a:solidFill>
                    <a:srgbClr val="FFFFFF"/>
                  </a:solidFill>
                </a:uFill>
                <a:latin typeface="Courier New"/>
              </a:rPr>
              <a:t>97</a:t>
            </a:r>
            <a:endParaRPr lang="en-US" spc="-1">
              <a:solidFill>
                <a:srgbClr val="000000"/>
              </a:solidFill>
              <a:uFill>
                <a:solidFill>
                  <a:srgbClr val="FFFFFF"/>
                </a:solidFill>
              </a:uFill>
              <a:latin typeface="Arial"/>
            </a:endParaRPr>
          </a:p>
          <a:p>
            <a:pPr marL="343080" indent="-342360">
              <a:lnSpc>
                <a:spcPct val="90000"/>
              </a:lnSpc>
            </a:pPr>
            <a:r>
              <a:rPr lang="en-US" sz="2000" spc="-1">
                <a:solidFill>
                  <a:srgbClr val="000000"/>
                </a:solidFill>
                <a:uFill>
                  <a:solidFill>
                    <a:srgbClr val="FFFFFF"/>
                  </a:solidFill>
                </a:uFill>
                <a:latin typeface="Courier New"/>
              </a:rPr>
              <a:t>&gt;&gt;&gt; chr(97)</a:t>
            </a:r>
            <a:endParaRPr lang="en-US" spc="-1">
              <a:solidFill>
                <a:srgbClr val="000000"/>
              </a:solidFill>
              <a:uFill>
                <a:solidFill>
                  <a:srgbClr val="FFFFFF"/>
                </a:solidFill>
              </a:uFill>
              <a:latin typeface="Arial"/>
            </a:endParaRPr>
          </a:p>
          <a:p>
            <a:pPr marL="343080" indent="-342360">
              <a:lnSpc>
                <a:spcPct val="90000"/>
              </a:lnSpc>
            </a:pPr>
            <a:r>
              <a:rPr lang="en-US" sz="2000" spc="-1">
                <a:solidFill>
                  <a:srgbClr val="000000"/>
                </a:solidFill>
                <a:uFill>
                  <a:solidFill>
                    <a:srgbClr val="FFFFFF"/>
                  </a:solidFill>
                </a:uFill>
                <a:latin typeface="Courier New"/>
              </a:rPr>
              <a:t>'a'</a:t>
            </a:r>
            <a:endParaRPr lang="en-US" spc="-1">
              <a:solidFill>
                <a:srgbClr val="000000"/>
              </a:solidFill>
              <a:uFill>
                <a:solidFill>
                  <a:srgbClr val="FFFFFF"/>
                </a:solidFill>
              </a:uFill>
              <a:latin typeface="Arial"/>
            </a:endParaRPr>
          </a:p>
          <a:p>
            <a:pPr marL="343080" indent="-342360">
              <a:lnSpc>
                <a:spcPct val="90000"/>
              </a:lnSpc>
            </a:pPr>
            <a:r>
              <a:rPr lang="en-US" sz="2000" spc="-1">
                <a:solidFill>
                  <a:srgbClr val="000000"/>
                </a:solidFill>
                <a:uFill>
                  <a:solidFill>
                    <a:srgbClr val="FFFFFF"/>
                  </a:solidFill>
                </a:uFill>
                <a:latin typeface="Courier New"/>
              </a:rPr>
              <a:t>&gt;&gt;&gt; chr(65)</a:t>
            </a:r>
            <a:endParaRPr lang="en-US" spc="-1">
              <a:solidFill>
                <a:srgbClr val="000000"/>
              </a:solidFill>
              <a:uFill>
                <a:solidFill>
                  <a:srgbClr val="FFFFFF"/>
                </a:solidFill>
              </a:uFill>
              <a:latin typeface="Arial"/>
            </a:endParaRPr>
          </a:p>
          <a:p>
            <a:pPr marL="343080" indent="-342360">
              <a:lnSpc>
                <a:spcPct val="90000"/>
              </a:lnSpc>
            </a:pPr>
            <a:r>
              <a:rPr lang="en-US" sz="2000" spc="-1">
                <a:solidFill>
                  <a:srgbClr val="000000"/>
                </a:solidFill>
                <a:uFill>
                  <a:solidFill>
                    <a:srgbClr val="FFFFFF"/>
                  </a:solidFill>
                </a:uFill>
                <a:latin typeface="Courier New"/>
              </a:rPr>
              <a:t>'A'</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F0C3A-1885-A3E0-E920-4813F1BDEFCA}"/>
              </a:ext>
            </a:extLst>
          </p:cNvPr>
          <p:cNvSpPr>
            <a:spLocks noGrp="1"/>
          </p:cNvSpPr>
          <p:nvPr>
            <p:ph type="title"/>
          </p:nvPr>
        </p:nvSpPr>
        <p:spPr>
          <a:xfrm>
            <a:off x="2905124" y="273600"/>
            <a:ext cx="8676795" cy="1144800"/>
          </a:xfrm>
        </p:spPr>
        <p:txBody>
          <a:bodyPr/>
          <a:lstStyle/>
          <a:p>
            <a:r>
              <a:rPr lang="en-US"/>
              <a:t>String Representation</a:t>
            </a:r>
          </a:p>
        </p:txBody>
      </p:sp>
      <p:sp>
        <p:nvSpPr>
          <p:cNvPr id="3" name="Subtitle 2">
            <a:extLst>
              <a:ext uri="{FF2B5EF4-FFF2-40B4-BE49-F238E27FC236}">
                <a16:creationId xmlns:a16="http://schemas.microsoft.com/office/drawing/2014/main" id="{CFBC62C0-9EE5-B2DE-2CFB-3C3842091473}"/>
              </a:ext>
            </a:extLst>
          </p:cNvPr>
          <p:cNvSpPr>
            <a:spLocks noGrp="1"/>
          </p:cNvSpPr>
          <p:nvPr>
            <p:ph type="subTitle"/>
          </p:nvPr>
        </p:nvSpPr>
        <p:spPr>
          <a:xfrm>
            <a:off x="1508760" y="3566160"/>
            <a:ext cx="9171432" cy="2660904"/>
          </a:xfrm>
        </p:spPr>
        <p:txBody>
          <a:bodyPr/>
          <a:lstStyle/>
          <a:p>
            <a:r>
              <a:rPr lang="en-US" sz="2800"/>
              <a:t>The smallest addressable memory unit is generally 8 bits, called a byte.</a:t>
            </a:r>
          </a:p>
          <a:p>
            <a:r>
              <a:rPr lang="en-US" sz="2800"/>
              <a:t>8 bits can be used to encode up to 256 values, more than enough for ASCII.</a:t>
            </a:r>
          </a:p>
          <a:p>
            <a:r>
              <a:rPr lang="en-US" sz="2800"/>
              <a:t>Unicode is different in that it uses various encoding schemes to pack Unicode characters into sequences of bytes.</a:t>
            </a:r>
          </a:p>
          <a:p>
            <a:r>
              <a:rPr lang="en-US" sz="2800"/>
              <a:t>The most common encoding used for this is called UTF-8. UTF-8 uses between one (for Latin alphabets) and four bytes for some of the more exotic characters.</a:t>
            </a:r>
          </a:p>
        </p:txBody>
      </p:sp>
    </p:spTree>
    <p:extLst>
      <p:ext uri="{BB962C8B-B14F-4D97-AF65-F5344CB8AC3E}">
        <p14:creationId xmlns:p14="http://schemas.microsoft.com/office/powerpoint/2010/main" val="21001788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336"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FABFF933-1859-418B-BB86-98AD3DC1D69B}" type="slidenum">
              <a:rPr lang="en-US" sz="1400" spc="-1">
                <a:solidFill>
                  <a:srgbClr val="000000"/>
                </a:solidFill>
                <a:uFill>
                  <a:solidFill>
                    <a:srgbClr val="FFFFFF"/>
                  </a:solidFill>
                </a:uFill>
                <a:latin typeface="Tahoma"/>
              </a:rPr>
              <a:t>27</a:t>
            </a:fld>
            <a:endParaRPr lang="en-US" spc="-1">
              <a:solidFill>
                <a:srgbClr val="000000"/>
              </a:solidFill>
              <a:uFill>
                <a:solidFill>
                  <a:srgbClr val="FFFFFF"/>
                </a:solidFill>
              </a:uFill>
              <a:latin typeface="Arial"/>
            </a:endParaRPr>
          </a:p>
        </p:txBody>
      </p:sp>
      <p:sp>
        <p:nvSpPr>
          <p:cNvPr id="337"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Programming an Encoder</a:t>
            </a:r>
            <a:endParaRPr lang="en-US" spc="-1">
              <a:solidFill>
                <a:srgbClr val="000000"/>
              </a:solidFill>
              <a:uFill>
                <a:solidFill>
                  <a:srgbClr val="FFFFFF"/>
                </a:solidFill>
              </a:uFill>
              <a:latin typeface="Arial"/>
            </a:endParaRPr>
          </a:p>
        </p:txBody>
      </p:sp>
      <p:sp>
        <p:nvSpPr>
          <p:cNvPr id="338" name="CustomShape 4"/>
          <p:cNvSpPr/>
          <p:nvPr/>
        </p:nvSpPr>
        <p:spPr>
          <a:xfrm>
            <a:off x="2057520" y="2017800"/>
            <a:ext cx="860976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90000"/>
              </a:lnSpc>
              <a:buClr>
                <a:srgbClr val="3333CC"/>
              </a:buClr>
              <a:buSzPct val="60000"/>
              <a:buFont typeface="Wingdings" charset="2"/>
              <a:buChar char=""/>
            </a:pPr>
            <a:r>
              <a:rPr lang="en-US" sz="3200" spc="-1">
                <a:solidFill>
                  <a:srgbClr val="000000"/>
                </a:solidFill>
                <a:uFill>
                  <a:solidFill>
                    <a:srgbClr val="FFFFFF"/>
                  </a:solidFill>
                </a:uFill>
                <a:latin typeface="Tahoma"/>
              </a:rPr>
              <a:t>Using </a:t>
            </a:r>
            <a:r>
              <a:rPr lang="en-US" sz="2800" spc="-1" err="1">
                <a:solidFill>
                  <a:srgbClr val="000000"/>
                </a:solidFill>
                <a:uFill>
                  <a:solidFill>
                    <a:srgbClr val="FFFFFF"/>
                  </a:solidFill>
                </a:uFill>
                <a:latin typeface="Courier New" panose="02070309020205020404" pitchFamily="49" charset="0"/>
                <a:cs typeface="Courier New" panose="02070309020205020404" pitchFamily="49" charset="0"/>
              </a:rPr>
              <a:t>ord</a:t>
            </a:r>
            <a:r>
              <a:rPr lang="en-US" sz="3200" spc="-1">
                <a:solidFill>
                  <a:srgbClr val="000000"/>
                </a:solidFill>
                <a:uFill>
                  <a:solidFill>
                    <a:srgbClr val="FFFFFF"/>
                  </a:solidFill>
                </a:uFill>
                <a:latin typeface="Tahoma"/>
              </a:rPr>
              <a:t> and </a:t>
            </a:r>
            <a:r>
              <a:rPr lang="en-US" sz="2800" spc="-1">
                <a:solidFill>
                  <a:srgbClr val="000000"/>
                </a:solidFill>
                <a:uFill>
                  <a:solidFill>
                    <a:srgbClr val="FFFFFF"/>
                  </a:solidFill>
                </a:uFill>
                <a:latin typeface="Courier New" panose="02070309020205020404" pitchFamily="49" charset="0"/>
                <a:cs typeface="Courier New" panose="02070309020205020404" pitchFamily="49" charset="0"/>
              </a:rPr>
              <a:t>char</a:t>
            </a:r>
            <a:r>
              <a:rPr lang="en-US" sz="3200" spc="-1">
                <a:solidFill>
                  <a:srgbClr val="000000"/>
                </a:solidFill>
                <a:uFill>
                  <a:solidFill>
                    <a:srgbClr val="FFFFFF"/>
                  </a:solidFill>
                </a:uFill>
                <a:latin typeface="Tahoma"/>
              </a:rPr>
              <a:t> we can convert a string into and out of numeric form.</a:t>
            </a:r>
            <a:endParaRPr lang="en-US" spc="-1">
              <a:solidFill>
                <a:srgbClr val="000000"/>
              </a:solidFill>
              <a:uFill>
                <a:solidFill>
                  <a:srgbClr val="FFFFFF"/>
                </a:solidFill>
              </a:uFill>
              <a:latin typeface="Arial"/>
            </a:endParaRPr>
          </a:p>
          <a:p>
            <a:pPr marL="343080" indent="-342360">
              <a:lnSpc>
                <a:spcPct val="90000"/>
              </a:lnSpc>
              <a:buClr>
                <a:srgbClr val="3333CC"/>
              </a:buClr>
              <a:buSzPct val="60000"/>
              <a:buFont typeface="Wingdings" charset="2"/>
              <a:buChar char=""/>
            </a:pPr>
            <a:r>
              <a:rPr lang="en-US" sz="3200" spc="-1">
                <a:solidFill>
                  <a:srgbClr val="000000"/>
                </a:solidFill>
                <a:uFill>
                  <a:solidFill>
                    <a:srgbClr val="FFFFFF"/>
                  </a:solidFill>
                </a:uFill>
                <a:latin typeface="Tahoma"/>
              </a:rPr>
              <a:t>The encoding algorithm is simple:</a:t>
            </a:r>
            <a:br>
              <a:rPr lang="en-US" spc="-1">
                <a:solidFill>
                  <a:srgbClr val="000000"/>
                </a:solidFill>
                <a:uFill>
                  <a:solidFill>
                    <a:srgbClr val="FFFFFF"/>
                  </a:solidFill>
                </a:uFill>
                <a:latin typeface="Arial"/>
              </a:rPr>
            </a:br>
            <a:r>
              <a:rPr lang="en-US" sz="2400" spc="-1">
                <a:solidFill>
                  <a:srgbClr val="000000"/>
                </a:solidFill>
                <a:uFill>
                  <a:solidFill>
                    <a:srgbClr val="FFFFFF"/>
                  </a:solidFill>
                </a:uFill>
                <a:latin typeface="Courier New"/>
              </a:rPr>
              <a:t>get the message to encode</a:t>
            </a:r>
            <a:br>
              <a:rPr lang="en-US" sz="2400" spc="-1">
                <a:solidFill>
                  <a:srgbClr val="000000"/>
                </a:solidFill>
                <a:uFill>
                  <a:solidFill>
                    <a:srgbClr val="FFFFFF"/>
                  </a:solidFill>
                </a:uFill>
                <a:latin typeface="Arial"/>
              </a:rPr>
            </a:br>
            <a:r>
              <a:rPr lang="en-US" sz="2400" spc="-1">
                <a:solidFill>
                  <a:srgbClr val="000000"/>
                </a:solidFill>
                <a:uFill>
                  <a:solidFill>
                    <a:srgbClr val="FFFFFF"/>
                  </a:solidFill>
                </a:uFill>
                <a:latin typeface="Courier New"/>
              </a:rPr>
              <a:t>for each character in the message:</a:t>
            </a:r>
            <a:endParaRPr lang="en-US" sz="2400" spc="-1">
              <a:solidFill>
                <a:srgbClr val="000000"/>
              </a:solidFill>
              <a:uFill>
                <a:solidFill>
                  <a:srgbClr val="FFFFFF"/>
                </a:solidFill>
              </a:uFill>
              <a:latin typeface="Arial"/>
            </a:endParaRPr>
          </a:p>
          <a:p>
            <a:pPr marL="720">
              <a:lnSpc>
                <a:spcPct val="90000"/>
              </a:lnSpc>
              <a:buClr>
                <a:srgbClr val="3333CC"/>
              </a:buClr>
              <a:buSzPct val="60000"/>
            </a:pPr>
            <a:r>
              <a:rPr lang="en-US" sz="2400" spc="-1">
                <a:solidFill>
                  <a:srgbClr val="000000"/>
                </a:solidFill>
                <a:uFill>
                  <a:solidFill>
                    <a:srgbClr val="FFFFFF"/>
                  </a:solidFill>
                </a:uFill>
                <a:latin typeface="Courier New"/>
              </a:rPr>
              <a:t>    print the letter number of the character</a:t>
            </a:r>
            <a:endParaRPr lang="en-US" sz="2400" spc="-1">
              <a:solidFill>
                <a:srgbClr val="000000"/>
              </a:solidFill>
              <a:uFill>
                <a:solidFill>
                  <a:srgbClr val="FFFFFF"/>
                </a:solidFill>
              </a:uFill>
              <a:latin typeface="Arial"/>
            </a:endParaRPr>
          </a:p>
          <a:p>
            <a:pPr marL="343080" indent="-342360">
              <a:lnSpc>
                <a:spcPct val="90000"/>
              </a:lnSpc>
              <a:buClr>
                <a:srgbClr val="3333CC"/>
              </a:buClr>
              <a:buSzPct val="60000"/>
              <a:buFont typeface="Wingdings" charset="2"/>
              <a:buChar char=""/>
            </a:pPr>
            <a:r>
              <a:rPr lang="en-US" sz="3200" spc="-1">
                <a:solidFill>
                  <a:srgbClr val="000000"/>
                </a:solidFill>
                <a:uFill>
                  <a:solidFill>
                    <a:srgbClr val="FFFFFF"/>
                  </a:solidFill>
                </a:uFill>
                <a:latin typeface="Tahoma"/>
              </a:rPr>
              <a:t>A </a:t>
            </a:r>
            <a:r>
              <a:rPr lang="en-US" sz="2800" spc="-1">
                <a:solidFill>
                  <a:srgbClr val="000000"/>
                </a:solidFill>
                <a:uFill>
                  <a:solidFill>
                    <a:srgbClr val="FFFFFF"/>
                  </a:solidFill>
                </a:uFill>
                <a:latin typeface="Courier New"/>
              </a:rPr>
              <a:t>for</a:t>
            </a:r>
            <a:r>
              <a:rPr lang="en-US" sz="3200" spc="-1">
                <a:solidFill>
                  <a:srgbClr val="000000"/>
                </a:solidFill>
                <a:uFill>
                  <a:solidFill>
                    <a:srgbClr val="FFFFFF"/>
                  </a:solidFill>
                </a:uFill>
                <a:latin typeface="Tahoma"/>
              </a:rPr>
              <a:t> loop iterates over a sequence of objects, so the for loop looks like:</a:t>
            </a:r>
            <a:endParaRPr lang="en-US" spc="-1">
              <a:solidFill>
                <a:srgbClr val="000000"/>
              </a:solidFill>
              <a:uFill>
                <a:solidFill>
                  <a:srgbClr val="FFFFFF"/>
                </a:solidFill>
              </a:uFill>
              <a:latin typeface="Arial"/>
            </a:endParaRPr>
          </a:p>
          <a:p>
            <a:pPr marL="720">
              <a:lnSpc>
                <a:spcPct val="90000"/>
              </a:lnSpc>
              <a:buClr>
                <a:srgbClr val="3333CC"/>
              </a:buClr>
              <a:buSzPct val="60000"/>
            </a:pPr>
            <a:r>
              <a:rPr lang="en-US" sz="2800" spc="-1">
                <a:solidFill>
                  <a:srgbClr val="000000"/>
                </a:solidFill>
                <a:uFill>
                  <a:solidFill>
                    <a:srgbClr val="FFFFFF"/>
                  </a:solidFill>
                </a:uFill>
                <a:latin typeface="Courier New"/>
              </a:rPr>
              <a:t> for </a:t>
            </a:r>
            <a:r>
              <a:rPr lang="en-US" sz="2800" spc="-1" err="1">
                <a:solidFill>
                  <a:srgbClr val="000000"/>
                </a:solidFill>
                <a:uFill>
                  <a:solidFill>
                    <a:srgbClr val="FFFFFF"/>
                  </a:solidFill>
                </a:uFill>
                <a:latin typeface="Courier New"/>
              </a:rPr>
              <a:t>ch</a:t>
            </a:r>
            <a:r>
              <a:rPr lang="en-US" sz="2800" spc="-1">
                <a:solidFill>
                  <a:srgbClr val="000000"/>
                </a:solidFill>
                <a:uFill>
                  <a:solidFill>
                    <a:srgbClr val="FFFFFF"/>
                  </a:solidFill>
                </a:uFill>
                <a:latin typeface="Courier New"/>
              </a:rPr>
              <a:t> in &lt;string&gt;</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340"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049E6395-E716-43DB-8849-12B35EA82BB7}" type="slidenum">
              <a:rPr lang="en-US" sz="1400" spc="-1">
                <a:solidFill>
                  <a:srgbClr val="000000"/>
                </a:solidFill>
                <a:uFill>
                  <a:solidFill>
                    <a:srgbClr val="FFFFFF"/>
                  </a:solidFill>
                </a:uFill>
                <a:latin typeface="Tahoma"/>
              </a:rPr>
              <a:t>28</a:t>
            </a:fld>
            <a:endParaRPr lang="en-US" spc="-1">
              <a:solidFill>
                <a:srgbClr val="000000"/>
              </a:solidFill>
              <a:uFill>
                <a:solidFill>
                  <a:srgbClr val="FFFFFF"/>
                </a:solidFill>
              </a:uFill>
              <a:latin typeface="Arial"/>
            </a:endParaRPr>
          </a:p>
        </p:txBody>
      </p:sp>
      <p:sp>
        <p:nvSpPr>
          <p:cNvPr id="341"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Programming an Encoder</a:t>
            </a:r>
            <a:endParaRPr lang="en-US" spc="-1">
              <a:solidFill>
                <a:srgbClr val="000000"/>
              </a:solidFill>
              <a:uFill>
                <a:solidFill>
                  <a:srgbClr val="FFFFFF"/>
                </a:solidFill>
              </a:uFill>
              <a:latin typeface="Arial"/>
            </a:endParaRPr>
          </a:p>
        </p:txBody>
      </p:sp>
      <p:sp>
        <p:nvSpPr>
          <p:cNvPr id="342" name="CustomShape 4"/>
          <p:cNvSpPr/>
          <p:nvPr/>
        </p:nvSpPr>
        <p:spPr>
          <a:xfrm>
            <a:off x="2209800" y="2017800"/>
            <a:ext cx="82684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90000"/>
              </a:lnSpc>
            </a:pPr>
            <a:r>
              <a:rPr lang="en-US" sz="1400" spc="-1">
                <a:solidFill>
                  <a:srgbClr val="000000"/>
                </a:solidFill>
                <a:uFill>
                  <a:solidFill>
                    <a:srgbClr val="FFFFFF"/>
                  </a:solidFill>
                </a:uFill>
                <a:latin typeface="Courier New"/>
              </a:rPr>
              <a:t># text2numbers.py</a:t>
            </a: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     A program to convert a textual message into a sequence of</a:t>
            </a: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         numbers, utlilizing the underlying Unicode encoding.</a:t>
            </a:r>
            <a:endParaRPr lang="en-US" spc="-1">
              <a:solidFill>
                <a:srgbClr val="000000"/>
              </a:solidFill>
              <a:uFill>
                <a:solidFill>
                  <a:srgbClr val="FFFFFF"/>
                </a:solidFill>
              </a:uFill>
              <a:latin typeface="Arial"/>
            </a:endParaRPr>
          </a:p>
          <a:p>
            <a:pPr marL="343080" indent="-342360">
              <a:lnSpc>
                <a:spcPct val="90000"/>
              </a:lnSpc>
            </a:pP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def main():</a:t>
            </a: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    print("This program converts a textual message into a sequence")</a:t>
            </a: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    print ("of numbers representing the Unicode encoding of the message.\n")</a:t>
            </a: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    </a:t>
            </a: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    # Get the message to encode</a:t>
            </a: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    message = input("Please enter the message to encode: ")</a:t>
            </a:r>
            <a:endParaRPr lang="en-US" spc="-1">
              <a:solidFill>
                <a:srgbClr val="000000"/>
              </a:solidFill>
              <a:uFill>
                <a:solidFill>
                  <a:srgbClr val="FFFFFF"/>
                </a:solidFill>
              </a:uFill>
              <a:latin typeface="Arial"/>
            </a:endParaRPr>
          </a:p>
          <a:p>
            <a:pPr marL="343080" indent="-342360">
              <a:lnSpc>
                <a:spcPct val="90000"/>
              </a:lnSpc>
            </a:pP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    print("\nHere are the Unicode codes:")</a:t>
            </a:r>
            <a:endParaRPr lang="en-US" spc="-1">
              <a:solidFill>
                <a:srgbClr val="000000"/>
              </a:solidFill>
              <a:uFill>
                <a:solidFill>
                  <a:srgbClr val="FFFFFF"/>
                </a:solidFill>
              </a:uFill>
              <a:latin typeface="Arial"/>
            </a:endParaRPr>
          </a:p>
          <a:p>
            <a:pPr marL="343080" indent="-342360">
              <a:lnSpc>
                <a:spcPct val="90000"/>
              </a:lnSpc>
            </a:pP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    # Loop through the message and print out the Unicode values</a:t>
            </a: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    for ch in message:</a:t>
            </a: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        print(ord(ch),  end=" ")</a:t>
            </a: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        </a:t>
            </a: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    print()  # blank line before prompt</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344"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53638804-49DB-4B5B-8183-EB4B26EDB409}" type="slidenum">
              <a:rPr lang="en-US" sz="1400" spc="-1">
                <a:solidFill>
                  <a:srgbClr val="000000"/>
                </a:solidFill>
                <a:uFill>
                  <a:solidFill>
                    <a:srgbClr val="FFFFFF"/>
                  </a:solidFill>
                </a:uFill>
                <a:latin typeface="Tahoma"/>
              </a:rPr>
              <a:t>29</a:t>
            </a:fld>
            <a:endParaRPr lang="en-US" spc="-1">
              <a:solidFill>
                <a:srgbClr val="000000"/>
              </a:solidFill>
              <a:uFill>
                <a:solidFill>
                  <a:srgbClr val="FFFFFF"/>
                </a:solidFill>
              </a:uFill>
              <a:latin typeface="Arial"/>
            </a:endParaRPr>
          </a:p>
        </p:txBody>
      </p:sp>
      <p:sp>
        <p:nvSpPr>
          <p:cNvPr id="345"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Programming a Decoder</a:t>
            </a:r>
            <a:endParaRPr lang="en-US" spc="-1">
              <a:solidFill>
                <a:srgbClr val="000000"/>
              </a:solidFill>
              <a:uFill>
                <a:solidFill>
                  <a:srgbClr val="FFFFFF"/>
                </a:solidFill>
              </a:uFill>
              <a:latin typeface="Arial"/>
            </a:endParaRPr>
          </a:p>
        </p:txBody>
      </p:sp>
      <p:sp>
        <p:nvSpPr>
          <p:cNvPr id="346" name="CustomShape 4"/>
          <p:cNvSpPr/>
          <p:nvPr/>
        </p:nvSpPr>
        <p:spPr>
          <a:xfrm>
            <a:off x="1371600" y="2017800"/>
            <a:ext cx="9848088"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90000"/>
              </a:lnSpc>
              <a:buClr>
                <a:srgbClr val="3333CC"/>
              </a:buClr>
              <a:buSzPct val="60000"/>
              <a:buFont typeface="Wingdings" charset="2"/>
              <a:buChar char=""/>
            </a:pPr>
            <a:r>
              <a:rPr lang="en-US" sz="3200" spc="-1">
                <a:solidFill>
                  <a:srgbClr val="000000"/>
                </a:solidFill>
                <a:uFill>
                  <a:solidFill>
                    <a:srgbClr val="FFFFFF"/>
                  </a:solidFill>
                </a:uFill>
                <a:latin typeface="Tahoma"/>
              </a:rPr>
              <a:t>We now have a program to convert messages into a type of </a:t>
            </a:r>
            <a:r>
              <a:rPr lang="en-US" sz="3200" spc="-1">
                <a:solidFill>
                  <a:srgbClr val="000000"/>
                </a:solidFill>
                <a:uFill>
                  <a:solidFill>
                    <a:srgbClr val="FFFFFF"/>
                  </a:solidFill>
                </a:uFill>
                <a:latin typeface="Times New Roman"/>
              </a:rPr>
              <a:t>“</a:t>
            </a:r>
            <a:r>
              <a:rPr lang="en-US" sz="3200" spc="-1">
                <a:solidFill>
                  <a:srgbClr val="000000"/>
                </a:solidFill>
                <a:uFill>
                  <a:solidFill>
                    <a:srgbClr val="FFFFFF"/>
                  </a:solidFill>
                </a:uFill>
                <a:latin typeface="Tahoma"/>
              </a:rPr>
              <a:t>code</a:t>
            </a:r>
            <a:r>
              <a:rPr lang="en-US" sz="3200" spc="-1">
                <a:solidFill>
                  <a:srgbClr val="000000"/>
                </a:solidFill>
                <a:uFill>
                  <a:solidFill>
                    <a:srgbClr val="FFFFFF"/>
                  </a:solidFill>
                </a:uFill>
                <a:latin typeface="Times New Roman"/>
              </a:rPr>
              <a:t>”</a:t>
            </a:r>
            <a:r>
              <a:rPr lang="en-US" sz="3200" spc="-1">
                <a:solidFill>
                  <a:srgbClr val="000000"/>
                </a:solidFill>
                <a:uFill>
                  <a:solidFill>
                    <a:srgbClr val="FFFFFF"/>
                  </a:solidFill>
                </a:uFill>
                <a:latin typeface="Tahoma"/>
              </a:rPr>
              <a:t>, but it would be nice to have a program that could decode the message!</a:t>
            </a:r>
            <a:endParaRPr lang="en-US" spc="-1">
              <a:solidFill>
                <a:srgbClr val="000000"/>
              </a:solidFill>
              <a:uFill>
                <a:solidFill>
                  <a:srgbClr val="FFFFFF"/>
                </a:solidFill>
              </a:uFill>
              <a:latin typeface="Arial"/>
            </a:endParaRPr>
          </a:p>
          <a:p>
            <a:pPr marL="343080" indent="-342360">
              <a:lnSpc>
                <a:spcPct val="90000"/>
              </a:lnSpc>
              <a:buClr>
                <a:srgbClr val="3333CC"/>
              </a:buClr>
              <a:buSzPct val="60000"/>
              <a:buFont typeface="Wingdings" charset="2"/>
              <a:buChar char=""/>
            </a:pPr>
            <a:r>
              <a:rPr lang="en-US" sz="3200" spc="-1">
                <a:solidFill>
                  <a:srgbClr val="000000"/>
                </a:solidFill>
                <a:uFill>
                  <a:solidFill>
                    <a:srgbClr val="FFFFFF"/>
                  </a:solidFill>
                </a:uFill>
                <a:latin typeface="Tahoma"/>
              </a:rPr>
              <a:t>The outline for a decoder:</a:t>
            </a:r>
            <a:endParaRPr lang="en-US" spc="-1">
              <a:solidFill>
                <a:srgbClr val="000000"/>
              </a:solidFill>
              <a:uFill>
                <a:solidFill>
                  <a:srgbClr val="FFFFFF"/>
                </a:solidFill>
              </a:uFill>
              <a:latin typeface="Arial"/>
            </a:endParaRPr>
          </a:p>
          <a:p>
            <a:pPr marL="720">
              <a:lnSpc>
                <a:spcPct val="90000"/>
              </a:lnSpc>
              <a:buClr>
                <a:srgbClr val="3333CC"/>
              </a:buClr>
              <a:buSzPct val="60000"/>
            </a:pPr>
            <a:r>
              <a:rPr lang="en-US" sz="2400" spc="-1">
                <a:solidFill>
                  <a:srgbClr val="000000"/>
                </a:solidFill>
                <a:uFill>
                  <a:solidFill>
                    <a:srgbClr val="FFFFFF"/>
                  </a:solidFill>
                </a:uFill>
                <a:latin typeface="Courier New"/>
              </a:rPr>
              <a:t>get the sequence of numbers to decode</a:t>
            </a:r>
            <a:endParaRPr lang="en-US" sz="2400" spc="-1">
              <a:solidFill>
                <a:srgbClr val="000000"/>
              </a:solidFill>
              <a:uFill>
                <a:solidFill>
                  <a:srgbClr val="FFFFFF"/>
                </a:solidFill>
              </a:uFill>
              <a:latin typeface="Arial"/>
            </a:endParaRPr>
          </a:p>
          <a:p>
            <a:pPr marL="720">
              <a:lnSpc>
                <a:spcPct val="90000"/>
              </a:lnSpc>
              <a:buClr>
                <a:srgbClr val="3333CC"/>
              </a:buClr>
              <a:buSzPct val="60000"/>
            </a:pPr>
            <a:r>
              <a:rPr lang="en-US" sz="2400" spc="-1">
                <a:solidFill>
                  <a:srgbClr val="000000"/>
                </a:solidFill>
                <a:uFill>
                  <a:solidFill>
                    <a:srgbClr val="FFFFFF"/>
                  </a:solidFill>
                </a:uFill>
                <a:latin typeface="Courier New"/>
              </a:rPr>
              <a:t>message = ""</a:t>
            </a:r>
            <a:endParaRPr lang="en-US" sz="2400" spc="-1">
              <a:solidFill>
                <a:srgbClr val="000000"/>
              </a:solidFill>
              <a:uFill>
                <a:solidFill>
                  <a:srgbClr val="FFFFFF"/>
                </a:solidFill>
              </a:uFill>
              <a:latin typeface="Arial"/>
            </a:endParaRPr>
          </a:p>
          <a:p>
            <a:pPr marL="720">
              <a:lnSpc>
                <a:spcPct val="90000"/>
              </a:lnSpc>
              <a:buClr>
                <a:srgbClr val="3333CC"/>
              </a:buClr>
              <a:buSzPct val="60000"/>
            </a:pPr>
            <a:r>
              <a:rPr lang="en-US" sz="2400" spc="-1">
                <a:solidFill>
                  <a:srgbClr val="000000"/>
                </a:solidFill>
                <a:uFill>
                  <a:solidFill>
                    <a:srgbClr val="FFFFFF"/>
                  </a:solidFill>
                </a:uFill>
                <a:latin typeface="Courier New"/>
              </a:rPr>
              <a:t>for each number in the input:</a:t>
            </a:r>
            <a:endParaRPr lang="en-US" sz="2400" spc="-1">
              <a:solidFill>
                <a:srgbClr val="000000"/>
              </a:solidFill>
              <a:uFill>
                <a:solidFill>
                  <a:srgbClr val="FFFFFF"/>
                </a:solidFill>
              </a:uFill>
              <a:latin typeface="Arial"/>
            </a:endParaRPr>
          </a:p>
          <a:p>
            <a:pPr marL="720">
              <a:lnSpc>
                <a:spcPct val="90000"/>
              </a:lnSpc>
              <a:buClr>
                <a:srgbClr val="3333CC"/>
              </a:buClr>
              <a:buSzPct val="60000"/>
            </a:pPr>
            <a:r>
              <a:rPr lang="en-US" sz="2400" spc="-1">
                <a:solidFill>
                  <a:srgbClr val="000000"/>
                </a:solidFill>
                <a:uFill>
                  <a:solidFill>
                    <a:srgbClr val="FFFFFF"/>
                  </a:solidFill>
                </a:uFill>
                <a:latin typeface="Courier New"/>
              </a:rPr>
              <a:t>   convert the number to the appropriate character</a:t>
            </a:r>
            <a:endParaRPr lang="en-US" sz="2400" spc="-1">
              <a:solidFill>
                <a:srgbClr val="000000"/>
              </a:solidFill>
              <a:uFill>
                <a:solidFill>
                  <a:srgbClr val="FFFFFF"/>
                </a:solidFill>
              </a:uFill>
              <a:latin typeface="Arial"/>
            </a:endParaRPr>
          </a:p>
          <a:p>
            <a:pPr marL="720">
              <a:lnSpc>
                <a:spcPct val="90000"/>
              </a:lnSpc>
              <a:buClr>
                <a:srgbClr val="3333CC"/>
              </a:buClr>
              <a:buSzPct val="60000"/>
            </a:pPr>
            <a:r>
              <a:rPr lang="en-US" sz="2400" spc="-1">
                <a:solidFill>
                  <a:srgbClr val="000000"/>
                </a:solidFill>
                <a:uFill>
                  <a:solidFill>
                    <a:srgbClr val="FFFFFF"/>
                  </a:solidFill>
                </a:uFill>
                <a:latin typeface="Courier New"/>
              </a:rPr>
              <a:t>   add the character to the end of the message</a:t>
            </a:r>
            <a:endParaRPr lang="en-US" sz="2400" spc="-1">
              <a:solidFill>
                <a:srgbClr val="000000"/>
              </a:solidFill>
              <a:uFill>
                <a:solidFill>
                  <a:srgbClr val="FFFFFF"/>
                </a:solidFill>
              </a:uFill>
              <a:latin typeface="Arial"/>
            </a:endParaRPr>
          </a:p>
          <a:p>
            <a:pPr marL="720">
              <a:lnSpc>
                <a:spcPct val="90000"/>
              </a:lnSpc>
              <a:buClr>
                <a:srgbClr val="3333CC"/>
              </a:buClr>
              <a:buSzPct val="60000"/>
            </a:pPr>
            <a:r>
              <a:rPr lang="en-US" sz="2400" spc="-1">
                <a:solidFill>
                  <a:srgbClr val="000000"/>
                </a:solidFill>
                <a:uFill>
                  <a:solidFill>
                    <a:srgbClr val="FFFFFF"/>
                  </a:solidFill>
                </a:uFill>
                <a:latin typeface="Courier New"/>
              </a:rPr>
              <a:t>print message</a:t>
            </a:r>
            <a:endParaRPr lang="en-US" sz="2400"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348"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3F101CC6-4460-474A-BD6C-6CAE7B117AE3}" type="slidenum">
              <a:rPr lang="en-US" sz="1400" spc="-1">
                <a:solidFill>
                  <a:srgbClr val="000000"/>
                </a:solidFill>
                <a:uFill>
                  <a:solidFill>
                    <a:srgbClr val="FFFFFF"/>
                  </a:solidFill>
                </a:uFill>
                <a:latin typeface="Tahoma"/>
              </a:rPr>
              <a:t>30</a:t>
            </a:fld>
            <a:endParaRPr lang="en-US" spc="-1">
              <a:solidFill>
                <a:srgbClr val="000000"/>
              </a:solidFill>
              <a:uFill>
                <a:solidFill>
                  <a:srgbClr val="FFFFFF"/>
                </a:solidFill>
              </a:uFill>
              <a:latin typeface="Arial"/>
            </a:endParaRPr>
          </a:p>
        </p:txBody>
      </p:sp>
      <p:sp>
        <p:nvSpPr>
          <p:cNvPr id="349"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Programming a Decoder</a:t>
            </a:r>
            <a:endParaRPr lang="en-US" spc="-1">
              <a:solidFill>
                <a:srgbClr val="000000"/>
              </a:solidFill>
              <a:uFill>
                <a:solidFill>
                  <a:srgbClr val="FFFFFF"/>
                </a:solidFill>
              </a:uFill>
              <a:latin typeface="Arial"/>
            </a:endParaRPr>
          </a:p>
        </p:txBody>
      </p:sp>
      <p:sp>
        <p:nvSpPr>
          <p:cNvPr id="350"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The variable </a:t>
            </a:r>
            <a:r>
              <a:rPr lang="en-US" sz="3200" i="1" spc="-1">
                <a:solidFill>
                  <a:srgbClr val="000000"/>
                </a:solidFill>
                <a:uFill>
                  <a:solidFill>
                    <a:srgbClr val="FFFFFF"/>
                  </a:solidFill>
                </a:uFill>
                <a:latin typeface="Tahoma"/>
              </a:rPr>
              <a:t>message</a:t>
            </a:r>
            <a:r>
              <a:rPr lang="en-US" sz="3200" spc="-1">
                <a:solidFill>
                  <a:srgbClr val="000000"/>
                </a:solidFill>
                <a:uFill>
                  <a:solidFill>
                    <a:srgbClr val="FFFFFF"/>
                  </a:solidFill>
                </a:uFill>
                <a:latin typeface="Tahoma"/>
              </a:rPr>
              <a:t> is an accumulator variable, initially set to the </a:t>
            </a:r>
            <a:r>
              <a:rPr lang="en-US" sz="3200" i="1" spc="-1">
                <a:solidFill>
                  <a:srgbClr val="000000"/>
                </a:solidFill>
                <a:uFill>
                  <a:solidFill>
                    <a:srgbClr val="FFFFFF"/>
                  </a:solidFill>
                </a:uFill>
                <a:latin typeface="Tahoma"/>
              </a:rPr>
              <a:t>empty string</a:t>
            </a:r>
            <a:r>
              <a:rPr lang="en-US" sz="3200" spc="-1">
                <a:solidFill>
                  <a:srgbClr val="000000"/>
                </a:solidFill>
                <a:uFill>
                  <a:solidFill>
                    <a:srgbClr val="FFFFFF"/>
                  </a:solidFill>
                </a:uFill>
                <a:latin typeface="Tahoma"/>
              </a:rPr>
              <a:t>, the string with no characters (</a:t>
            </a:r>
            <a:r>
              <a:rPr lang="en-US" sz="3200" spc="-1">
                <a:solidFill>
                  <a:srgbClr val="000000"/>
                </a:solidFill>
                <a:uFill>
                  <a:solidFill>
                    <a:srgbClr val="FFFFFF"/>
                  </a:solidFill>
                </a:uFill>
                <a:latin typeface="Times New Roman"/>
              </a:rPr>
              <a:t>""</a:t>
            </a:r>
            <a:r>
              <a:rPr lang="en-US" sz="3200" spc="-1">
                <a:solidFill>
                  <a:srgbClr val="000000"/>
                </a:solidFill>
                <a:uFill>
                  <a:solidFill>
                    <a:srgbClr val="FFFFFF"/>
                  </a:solidFill>
                </a:uFill>
                <a:latin typeface="Tahoma"/>
              </a:rPr>
              <a:t>).</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Each time through the loop, a number from the input is converted to the appropriate character and appended to the end of the accumulator.</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352"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6696B853-F975-499C-97C4-2D087F79AD26}" type="slidenum">
              <a:rPr lang="en-US" sz="1400" spc="-1">
                <a:solidFill>
                  <a:srgbClr val="000000"/>
                </a:solidFill>
                <a:uFill>
                  <a:solidFill>
                    <a:srgbClr val="FFFFFF"/>
                  </a:solidFill>
                </a:uFill>
                <a:latin typeface="Tahoma"/>
              </a:rPr>
              <a:t>31</a:t>
            </a:fld>
            <a:endParaRPr lang="en-US" spc="-1">
              <a:solidFill>
                <a:srgbClr val="000000"/>
              </a:solidFill>
              <a:uFill>
                <a:solidFill>
                  <a:srgbClr val="FFFFFF"/>
                </a:solidFill>
              </a:uFill>
              <a:latin typeface="Arial"/>
            </a:endParaRPr>
          </a:p>
        </p:txBody>
      </p:sp>
      <p:sp>
        <p:nvSpPr>
          <p:cNvPr id="353"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Programming a Decoder</a:t>
            </a:r>
            <a:endParaRPr lang="en-US" spc="-1">
              <a:solidFill>
                <a:srgbClr val="000000"/>
              </a:solidFill>
              <a:uFill>
                <a:solidFill>
                  <a:srgbClr val="FFFFFF"/>
                </a:solidFill>
              </a:uFill>
              <a:latin typeface="Arial"/>
            </a:endParaRPr>
          </a:p>
        </p:txBody>
      </p:sp>
      <p:sp>
        <p:nvSpPr>
          <p:cNvPr id="354" name="CustomShape 4"/>
          <p:cNvSpPr/>
          <p:nvPr/>
        </p:nvSpPr>
        <p:spPr>
          <a:xfrm>
            <a:off x="1238249" y="2017800"/>
            <a:ext cx="10163175"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How do we get the sequence of numbers to decode? We don’t know how many numbers there will be!</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Read the input as a single string, then split it apart into substrings, each of which represents one number.</a:t>
            </a:r>
          </a:p>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Iterate through the list of smaller strings, convert each into a number and use that number to produce the corresponding Unicode character.</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356"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A20D8EF9-7DCB-4844-B8A6-21D16DC33099}" type="slidenum">
              <a:rPr lang="en-US" sz="1400" spc="-1">
                <a:solidFill>
                  <a:srgbClr val="000000"/>
                </a:solidFill>
                <a:uFill>
                  <a:solidFill>
                    <a:srgbClr val="FFFFFF"/>
                  </a:solidFill>
                </a:uFill>
                <a:latin typeface="Tahoma"/>
              </a:rPr>
              <a:t>32</a:t>
            </a:fld>
            <a:endParaRPr lang="en-US" spc="-1">
              <a:solidFill>
                <a:srgbClr val="000000"/>
              </a:solidFill>
              <a:uFill>
                <a:solidFill>
                  <a:srgbClr val="FFFFFF"/>
                </a:solidFill>
              </a:uFill>
              <a:latin typeface="Arial"/>
            </a:endParaRPr>
          </a:p>
        </p:txBody>
      </p:sp>
      <p:sp>
        <p:nvSpPr>
          <p:cNvPr id="357"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Programming a Decoder</a:t>
            </a:r>
            <a:endParaRPr lang="en-US" spc="-1">
              <a:solidFill>
                <a:srgbClr val="000000"/>
              </a:solidFill>
              <a:uFill>
                <a:solidFill>
                  <a:srgbClr val="FFFFFF"/>
                </a:solidFill>
              </a:uFill>
              <a:latin typeface="Arial"/>
            </a:endParaRPr>
          </a:p>
        </p:txBody>
      </p:sp>
      <p:sp>
        <p:nvSpPr>
          <p:cNvPr id="358" name="CustomShape 4"/>
          <p:cNvSpPr/>
          <p:nvPr/>
        </p:nvSpPr>
        <p:spPr>
          <a:xfrm>
            <a:off x="1788960" y="2133720"/>
            <a:ext cx="887832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sz="3200" spc="-1">
                <a:solidFill>
                  <a:srgbClr val="000000"/>
                </a:solidFill>
                <a:uFill>
                  <a:solidFill>
                    <a:srgbClr val="FFFFFF"/>
                  </a:solidFill>
                </a:uFill>
                <a:latin typeface="Tahoma"/>
              </a:rPr>
              <a:t>The new algorithm</a:t>
            </a:r>
            <a:endParaRPr lang="en-US" spc="-1">
              <a:solidFill>
                <a:srgbClr val="000000"/>
              </a:solidFill>
              <a:uFill>
                <a:solidFill>
                  <a:srgbClr val="FFFFFF"/>
                </a:solidFill>
              </a:uFill>
              <a:latin typeface="Arial"/>
            </a:endParaRPr>
          </a:p>
          <a:p>
            <a:r>
              <a:rPr lang="en-US" spc="-1">
                <a:solidFill>
                  <a:srgbClr val="000000"/>
                </a:solidFill>
                <a:uFill>
                  <a:solidFill>
                    <a:srgbClr val="FFFFFF"/>
                  </a:solidFill>
                </a:uFill>
                <a:latin typeface="Courier New"/>
              </a:rPr>
              <a:t>get the sequence of numbers as a string, </a:t>
            </a:r>
            <a:r>
              <a:rPr lang="en-US" spc="-1" err="1">
                <a:solidFill>
                  <a:srgbClr val="000000"/>
                </a:solidFill>
                <a:uFill>
                  <a:solidFill>
                    <a:srgbClr val="FFFFFF"/>
                  </a:solidFill>
                </a:uFill>
                <a:latin typeface="Courier New"/>
              </a:rPr>
              <a:t>inString</a:t>
            </a:r>
            <a:endParaRPr lang="en-US" spc="-1">
              <a:solidFill>
                <a:srgbClr val="000000"/>
              </a:solidFill>
              <a:uFill>
                <a:solidFill>
                  <a:srgbClr val="FFFFFF"/>
                </a:solidFill>
              </a:uFill>
              <a:latin typeface="Arial"/>
            </a:endParaRPr>
          </a:p>
          <a:p>
            <a:r>
              <a:rPr lang="en-US" spc="-1">
                <a:solidFill>
                  <a:srgbClr val="000000"/>
                </a:solidFill>
                <a:uFill>
                  <a:solidFill>
                    <a:srgbClr val="FFFFFF"/>
                  </a:solidFill>
                </a:uFill>
                <a:latin typeface="Courier New"/>
              </a:rPr>
              <a:t>split </a:t>
            </a:r>
            <a:r>
              <a:rPr lang="en-US" spc="-1" err="1">
                <a:solidFill>
                  <a:srgbClr val="000000"/>
                </a:solidFill>
                <a:uFill>
                  <a:solidFill>
                    <a:srgbClr val="FFFFFF"/>
                  </a:solidFill>
                </a:uFill>
                <a:latin typeface="Courier New"/>
              </a:rPr>
              <a:t>inString</a:t>
            </a:r>
            <a:r>
              <a:rPr lang="en-US" spc="-1">
                <a:solidFill>
                  <a:srgbClr val="000000"/>
                </a:solidFill>
                <a:uFill>
                  <a:solidFill>
                    <a:srgbClr val="FFFFFF"/>
                  </a:solidFill>
                </a:uFill>
                <a:latin typeface="Courier New"/>
              </a:rPr>
              <a:t> into a sequence of smaller strings</a:t>
            </a:r>
            <a:endParaRPr lang="en-US" spc="-1">
              <a:solidFill>
                <a:srgbClr val="000000"/>
              </a:solidFill>
              <a:uFill>
                <a:solidFill>
                  <a:srgbClr val="FFFFFF"/>
                </a:solidFill>
              </a:uFill>
              <a:latin typeface="Arial"/>
            </a:endParaRPr>
          </a:p>
          <a:p>
            <a:r>
              <a:rPr lang="en-US" spc="-1">
                <a:solidFill>
                  <a:srgbClr val="000000"/>
                </a:solidFill>
                <a:uFill>
                  <a:solidFill>
                    <a:srgbClr val="FFFFFF"/>
                  </a:solidFill>
                </a:uFill>
                <a:latin typeface="Courier New"/>
              </a:rPr>
              <a:t>message = ""</a:t>
            </a:r>
            <a:endParaRPr lang="en-US" spc="-1">
              <a:solidFill>
                <a:srgbClr val="000000"/>
              </a:solidFill>
              <a:uFill>
                <a:solidFill>
                  <a:srgbClr val="FFFFFF"/>
                </a:solidFill>
              </a:uFill>
              <a:latin typeface="Arial"/>
            </a:endParaRPr>
          </a:p>
          <a:p>
            <a:r>
              <a:rPr lang="en-US" spc="-1">
                <a:solidFill>
                  <a:srgbClr val="000000"/>
                </a:solidFill>
                <a:uFill>
                  <a:solidFill>
                    <a:srgbClr val="FFFFFF"/>
                  </a:solidFill>
                </a:uFill>
                <a:latin typeface="Courier New"/>
              </a:rPr>
              <a:t>for each of the smaller strings:</a:t>
            </a:r>
            <a:endParaRPr lang="en-US" spc="-1">
              <a:solidFill>
                <a:srgbClr val="000000"/>
              </a:solidFill>
              <a:uFill>
                <a:solidFill>
                  <a:srgbClr val="FFFFFF"/>
                </a:solidFill>
              </a:uFill>
              <a:latin typeface="Arial"/>
            </a:endParaRPr>
          </a:p>
          <a:p>
            <a:r>
              <a:rPr lang="en-US" spc="-1">
                <a:solidFill>
                  <a:srgbClr val="000000"/>
                </a:solidFill>
                <a:uFill>
                  <a:solidFill>
                    <a:srgbClr val="FFFFFF"/>
                  </a:solidFill>
                </a:uFill>
                <a:latin typeface="Courier New"/>
              </a:rPr>
              <a:t>   change the string of digits into the number it represents</a:t>
            </a:r>
            <a:endParaRPr lang="en-US" spc="-1">
              <a:solidFill>
                <a:srgbClr val="000000"/>
              </a:solidFill>
              <a:uFill>
                <a:solidFill>
                  <a:srgbClr val="FFFFFF"/>
                </a:solidFill>
              </a:uFill>
              <a:latin typeface="Arial"/>
            </a:endParaRPr>
          </a:p>
          <a:p>
            <a:r>
              <a:rPr lang="en-US" spc="-1">
                <a:solidFill>
                  <a:srgbClr val="000000"/>
                </a:solidFill>
                <a:uFill>
                  <a:solidFill>
                    <a:srgbClr val="FFFFFF"/>
                  </a:solidFill>
                </a:uFill>
                <a:latin typeface="Courier New"/>
              </a:rPr>
              <a:t>   append the Unicode character for that number to message</a:t>
            </a:r>
            <a:endParaRPr lang="en-US" spc="-1">
              <a:solidFill>
                <a:srgbClr val="000000"/>
              </a:solidFill>
              <a:uFill>
                <a:solidFill>
                  <a:srgbClr val="FFFFFF"/>
                </a:solidFill>
              </a:uFill>
              <a:latin typeface="Arial"/>
            </a:endParaRPr>
          </a:p>
          <a:p>
            <a:pPr marL="720">
              <a:buClr>
                <a:srgbClr val="3333CC"/>
              </a:buClr>
              <a:buSzPct val="60000"/>
            </a:pPr>
            <a:r>
              <a:rPr lang="en-US" spc="-1">
                <a:solidFill>
                  <a:srgbClr val="000000"/>
                </a:solidFill>
                <a:uFill>
                  <a:solidFill>
                    <a:srgbClr val="FFFFFF"/>
                  </a:solidFill>
                </a:uFill>
                <a:latin typeface="Courier New"/>
              </a:rPr>
              <a:t>print message</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360"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AD2A52AF-5F09-4E0D-998E-F49DEE92B344}" type="slidenum">
              <a:rPr lang="en-US" sz="1400" spc="-1">
                <a:solidFill>
                  <a:srgbClr val="000000"/>
                </a:solidFill>
                <a:uFill>
                  <a:solidFill>
                    <a:srgbClr val="FFFFFF"/>
                  </a:solidFill>
                </a:uFill>
                <a:latin typeface="Tahoma"/>
              </a:rPr>
              <a:t>33</a:t>
            </a:fld>
            <a:endParaRPr lang="en-US" spc="-1">
              <a:solidFill>
                <a:srgbClr val="000000"/>
              </a:solidFill>
              <a:uFill>
                <a:solidFill>
                  <a:srgbClr val="FFFFFF"/>
                </a:solidFill>
              </a:uFill>
              <a:latin typeface="Arial"/>
            </a:endParaRPr>
          </a:p>
        </p:txBody>
      </p:sp>
      <p:sp>
        <p:nvSpPr>
          <p:cNvPr id="361" name="CustomShape 3"/>
          <p:cNvSpPr/>
          <p:nvPr/>
        </p:nvSpPr>
        <p:spPr>
          <a:xfrm>
            <a:off x="2674920" y="607672"/>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Programming a Decoder</a:t>
            </a:r>
            <a:endParaRPr lang="en-US" spc="-1">
              <a:solidFill>
                <a:srgbClr val="000000"/>
              </a:solidFill>
              <a:uFill>
                <a:solidFill>
                  <a:srgbClr val="FFFFFF"/>
                </a:solidFill>
              </a:uFill>
              <a:latin typeface="Arial"/>
            </a:endParaRPr>
          </a:p>
        </p:txBody>
      </p:sp>
      <p:sp>
        <p:nvSpPr>
          <p:cNvPr id="362"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Strings are objects and have useful methods associated with them</a:t>
            </a:r>
            <a:endParaRPr lang="en-US" sz="3200"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One of these methods is </a:t>
            </a:r>
            <a:r>
              <a:rPr lang="en-US" sz="3200" i="1" spc="-1">
                <a:solidFill>
                  <a:srgbClr val="000000"/>
                </a:solidFill>
                <a:uFill>
                  <a:solidFill>
                    <a:srgbClr val="FFFFFF"/>
                  </a:solidFill>
                </a:uFill>
                <a:latin typeface="Tahoma"/>
              </a:rPr>
              <a:t>split</a:t>
            </a:r>
            <a:r>
              <a:rPr lang="en-US" sz="3200" spc="-1">
                <a:solidFill>
                  <a:srgbClr val="000000"/>
                </a:solidFill>
                <a:uFill>
                  <a:solidFill>
                    <a:srgbClr val="FFFFFF"/>
                  </a:solidFill>
                </a:uFill>
                <a:latin typeface="Tahoma"/>
              </a:rPr>
              <a:t>. This will split a string into substrings based on spaces.</a:t>
            </a:r>
            <a:endParaRPr lang="en-US" spc="-1">
              <a:solidFill>
                <a:srgbClr val="000000"/>
              </a:solidFill>
              <a:uFill>
                <a:solidFill>
                  <a:srgbClr val="FFFFFF"/>
                </a:solidFill>
              </a:uFill>
              <a:latin typeface="Arial"/>
            </a:endParaRPr>
          </a:p>
          <a:p>
            <a:pPr marL="343080" indent="-342360"/>
            <a:endParaRPr lang="en-US" spc="-1">
              <a:solidFill>
                <a:srgbClr val="000000"/>
              </a:solidFill>
              <a:uFill>
                <a:solidFill>
                  <a:srgbClr val="FFFFFF"/>
                </a:solidFill>
              </a:uFill>
              <a:latin typeface="Arial"/>
            </a:endParaRPr>
          </a:p>
          <a:p>
            <a:pPr marL="343080" indent="-342360"/>
            <a:r>
              <a:rPr lang="en-US" sz="2000" spc="-1">
                <a:solidFill>
                  <a:srgbClr val="000000"/>
                </a:solidFill>
                <a:uFill>
                  <a:solidFill>
                    <a:srgbClr val="FFFFFF"/>
                  </a:solidFill>
                </a:uFill>
                <a:latin typeface="Courier New"/>
              </a:rPr>
              <a:t>&gt;&gt;&gt; "Hello string </a:t>
            </a:r>
            <a:r>
              <a:rPr lang="en-US" sz="2000" spc="-1" err="1">
                <a:solidFill>
                  <a:srgbClr val="000000"/>
                </a:solidFill>
                <a:uFill>
                  <a:solidFill>
                    <a:srgbClr val="FFFFFF"/>
                  </a:solidFill>
                </a:uFill>
                <a:latin typeface="Courier New"/>
              </a:rPr>
              <a:t>methods!".split</a:t>
            </a:r>
            <a:r>
              <a:rPr lang="en-US" sz="2000" spc="-1">
                <a:solidFill>
                  <a:srgbClr val="000000"/>
                </a:solidFill>
                <a:uFill>
                  <a:solidFill>
                    <a:srgbClr val="FFFFFF"/>
                  </a:solidFill>
                </a:uFill>
                <a:latin typeface="Courier New"/>
              </a:rPr>
              <a:t>()</a:t>
            </a:r>
            <a:endParaRPr lang="en-US" spc="-1">
              <a:solidFill>
                <a:srgbClr val="000000"/>
              </a:solidFill>
              <a:uFill>
                <a:solidFill>
                  <a:srgbClr val="FFFFFF"/>
                </a:solidFill>
              </a:uFill>
              <a:latin typeface="Arial"/>
            </a:endParaRPr>
          </a:p>
          <a:p>
            <a:pPr marL="343080" indent="-342360"/>
            <a:r>
              <a:rPr lang="en-US" sz="2000" spc="-1">
                <a:solidFill>
                  <a:srgbClr val="000000"/>
                </a:solidFill>
                <a:uFill>
                  <a:solidFill>
                    <a:srgbClr val="FFFFFF"/>
                  </a:solidFill>
                </a:uFill>
                <a:latin typeface="Courier New"/>
              </a:rPr>
              <a:t>['Hello', 'string', 'methods!']</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364"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53C4C3FB-173E-4C4E-BC53-B20F21264C79}" type="slidenum">
              <a:rPr lang="en-US" sz="1400" spc="-1">
                <a:solidFill>
                  <a:srgbClr val="000000"/>
                </a:solidFill>
                <a:uFill>
                  <a:solidFill>
                    <a:srgbClr val="FFFFFF"/>
                  </a:solidFill>
                </a:uFill>
                <a:latin typeface="Tahoma"/>
              </a:rPr>
              <a:t>34</a:t>
            </a:fld>
            <a:endParaRPr lang="en-US" spc="-1">
              <a:solidFill>
                <a:srgbClr val="000000"/>
              </a:solidFill>
              <a:uFill>
                <a:solidFill>
                  <a:srgbClr val="FFFFFF"/>
                </a:solidFill>
              </a:uFill>
              <a:latin typeface="Arial"/>
            </a:endParaRPr>
          </a:p>
        </p:txBody>
      </p:sp>
      <p:sp>
        <p:nvSpPr>
          <p:cNvPr id="365"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Programming a Decoder</a:t>
            </a:r>
            <a:endParaRPr lang="en-US" spc="-1">
              <a:solidFill>
                <a:srgbClr val="000000"/>
              </a:solidFill>
              <a:uFill>
                <a:solidFill>
                  <a:srgbClr val="FFFFFF"/>
                </a:solidFill>
              </a:uFill>
              <a:latin typeface="Arial"/>
            </a:endParaRPr>
          </a:p>
        </p:txBody>
      </p:sp>
      <p:sp>
        <p:nvSpPr>
          <p:cNvPr id="366"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Split can be used on characters other than space, by supplying the character as a parameter.</a:t>
            </a:r>
            <a:endParaRPr lang="en-US" spc="-1">
              <a:solidFill>
                <a:srgbClr val="000000"/>
              </a:solidFill>
              <a:uFill>
                <a:solidFill>
                  <a:srgbClr val="FFFFFF"/>
                </a:solidFill>
              </a:uFill>
              <a:latin typeface="Arial"/>
            </a:endParaRPr>
          </a:p>
          <a:p>
            <a:pPr marL="343080" indent="-342360"/>
            <a:endParaRPr lang="en-US" spc="-1">
              <a:solidFill>
                <a:srgbClr val="000000"/>
              </a:solidFill>
              <a:uFill>
                <a:solidFill>
                  <a:srgbClr val="FFFFFF"/>
                </a:solidFill>
              </a:uFill>
              <a:latin typeface="Arial"/>
            </a:endParaRPr>
          </a:p>
          <a:p>
            <a:pPr marL="343080" indent="-342360"/>
            <a:r>
              <a:rPr lang="en-US" sz="2000" spc="-1">
                <a:solidFill>
                  <a:srgbClr val="000000"/>
                </a:solidFill>
                <a:uFill>
                  <a:solidFill>
                    <a:srgbClr val="FFFFFF"/>
                  </a:solidFill>
                </a:uFill>
                <a:latin typeface="Courier New"/>
              </a:rPr>
              <a:t>&gt;&gt;&gt; "32,24,25,57".split(",")</a:t>
            </a:r>
            <a:endParaRPr lang="en-US" spc="-1">
              <a:solidFill>
                <a:srgbClr val="000000"/>
              </a:solidFill>
              <a:uFill>
                <a:solidFill>
                  <a:srgbClr val="FFFFFF"/>
                </a:solidFill>
              </a:uFill>
              <a:latin typeface="Arial"/>
            </a:endParaRPr>
          </a:p>
          <a:p>
            <a:pPr marL="343080" indent="-342360"/>
            <a:r>
              <a:rPr lang="en-US" sz="2000" spc="-1">
                <a:solidFill>
                  <a:srgbClr val="000000"/>
                </a:solidFill>
                <a:uFill>
                  <a:solidFill>
                    <a:srgbClr val="FFFFFF"/>
                  </a:solidFill>
                </a:uFill>
                <a:latin typeface="Courier New"/>
              </a:rPr>
              <a:t>['32', '24', '25', '57']</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372"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9CB04372-517D-4483-8F11-A878C63CF0D9}" type="slidenum">
              <a:rPr lang="en-US" sz="1400" spc="-1">
                <a:solidFill>
                  <a:srgbClr val="000000"/>
                </a:solidFill>
                <a:uFill>
                  <a:solidFill>
                    <a:srgbClr val="FFFFFF"/>
                  </a:solidFill>
                </a:uFill>
                <a:latin typeface="Tahoma"/>
              </a:rPr>
              <a:t>35</a:t>
            </a:fld>
            <a:endParaRPr lang="en-US" spc="-1">
              <a:solidFill>
                <a:srgbClr val="000000"/>
              </a:solidFill>
              <a:uFill>
                <a:solidFill>
                  <a:srgbClr val="FFFFFF"/>
                </a:solidFill>
              </a:uFill>
              <a:latin typeface="Arial"/>
            </a:endParaRPr>
          </a:p>
        </p:txBody>
      </p:sp>
      <p:sp>
        <p:nvSpPr>
          <p:cNvPr id="373"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Programming a Decoder</a:t>
            </a:r>
            <a:endParaRPr lang="en-US" spc="-1">
              <a:solidFill>
                <a:srgbClr val="000000"/>
              </a:solidFill>
              <a:uFill>
                <a:solidFill>
                  <a:srgbClr val="FFFFFF"/>
                </a:solidFill>
              </a:uFill>
              <a:latin typeface="Arial"/>
            </a:endParaRPr>
          </a:p>
        </p:txBody>
      </p:sp>
      <p:sp>
        <p:nvSpPr>
          <p:cNvPr id="374"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90000"/>
              </a:lnSpc>
            </a:pPr>
            <a:r>
              <a:rPr lang="en-US" sz="1400" spc="-1" dirty="0">
                <a:solidFill>
                  <a:srgbClr val="000000"/>
                </a:solidFill>
                <a:uFill>
                  <a:solidFill>
                    <a:srgbClr val="FFFFFF"/>
                  </a:solidFill>
                </a:uFill>
                <a:latin typeface="Courier New"/>
              </a:rPr>
              <a:t># numbers2text.py</a:t>
            </a:r>
            <a:endParaRPr lang="en-US" spc="-1" dirty="0">
              <a:solidFill>
                <a:srgbClr val="000000"/>
              </a:solidFill>
              <a:uFill>
                <a:solidFill>
                  <a:srgbClr val="FFFFFF"/>
                </a:solidFill>
              </a:uFill>
              <a:latin typeface="Arial"/>
            </a:endParaRPr>
          </a:p>
          <a:p>
            <a:pPr marL="343080" indent="-342360">
              <a:lnSpc>
                <a:spcPct val="90000"/>
              </a:lnSpc>
            </a:pPr>
            <a:r>
              <a:rPr lang="en-US" sz="1400" spc="-1" dirty="0">
                <a:solidFill>
                  <a:srgbClr val="000000"/>
                </a:solidFill>
                <a:uFill>
                  <a:solidFill>
                    <a:srgbClr val="FFFFFF"/>
                  </a:solidFill>
                </a:uFill>
                <a:latin typeface="Courier New"/>
              </a:rPr>
              <a:t>#     A program to convert a sequence of Unicode numbers into</a:t>
            </a:r>
            <a:endParaRPr lang="en-US" spc="-1" dirty="0">
              <a:solidFill>
                <a:srgbClr val="000000"/>
              </a:solidFill>
              <a:uFill>
                <a:solidFill>
                  <a:srgbClr val="FFFFFF"/>
                </a:solidFill>
              </a:uFill>
              <a:latin typeface="Arial"/>
            </a:endParaRPr>
          </a:p>
          <a:p>
            <a:pPr marL="343080" indent="-342360">
              <a:lnSpc>
                <a:spcPct val="90000"/>
              </a:lnSpc>
            </a:pPr>
            <a:r>
              <a:rPr lang="en-US" sz="1400" spc="-1" dirty="0">
                <a:solidFill>
                  <a:srgbClr val="000000"/>
                </a:solidFill>
                <a:uFill>
                  <a:solidFill>
                    <a:srgbClr val="FFFFFF"/>
                  </a:solidFill>
                </a:uFill>
                <a:latin typeface="Courier New"/>
              </a:rPr>
              <a:t>#         a string of text.</a:t>
            </a:r>
            <a:endParaRPr lang="en-US" spc="-1" dirty="0">
              <a:solidFill>
                <a:srgbClr val="000000"/>
              </a:solidFill>
              <a:uFill>
                <a:solidFill>
                  <a:srgbClr val="FFFFFF"/>
                </a:solidFill>
              </a:uFill>
              <a:latin typeface="Arial"/>
            </a:endParaRPr>
          </a:p>
          <a:p>
            <a:pPr marL="343080" indent="-342360">
              <a:lnSpc>
                <a:spcPct val="90000"/>
              </a:lnSpc>
            </a:pPr>
            <a:endParaRPr lang="en-US" spc="-1" dirty="0">
              <a:solidFill>
                <a:srgbClr val="000000"/>
              </a:solidFill>
              <a:uFill>
                <a:solidFill>
                  <a:srgbClr val="FFFFFF"/>
                </a:solidFill>
              </a:uFill>
              <a:latin typeface="Arial"/>
            </a:endParaRPr>
          </a:p>
          <a:p>
            <a:pPr marL="343080" indent="-342360">
              <a:lnSpc>
                <a:spcPct val="90000"/>
              </a:lnSpc>
            </a:pPr>
            <a:r>
              <a:rPr lang="en-US" sz="1400" spc="-1" dirty="0">
                <a:solidFill>
                  <a:srgbClr val="000000"/>
                </a:solidFill>
                <a:uFill>
                  <a:solidFill>
                    <a:srgbClr val="FFFFFF"/>
                  </a:solidFill>
                </a:uFill>
                <a:latin typeface="Courier New"/>
              </a:rPr>
              <a:t>def main():</a:t>
            </a:r>
            <a:endParaRPr lang="en-US" spc="-1" dirty="0">
              <a:solidFill>
                <a:srgbClr val="000000"/>
              </a:solidFill>
              <a:uFill>
                <a:solidFill>
                  <a:srgbClr val="FFFFFF"/>
                </a:solidFill>
              </a:uFill>
              <a:latin typeface="Arial"/>
            </a:endParaRPr>
          </a:p>
          <a:p>
            <a:pPr marL="343080" indent="-342360">
              <a:lnSpc>
                <a:spcPct val="90000"/>
              </a:lnSpc>
            </a:pPr>
            <a:r>
              <a:rPr lang="en-US" sz="1400" spc="-1" dirty="0">
                <a:solidFill>
                  <a:srgbClr val="000000"/>
                </a:solidFill>
                <a:uFill>
                  <a:solidFill>
                    <a:srgbClr val="FFFFFF"/>
                  </a:solidFill>
                </a:uFill>
                <a:latin typeface="Courier New"/>
              </a:rPr>
              <a:t>    print ("This program converts a sequence of Unicode numbers into")</a:t>
            </a:r>
            <a:endParaRPr lang="en-US" spc="-1" dirty="0">
              <a:solidFill>
                <a:srgbClr val="000000"/>
              </a:solidFill>
              <a:uFill>
                <a:solidFill>
                  <a:srgbClr val="FFFFFF"/>
                </a:solidFill>
              </a:uFill>
              <a:latin typeface="Arial"/>
            </a:endParaRPr>
          </a:p>
          <a:p>
            <a:pPr marL="343080" indent="-342360">
              <a:lnSpc>
                <a:spcPct val="90000"/>
              </a:lnSpc>
            </a:pPr>
            <a:r>
              <a:rPr lang="en-US" sz="1400" spc="-1" dirty="0">
                <a:solidFill>
                  <a:srgbClr val="000000"/>
                </a:solidFill>
                <a:uFill>
                  <a:solidFill>
                    <a:srgbClr val="FFFFFF"/>
                  </a:solidFill>
                </a:uFill>
                <a:latin typeface="Courier New"/>
              </a:rPr>
              <a:t>    print ("the string of text that it represents.\n")</a:t>
            </a:r>
            <a:endParaRPr lang="en-US" spc="-1" dirty="0">
              <a:solidFill>
                <a:srgbClr val="000000"/>
              </a:solidFill>
              <a:uFill>
                <a:solidFill>
                  <a:srgbClr val="FFFFFF"/>
                </a:solidFill>
              </a:uFill>
              <a:latin typeface="Arial"/>
            </a:endParaRPr>
          </a:p>
          <a:p>
            <a:pPr marL="343080" indent="-342360">
              <a:lnSpc>
                <a:spcPct val="90000"/>
              </a:lnSpc>
            </a:pPr>
            <a:endParaRPr lang="en-US" spc="-1" dirty="0">
              <a:solidFill>
                <a:srgbClr val="000000"/>
              </a:solidFill>
              <a:uFill>
                <a:solidFill>
                  <a:srgbClr val="FFFFFF"/>
                </a:solidFill>
              </a:uFill>
              <a:latin typeface="Arial"/>
            </a:endParaRPr>
          </a:p>
          <a:p>
            <a:pPr marL="343080" indent="-342360">
              <a:lnSpc>
                <a:spcPct val="90000"/>
              </a:lnSpc>
            </a:pPr>
            <a:r>
              <a:rPr lang="en-US" sz="1400" spc="-1" dirty="0">
                <a:solidFill>
                  <a:srgbClr val="000000"/>
                </a:solidFill>
                <a:uFill>
                  <a:solidFill>
                    <a:srgbClr val="FFFFFF"/>
                  </a:solidFill>
                </a:uFill>
                <a:latin typeface="Courier New"/>
              </a:rPr>
              <a:t>    # Get the message to decode</a:t>
            </a:r>
            <a:endParaRPr lang="en-US" spc="-1" dirty="0">
              <a:solidFill>
                <a:srgbClr val="000000"/>
              </a:solidFill>
              <a:uFill>
                <a:solidFill>
                  <a:srgbClr val="FFFFFF"/>
                </a:solidFill>
              </a:uFill>
              <a:latin typeface="Arial"/>
            </a:endParaRPr>
          </a:p>
          <a:p>
            <a:pPr marL="343080" indent="-342360">
              <a:lnSpc>
                <a:spcPct val="90000"/>
              </a:lnSpc>
            </a:pPr>
            <a:r>
              <a:rPr lang="en-US" sz="1400" spc="-1" dirty="0">
                <a:solidFill>
                  <a:srgbClr val="000000"/>
                </a:solidFill>
                <a:uFill>
                  <a:solidFill>
                    <a:srgbClr val="FFFFFF"/>
                  </a:solidFill>
                </a:uFill>
                <a:latin typeface="Courier New"/>
              </a:rPr>
              <a:t>    </a:t>
            </a:r>
            <a:r>
              <a:rPr lang="en-US" sz="1400" spc="-1" dirty="0" err="1">
                <a:solidFill>
                  <a:srgbClr val="000000"/>
                </a:solidFill>
                <a:uFill>
                  <a:solidFill>
                    <a:srgbClr val="FFFFFF"/>
                  </a:solidFill>
                </a:uFill>
                <a:latin typeface="Courier New"/>
              </a:rPr>
              <a:t>inString</a:t>
            </a:r>
            <a:r>
              <a:rPr lang="en-US" sz="1400" spc="-1" dirty="0">
                <a:solidFill>
                  <a:srgbClr val="000000"/>
                </a:solidFill>
                <a:uFill>
                  <a:solidFill>
                    <a:srgbClr val="FFFFFF"/>
                  </a:solidFill>
                </a:uFill>
                <a:latin typeface="Courier New"/>
              </a:rPr>
              <a:t> = input("Please enter the Unicode-encoded message: ")</a:t>
            </a:r>
            <a:endParaRPr lang="en-US" spc="-1" dirty="0">
              <a:solidFill>
                <a:srgbClr val="000000"/>
              </a:solidFill>
              <a:uFill>
                <a:solidFill>
                  <a:srgbClr val="FFFFFF"/>
                </a:solidFill>
              </a:uFill>
              <a:latin typeface="Arial"/>
            </a:endParaRPr>
          </a:p>
          <a:p>
            <a:pPr marL="343080" indent="-342360">
              <a:lnSpc>
                <a:spcPct val="90000"/>
              </a:lnSpc>
            </a:pPr>
            <a:endParaRPr lang="en-US" spc="-1" dirty="0">
              <a:solidFill>
                <a:srgbClr val="000000"/>
              </a:solidFill>
              <a:uFill>
                <a:solidFill>
                  <a:srgbClr val="FFFFFF"/>
                </a:solidFill>
              </a:uFill>
              <a:latin typeface="Arial"/>
            </a:endParaRPr>
          </a:p>
          <a:p>
            <a:pPr marL="343080" indent="-342360">
              <a:lnSpc>
                <a:spcPct val="90000"/>
              </a:lnSpc>
            </a:pPr>
            <a:r>
              <a:rPr lang="en-US" sz="1400" spc="-1" dirty="0">
                <a:solidFill>
                  <a:srgbClr val="000000"/>
                </a:solidFill>
                <a:uFill>
                  <a:solidFill>
                    <a:srgbClr val="FFFFFF"/>
                  </a:solidFill>
                </a:uFill>
                <a:latin typeface="Courier New"/>
              </a:rPr>
              <a:t>    # Loop through each substring and build Unicode message</a:t>
            </a:r>
            <a:endParaRPr lang="en-US" spc="-1" dirty="0">
              <a:solidFill>
                <a:srgbClr val="000000"/>
              </a:solidFill>
              <a:uFill>
                <a:solidFill>
                  <a:srgbClr val="FFFFFF"/>
                </a:solidFill>
              </a:uFill>
              <a:latin typeface="Arial"/>
            </a:endParaRPr>
          </a:p>
          <a:p>
            <a:pPr marL="343080" indent="-342360">
              <a:lnSpc>
                <a:spcPct val="90000"/>
              </a:lnSpc>
            </a:pPr>
            <a:r>
              <a:rPr lang="en-US" sz="1400" spc="-1" dirty="0">
                <a:solidFill>
                  <a:srgbClr val="000000"/>
                </a:solidFill>
                <a:uFill>
                  <a:solidFill>
                    <a:srgbClr val="FFFFFF"/>
                  </a:solidFill>
                </a:uFill>
                <a:latin typeface="Courier New"/>
              </a:rPr>
              <a:t>    message = ""</a:t>
            </a:r>
            <a:endParaRPr lang="en-US" spc="-1" dirty="0">
              <a:solidFill>
                <a:srgbClr val="000000"/>
              </a:solidFill>
              <a:uFill>
                <a:solidFill>
                  <a:srgbClr val="FFFFFF"/>
                </a:solidFill>
              </a:uFill>
              <a:latin typeface="Arial"/>
            </a:endParaRPr>
          </a:p>
          <a:p>
            <a:pPr marL="343080" indent="-342360">
              <a:lnSpc>
                <a:spcPct val="90000"/>
              </a:lnSpc>
            </a:pPr>
            <a:r>
              <a:rPr lang="en-US" sz="1400" spc="-1" dirty="0">
                <a:solidFill>
                  <a:srgbClr val="000000"/>
                </a:solidFill>
                <a:uFill>
                  <a:solidFill>
                    <a:srgbClr val="FFFFFF"/>
                  </a:solidFill>
                </a:uFill>
                <a:latin typeface="Courier New"/>
              </a:rPr>
              <a:t>    for </a:t>
            </a:r>
            <a:r>
              <a:rPr lang="en-US" sz="1400" spc="-1" dirty="0" err="1">
                <a:solidFill>
                  <a:srgbClr val="000000"/>
                </a:solidFill>
                <a:uFill>
                  <a:solidFill>
                    <a:srgbClr val="FFFFFF"/>
                  </a:solidFill>
                </a:uFill>
                <a:latin typeface="Courier New"/>
              </a:rPr>
              <a:t>numStr</a:t>
            </a:r>
            <a:r>
              <a:rPr lang="en-US" sz="1400" spc="-1" dirty="0">
                <a:solidFill>
                  <a:srgbClr val="000000"/>
                </a:solidFill>
                <a:uFill>
                  <a:solidFill>
                    <a:srgbClr val="FFFFFF"/>
                  </a:solidFill>
                </a:uFill>
                <a:latin typeface="Courier New"/>
              </a:rPr>
              <a:t> in </a:t>
            </a:r>
            <a:r>
              <a:rPr lang="en-US" sz="1400" spc="-1" dirty="0" err="1">
                <a:solidFill>
                  <a:srgbClr val="000000"/>
                </a:solidFill>
                <a:uFill>
                  <a:solidFill>
                    <a:srgbClr val="FFFFFF"/>
                  </a:solidFill>
                </a:uFill>
                <a:latin typeface="Courier New"/>
              </a:rPr>
              <a:t>inString.split</a:t>
            </a:r>
            <a:r>
              <a:rPr lang="en-US" sz="1400" spc="-1" dirty="0">
                <a:solidFill>
                  <a:srgbClr val="000000"/>
                </a:solidFill>
                <a:uFill>
                  <a:solidFill>
                    <a:srgbClr val="FFFFFF"/>
                  </a:solidFill>
                </a:uFill>
                <a:latin typeface="Courier New"/>
              </a:rPr>
              <a:t>():</a:t>
            </a:r>
            <a:endParaRPr lang="en-US" spc="-1" dirty="0">
              <a:solidFill>
                <a:srgbClr val="000000"/>
              </a:solidFill>
              <a:uFill>
                <a:solidFill>
                  <a:srgbClr val="FFFFFF"/>
                </a:solidFill>
              </a:uFill>
              <a:latin typeface="Arial"/>
            </a:endParaRPr>
          </a:p>
          <a:p>
            <a:pPr marL="343080" indent="-342360">
              <a:lnSpc>
                <a:spcPct val="90000"/>
              </a:lnSpc>
            </a:pPr>
            <a:r>
              <a:rPr lang="en-US" sz="1400" spc="-1" dirty="0">
                <a:solidFill>
                  <a:srgbClr val="000000"/>
                </a:solidFill>
                <a:uFill>
                  <a:solidFill>
                    <a:srgbClr val="FFFFFF"/>
                  </a:solidFill>
                </a:uFill>
                <a:latin typeface="Courier New"/>
              </a:rPr>
              <a:t>        # convert the (sub)string to a number</a:t>
            </a:r>
            <a:endParaRPr lang="en-US" spc="-1" dirty="0">
              <a:solidFill>
                <a:srgbClr val="000000"/>
              </a:solidFill>
              <a:uFill>
                <a:solidFill>
                  <a:srgbClr val="FFFFFF"/>
                </a:solidFill>
              </a:uFill>
              <a:latin typeface="Arial"/>
            </a:endParaRPr>
          </a:p>
          <a:p>
            <a:pPr marL="343080" indent="-342360">
              <a:lnSpc>
                <a:spcPct val="90000"/>
              </a:lnSpc>
            </a:pPr>
            <a:r>
              <a:rPr lang="en-US" sz="1400" spc="-1" dirty="0">
                <a:solidFill>
                  <a:srgbClr val="000000"/>
                </a:solidFill>
                <a:uFill>
                  <a:solidFill>
                    <a:srgbClr val="FFFFFF"/>
                  </a:solidFill>
                </a:uFill>
                <a:latin typeface="Courier New"/>
              </a:rPr>
              <a:t>        </a:t>
            </a:r>
            <a:r>
              <a:rPr lang="en-US" sz="1400" spc="-1" dirty="0" err="1">
                <a:solidFill>
                  <a:srgbClr val="000000"/>
                </a:solidFill>
                <a:uFill>
                  <a:solidFill>
                    <a:srgbClr val="FFFFFF"/>
                  </a:solidFill>
                </a:uFill>
                <a:latin typeface="Courier New"/>
              </a:rPr>
              <a:t>codeNum</a:t>
            </a:r>
            <a:r>
              <a:rPr lang="en-US" sz="1400" spc="-1" dirty="0">
                <a:solidFill>
                  <a:srgbClr val="000000"/>
                </a:solidFill>
                <a:uFill>
                  <a:solidFill>
                    <a:srgbClr val="FFFFFF"/>
                  </a:solidFill>
                </a:uFill>
                <a:latin typeface="Courier New"/>
              </a:rPr>
              <a:t> = int(</a:t>
            </a:r>
            <a:r>
              <a:rPr lang="en-US" sz="1400" spc="-1" dirty="0" err="1">
                <a:solidFill>
                  <a:srgbClr val="000000"/>
                </a:solidFill>
                <a:uFill>
                  <a:solidFill>
                    <a:srgbClr val="FFFFFF"/>
                  </a:solidFill>
                </a:uFill>
                <a:latin typeface="Courier New"/>
              </a:rPr>
              <a:t>numStr</a:t>
            </a:r>
            <a:r>
              <a:rPr lang="en-US" sz="1400" spc="-1" dirty="0">
                <a:solidFill>
                  <a:srgbClr val="000000"/>
                </a:solidFill>
                <a:uFill>
                  <a:solidFill>
                    <a:srgbClr val="FFFFFF"/>
                  </a:solidFill>
                </a:uFill>
                <a:latin typeface="Courier New"/>
              </a:rPr>
              <a:t>)</a:t>
            </a:r>
            <a:endParaRPr lang="en-US" spc="-1" dirty="0">
              <a:solidFill>
                <a:srgbClr val="000000"/>
              </a:solidFill>
              <a:uFill>
                <a:solidFill>
                  <a:srgbClr val="FFFFFF"/>
                </a:solidFill>
              </a:uFill>
              <a:latin typeface="Arial"/>
            </a:endParaRPr>
          </a:p>
          <a:p>
            <a:pPr marL="343080" indent="-342360">
              <a:lnSpc>
                <a:spcPct val="90000"/>
              </a:lnSpc>
            </a:pPr>
            <a:r>
              <a:rPr lang="en-US" sz="1400" spc="-1" dirty="0">
                <a:solidFill>
                  <a:srgbClr val="000000"/>
                </a:solidFill>
                <a:uFill>
                  <a:solidFill>
                    <a:srgbClr val="FFFFFF"/>
                  </a:solidFill>
                </a:uFill>
                <a:latin typeface="Courier New"/>
              </a:rPr>
              <a:t>        # append character to message</a:t>
            </a:r>
            <a:endParaRPr lang="en-US" spc="-1" dirty="0">
              <a:solidFill>
                <a:srgbClr val="000000"/>
              </a:solidFill>
              <a:uFill>
                <a:solidFill>
                  <a:srgbClr val="FFFFFF"/>
                </a:solidFill>
              </a:uFill>
              <a:latin typeface="Arial"/>
            </a:endParaRPr>
          </a:p>
          <a:p>
            <a:pPr marL="343080" indent="-342360">
              <a:lnSpc>
                <a:spcPct val="90000"/>
              </a:lnSpc>
            </a:pPr>
            <a:r>
              <a:rPr lang="en-US" sz="1400" spc="-1" dirty="0">
                <a:solidFill>
                  <a:srgbClr val="000000"/>
                </a:solidFill>
                <a:uFill>
                  <a:solidFill>
                    <a:srgbClr val="FFFFFF"/>
                  </a:solidFill>
                </a:uFill>
                <a:latin typeface="Courier New"/>
              </a:rPr>
              <a:t>        message = message + chr(</a:t>
            </a:r>
            <a:r>
              <a:rPr lang="en-US" sz="1400" spc="-1" dirty="0" err="1">
                <a:solidFill>
                  <a:srgbClr val="000000"/>
                </a:solidFill>
                <a:uFill>
                  <a:solidFill>
                    <a:srgbClr val="FFFFFF"/>
                  </a:solidFill>
                </a:uFill>
                <a:latin typeface="Courier New"/>
              </a:rPr>
              <a:t>codeNum</a:t>
            </a:r>
            <a:r>
              <a:rPr lang="en-US" sz="1400" spc="-1" dirty="0">
                <a:solidFill>
                  <a:srgbClr val="000000"/>
                </a:solidFill>
                <a:uFill>
                  <a:solidFill>
                    <a:srgbClr val="FFFFFF"/>
                  </a:solidFill>
                </a:uFill>
                <a:latin typeface="Courier New"/>
              </a:rPr>
              <a:t>) </a:t>
            </a:r>
            <a:endParaRPr lang="en-US" spc="-1" dirty="0">
              <a:solidFill>
                <a:srgbClr val="000000"/>
              </a:solidFill>
              <a:uFill>
                <a:solidFill>
                  <a:srgbClr val="FFFFFF"/>
                </a:solidFill>
              </a:uFill>
              <a:latin typeface="Arial"/>
            </a:endParaRPr>
          </a:p>
          <a:p>
            <a:pPr marL="343080" indent="-342360">
              <a:lnSpc>
                <a:spcPct val="90000"/>
              </a:lnSpc>
            </a:pPr>
            <a:endParaRPr lang="en-US" spc="-1" dirty="0">
              <a:solidFill>
                <a:srgbClr val="000000"/>
              </a:solidFill>
              <a:uFill>
                <a:solidFill>
                  <a:srgbClr val="FFFFFF"/>
                </a:solidFill>
              </a:uFill>
              <a:latin typeface="Arial"/>
            </a:endParaRPr>
          </a:p>
          <a:p>
            <a:pPr marL="343080" indent="-342360">
              <a:lnSpc>
                <a:spcPct val="90000"/>
              </a:lnSpc>
            </a:pPr>
            <a:r>
              <a:rPr lang="en-US" sz="1400" spc="-1" dirty="0">
                <a:solidFill>
                  <a:srgbClr val="000000"/>
                </a:solidFill>
                <a:uFill>
                  <a:solidFill>
                    <a:srgbClr val="FFFFFF"/>
                  </a:solidFill>
                </a:uFill>
                <a:latin typeface="Courier New"/>
              </a:rPr>
              <a:t>    print("\</a:t>
            </a:r>
            <a:r>
              <a:rPr lang="en-US" sz="1400" spc="-1" dirty="0" err="1">
                <a:solidFill>
                  <a:srgbClr val="000000"/>
                </a:solidFill>
                <a:uFill>
                  <a:solidFill>
                    <a:srgbClr val="FFFFFF"/>
                  </a:solidFill>
                </a:uFill>
                <a:latin typeface="Courier New"/>
              </a:rPr>
              <a:t>nThe</a:t>
            </a:r>
            <a:r>
              <a:rPr lang="en-US" sz="1400" spc="-1" dirty="0">
                <a:solidFill>
                  <a:srgbClr val="000000"/>
                </a:solidFill>
                <a:uFill>
                  <a:solidFill>
                    <a:srgbClr val="FFFFFF"/>
                  </a:solidFill>
                </a:uFill>
                <a:latin typeface="Courier New"/>
              </a:rPr>
              <a:t> decoded message is:", message)</a:t>
            </a:r>
            <a:endParaRPr lang="en-US" spc="-1" dirty="0">
              <a:solidFill>
                <a:srgbClr val="000000"/>
              </a:solidFill>
              <a:uFill>
                <a:solidFill>
                  <a:srgbClr val="FFFFFF"/>
                </a:solidFill>
              </a:uFill>
              <a:latin typeface="Arial"/>
            </a:endParaRPr>
          </a:p>
          <a:p>
            <a:pPr marL="343080" indent="-342360">
              <a:lnSpc>
                <a:spcPct val="90000"/>
              </a:lnSpc>
            </a:pPr>
            <a:endParaRPr lang="en-US" spc="-1" dirty="0">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376"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B7488807-5E14-4B39-8081-9491AA3FA25D}" type="slidenum">
              <a:rPr lang="en-US" sz="1400" spc="-1">
                <a:solidFill>
                  <a:srgbClr val="000000"/>
                </a:solidFill>
                <a:uFill>
                  <a:solidFill>
                    <a:srgbClr val="FFFFFF"/>
                  </a:solidFill>
                </a:uFill>
                <a:latin typeface="Tahoma"/>
              </a:rPr>
              <a:t>36</a:t>
            </a:fld>
            <a:endParaRPr lang="en-US" spc="-1">
              <a:solidFill>
                <a:srgbClr val="000000"/>
              </a:solidFill>
              <a:uFill>
                <a:solidFill>
                  <a:srgbClr val="FFFFFF"/>
                </a:solidFill>
              </a:uFill>
              <a:latin typeface="Arial"/>
            </a:endParaRPr>
          </a:p>
        </p:txBody>
      </p:sp>
      <p:sp>
        <p:nvSpPr>
          <p:cNvPr id="377"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Programming a Decoder</a:t>
            </a:r>
            <a:endParaRPr lang="en-US" spc="-1">
              <a:solidFill>
                <a:srgbClr val="000000"/>
              </a:solidFill>
              <a:uFill>
                <a:solidFill>
                  <a:srgbClr val="FFFFFF"/>
                </a:solidFill>
              </a:uFill>
              <a:latin typeface="Arial"/>
            </a:endParaRPr>
          </a:p>
        </p:txBody>
      </p:sp>
      <p:sp>
        <p:nvSpPr>
          <p:cNvPr id="378"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The </a:t>
            </a:r>
            <a:r>
              <a:rPr lang="en-US" sz="2800" spc="-1">
                <a:solidFill>
                  <a:srgbClr val="000000"/>
                </a:solidFill>
                <a:uFill>
                  <a:solidFill>
                    <a:srgbClr val="FFFFFF"/>
                  </a:solidFill>
                </a:uFill>
                <a:latin typeface="Courier New"/>
              </a:rPr>
              <a:t>split</a:t>
            </a:r>
            <a:r>
              <a:rPr lang="en-US" sz="3200" spc="-1">
                <a:solidFill>
                  <a:srgbClr val="000000"/>
                </a:solidFill>
                <a:uFill>
                  <a:solidFill>
                    <a:srgbClr val="FFFFFF"/>
                  </a:solidFill>
                </a:uFill>
                <a:latin typeface="Tahoma"/>
              </a:rPr>
              <a:t> function produces a list of substrings. </a:t>
            </a:r>
            <a:r>
              <a:rPr lang="en-US" sz="2800" spc="-1" err="1">
                <a:solidFill>
                  <a:srgbClr val="000000"/>
                </a:solidFill>
                <a:uFill>
                  <a:solidFill>
                    <a:srgbClr val="FFFFFF"/>
                  </a:solidFill>
                </a:uFill>
                <a:latin typeface="Courier New"/>
              </a:rPr>
              <a:t>numString</a:t>
            </a:r>
            <a:r>
              <a:rPr lang="en-US" sz="3200" spc="-1">
                <a:solidFill>
                  <a:srgbClr val="000000"/>
                </a:solidFill>
                <a:uFill>
                  <a:solidFill>
                    <a:srgbClr val="FFFFFF"/>
                  </a:solidFill>
                </a:uFill>
                <a:latin typeface="Tahoma"/>
              </a:rPr>
              <a:t> gets each successive substring.</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Each time through the loop, the next substring is converted to the appropriate Unicode character and appended to the end of the accumulator, </a:t>
            </a:r>
            <a:r>
              <a:rPr lang="en-US" sz="2800" spc="-1">
                <a:solidFill>
                  <a:srgbClr val="000000"/>
                </a:solidFill>
                <a:uFill>
                  <a:solidFill>
                    <a:srgbClr val="FFFFFF"/>
                  </a:solidFill>
                </a:uFill>
                <a:latin typeface="Courier New" panose="02070309020205020404" pitchFamily="49" charset="0"/>
                <a:cs typeface="Courier New" panose="02070309020205020404" pitchFamily="49" charset="0"/>
              </a:rPr>
              <a:t>message</a:t>
            </a:r>
            <a:r>
              <a:rPr lang="en-US" sz="3200" spc="-1">
                <a:solidFill>
                  <a:srgbClr val="000000"/>
                </a:solidFill>
                <a:uFill>
                  <a:solidFill>
                    <a:srgbClr val="FFFFFF"/>
                  </a:solidFill>
                </a:uFill>
                <a:latin typeface="Tahoma"/>
              </a:rPr>
              <a:t>.</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380"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CC5D63A9-AB31-4452-9075-1BB71516AE62}" type="slidenum">
              <a:rPr lang="en-US" sz="1400" spc="-1">
                <a:solidFill>
                  <a:srgbClr val="000000"/>
                </a:solidFill>
                <a:uFill>
                  <a:solidFill>
                    <a:srgbClr val="FFFFFF"/>
                  </a:solidFill>
                </a:uFill>
                <a:latin typeface="Tahoma"/>
              </a:rPr>
              <a:t>37</a:t>
            </a:fld>
            <a:endParaRPr lang="en-US" spc="-1">
              <a:solidFill>
                <a:srgbClr val="000000"/>
              </a:solidFill>
              <a:uFill>
                <a:solidFill>
                  <a:srgbClr val="FFFFFF"/>
                </a:solidFill>
              </a:uFill>
              <a:latin typeface="Arial"/>
            </a:endParaRPr>
          </a:p>
        </p:txBody>
      </p:sp>
      <p:sp>
        <p:nvSpPr>
          <p:cNvPr id="381"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Programming a Decoder</a:t>
            </a:r>
            <a:endParaRPr lang="en-US" spc="-1">
              <a:solidFill>
                <a:srgbClr val="000000"/>
              </a:solidFill>
              <a:uFill>
                <a:solidFill>
                  <a:srgbClr val="FFFFFF"/>
                </a:solidFill>
              </a:uFill>
              <a:latin typeface="Arial"/>
            </a:endParaRPr>
          </a:p>
        </p:txBody>
      </p:sp>
      <p:sp>
        <p:nvSpPr>
          <p:cNvPr id="382" name="CustomShape 4"/>
          <p:cNvSpPr/>
          <p:nvPr/>
        </p:nvSpPr>
        <p:spPr>
          <a:xfrm>
            <a:off x="1524000" y="2209680"/>
            <a:ext cx="91432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r>
              <a:rPr lang="en-US" sz="1400" spc="-1">
                <a:solidFill>
                  <a:srgbClr val="000000"/>
                </a:solidFill>
                <a:uFill>
                  <a:solidFill>
                    <a:srgbClr val="FFFFFF"/>
                  </a:solidFill>
                </a:uFill>
                <a:latin typeface="Courier New"/>
              </a:rPr>
              <a:t>-------------------------------------------------------------------------</a:t>
            </a:r>
            <a:endParaRPr lang="en-US" spc="-1">
              <a:solidFill>
                <a:srgbClr val="000000"/>
              </a:solidFill>
              <a:uFill>
                <a:solidFill>
                  <a:srgbClr val="FFFFFF"/>
                </a:solidFill>
              </a:uFill>
              <a:latin typeface="Arial"/>
            </a:endParaRPr>
          </a:p>
          <a:p>
            <a:pPr marL="343080" indent="-342360"/>
            <a:r>
              <a:rPr lang="en-US" sz="1400" spc="-1">
                <a:solidFill>
                  <a:srgbClr val="000000"/>
                </a:solidFill>
                <a:uFill>
                  <a:solidFill>
                    <a:srgbClr val="FFFFFF"/>
                  </a:solidFill>
                </a:uFill>
                <a:latin typeface="Courier New"/>
              </a:rPr>
              <a:t>This program converts a textual message into a sequence</a:t>
            </a:r>
            <a:endParaRPr lang="en-US" spc="-1">
              <a:solidFill>
                <a:srgbClr val="000000"/>
              </a:solidFill>
              <a:uFill>
                <a:solidFill>
                  <a:srgbClr val="FFFFFF"/>
                </a:solidFill>
              </a:uFill>
              <a:latin typeface="Arial"/>
            </a:endParaRPr>
          </a:p>
          <a:p>
            <a:pPr marL="343080" indent="-342360"/>
            <a:r>
              <a:rPr lang="en-US" sz="1400" spc="-1">
                <a:solidFill>
                  <a:srgbClr val="000000"/>
                </a:solidFill>
                <a:uFill>
                  <a:solidFill>
                    <a:srgbClr val="FFFFFF"/>
                  </a:solidFill>
                </a:uFill>
                <a:latin typeface="Courier New"/>
              </a:rPr>
              <a:t>of numbers representing the Unicode encoding of the message.</a:t>
            </a:r>
            <a:endParaRPr lang="en-US" spc="-1">
              <a:solidFill>
                <a:srgbClr val="000000"/>
              </a:solidFill>
              <a:uFill>
                <a:solidFill>
                  <a:srgbClr val="FFFFFF"/>
                </a:solidFill>
              </a:uFill>
              <a:latin typeface="Arial"/>
            </a:endParaRPr>
          </a:p>
          <a:p>
            <a:pPr marL="343080" indent="-342360"/>
            <a:endParaRPr lang="en-US" spc="-1">
              <a:solidFill>
                <a:srgbClr val="000000"/>
              </a:solidFill>
              <a:uFill>
                <a:solidFill>
                  <a:srgbClr val="FFFFFF"/>
                </a:solidFill>
              </a:uFill>
              <a:latin typeface="Arial"/>
            </a:endParaRPr>
          </a:p>
          <a:p>
            <a:pPr marL="343080" indent="-342360"/>
            <a:r>
              <a:rPr lang="en-US" sz="1400" spc="-1">
                <a:solidFill>
                  <a:srgbClr val="000000"/>
                </a:solidFill>
                <a:uFill>
                  <a:solidFill>
                    <a:srgbClr val="FFFFFF"/>
                  </a:solidFill>
                </a:uFill>
                <a:latin typeface="Courier New"/>
              </a:rPr>
              <a:t>Please enter the message to encode: CS120 is fun!</a:t>
            </a:r>
            <a:endParaRPr lang="en-US" spc="-1">
              <a:solidFill>
                <a:srgbClr val="000000"/>
              </a:solidFill>
              <a:uFill>
                <a:solidFill>
                  <a:srgbClr val="FFFFFF"/>
                </a:solidFill>
              </a:uFill>
              <a:latin typeface="Arial"/>
            </a:endParaRPr>
          </a:p>
          <a:p>
            <a:pPr marL="343080" indent="-342360"/>
            <a:endParaRPr lang="en-US" spc="-1">
              <a:solidFill>
                <a:srgbClr val="000000"/>
              </a:solidFill>
              <a:uFill>
                <a:solidFill>
                  <a:srgbClr val="FFFFFF"/>
                </a:solidFill>
              </a:uFill>
              <a:latin typeface="Arial"/>
            </a:endParaRPr>
          </a:p>
          <a:p>
            <a:pPr marL="343080" indent="-342360"/>
            <a:r>
              <a:rPr lang="en-US" sz="1400" spc="-1">
                <a:solidFill>
                  <a:srgbClr val="000000"/>
                </a:solidFill>
                <a:uFill>
                  <a:solidFill>
                    <a:srgbClr val="FFFFFF"/>
                  </a:solidFill>
                </a:uFill>
                <a:latin typeface="Courier New"/>
              </a:rPr>
              <a:t>Here are the Unicode codes:</a:t>
            </a:r>
            <a:endParaRPr lang="en-US" spc="-1">
              <a:solidFill>
                <a:srgbClr val="000000"/>
              </a:solidFill>
              <a:uFill>
                <a:solidFill>
                  <a:srgbClr val="FFFFFF"/>
                </a:solidFill>
              </a:uFill>
              <a:latin typeface="Arial"/>
            </a:endParaRPr>
          </a:p>
          <a:p>
            <a:pPr marL="343080" indent="-342360"/>
            <a:r>
              <a:rPr lang="en-US" sz="1400" spc="-1">
                <a:solidFill>
                  <a:srgbClr val="000000"/>
                </a:solidFill>
                <a:uFill>
                  <a:solidFill>
                    <a:srgbClr val="FFFFFF"/>
                  </a:solidFill>
                </a:uFill>
                <a:latin typeface="Courier New"/>
              </a:rPr>
              <a:t>67 83 49 50 48 32 105 115 32 102 117 110 33</a:t>
            </a:r>
            <a:endParaRPr lang="en-US" spc="-1">
              <a:solidFill>
                <a:srgbClr val="000000"/>
              </a:solidFill>
              <a:uFill>
                <a:solidFill>
                  <a:srgbClr val="FFFFFF"/>
                </a:solidFill>
              </a:uFill>
              <a:latin typeface="Arial"/>
            </a:endParaRPr>
          </a:p>
          <a:p>
            <a:pPr marL="343080" indent="-342360"/>
            <a:endParaRPr lang="en-US" spc="-1">
              <a:solidFill>
                <a:srgbClr val="000000"/>
              </a:solidFill>
              <a:uFill>
                <a:solidFill>
                  <a:srgbClr val="FFFFFF"/>
                </a:solidFill>
              </a:uFill>
              <a:latin typeface="Arial"/>
            </a:endParaRPr>
          </a:p>
          <a:p>
            <a:pPr marL="343080" indent="-342360"/>
            <a:r>
              <a:rPr lang="en-US" sz="1400" spc="-1">
                <a:solidFill>
                  <a:srgbClr val="000000"/>
                </a:solidFill>
                <a:uFill>
                  <a:solidFill>
                    <a:srgbClr val="FFFFFF"/>
                  </a:solidFill>
                </a:uFill>
                <a:latin typeface="Courier New"/>
              </a:rPr>
              <a:t>--------------------------------------------------------------------------</a:t>
            </a:r>
            <a:endParaRPr lang="en-US" spc="-1">
              <a:solidFill>
                <a:srgbClr val="000000"/>
              </a:solidFill>
              <a:uFill>
                <a:solidFill>
                  <a:srgbClr val="FFFFFF"/>
                </a:solidFill>
              </a:uFill>
              <a:latin typeface="Arial"/>
            </a:endParaRPr>
          </a:p>
          <a:p>
            <a:pPr marL="343080" indent="-342360"/>
            <a:r>
              <a:rPr lang="en-US" sz="1400" spc="-1">
                <a:solidFill>
                  <a:srgbClr val="000000"/>
                </a:solidFill>
                <a:uFill>
                  <a:solidFill>
                    <a:srgbClr val="FFFFFF"/>
                  </a:solidFill>
                </a:uFill>
                <a:latin typeface="Courier New"/>
              </a:rPr>
              <a:t>This program converts a sequence of Unicode numbers into</a:t>
            </a:r>
            <a:endParaRPr lang="en-US" spc="-1">
              <a:solidFill>
                <a:srgbClr val="000000"/>
              </a:solidFill>
              <a:uFill>
                <a:solidFill>
                  <a:srgbClr val="FFFFFF"/>
                </a:solidFill>
              </a:uFill>
              <a:latin typeface="Arial"/>
            </a:endParaRPr>
          </a:p>
          <a:p>
            <a:pPr marL="343080" indent="-342360"/>
            <a:r>
              <a:rPr lang="en-US" sz="1400" spc="-1">
                <a:solidFill>
                  <a:srgbClr val="000000"/>
                </a:solidFill>
                <a:uFill>
                  <a:solidFill>
                    <a:srgbClr val="FFFFFF"/>
                  </a:solidFill>
                </a:uFill>
                <a:latin typeface="Courier New"/>
              </a:rPr>
              <a:t>the string of text that it represents.</a:t>
            </a:r>
            <a:endParaRPr lang="en-US" spc="-1">
              <a:solidFill>
                <a:srgbClr val="000000"/>
              </a:solidFill>
              <a:uFill>
                <a:solidFill>
                  <a:srgbClr val="FFFFFF"/>
                </a:solidFill>
              </a:uFill>
              <a:latin typeface="Arial"/>
            </a:endParaRPr>
          </a:p>
          <a:p>
            <a:pPr marL="343080" indent="-342360"/>
            <a:endParaRPr lang="en-US" spc="-1">
              <a:solidFill>
                <a:srgbClr val="000000"/>
              </a:solidFill>
              <a:uFill>
                <a:solidFill>
                  <a:srgbClr val="FFFFFF"/>
                </a:solidFill>
              </a:uFill>
              <a:latin typeface="Arial"/>
            </a:endParaRPr>
          </a:p>
          <a:p>
            <a:pPr marL="343080" indent="-342360"/>
            <a:r>
              <a:rPr lang="en-US" sz="1400" spc="-1">
                <a:solidFill>
                  <a:srgbClr val="000000"/>
                </a:solidFill>
                <a:uFill>
                  <a:solidFill>
                    <a:srgbClr val="FFFFFF"/>
                  </a:solidFill>
                </a:uFill>
                <a:latin typeface="Courier New"/>
              </a:rPr>
              <a:t>Please enter the ASCII-encoded message: 67 83 49 50 48 32 105 115 32 102 117 110 33</a:t>
            </a:r>
            <a:endParaRPr lang="en-US" spc="-1">
              <a:solidFill>
                <a:srgbClr val="000000"/>
              </a:solidFill>
              <a:uFill>
                <a:solidFill>
                  <a:srgbClr val="FFFFFF"/>
                </a:solidFill>
              </a:uFill>
              <a:latin typeface="Arial"/>
            </a:endParaRPr>
          </a:p>
          <a:p>
            <a:pPr marL="343080" indent="-342360"/>
            <a:r>
              <a:rPr lang="en-US" sz="1400" spc="-1">
                <a:solidFill>
                  <a:srgbClr val="000000"/>
                </a:solidFill>
                <a:uFill>
                  <a:solidFill>
                    <a:srgbClr val="FFFFFF"/>
                  </a:solidFill>
                </a:uFill>
                <a:latin typeface="Courier New"/>
              </a:rPr>
              <a:t>The decoded message is: CS120 is fun!</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420"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E8706836-03C0-44F2-9542-5988E35569D3}" type="slidenum">
              <a:rPr lang="en-US" sz="1400" spc="-1">
                <a:solidFill>
                  <a:srgbClr val="000000"/>
                </a:solidFill>
                <a:uFill>
                  <a:solidFill>
                    <a:srgbClr val="FFFFFF"/>
                  </a:solidFill>
                </a:uFill>
                <a:latin typeface="Tahoma"/>
              </a:rPr>
              <a:t>38</a:t>
            </a:fld>
            <a:endParaRPr lang="en-US" spc="-1">
              <a:solidFill>
                <a:srgbClr val="000000"/>
              </a:solidFill>
              <a:uFill>
                <a:solidFill>
                  <a:srgbClr val="FFFFFF"/>
                </a:solidFill>
              </a:uFill>
              <a:latin typeface="Arial"/>
            </a:endParaRPr>
          </a:p>
        </p:txBody>
      </p:sp>
      <p:sp>
        <p:nvSpPr>
          <p:cNvPr id="421"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From Encoding to Encryption</a:t>
            </a:r>
            <a:endParaRPr lang="en-US" spc="-1">
              <a:solidFill>
                <a:srgbClr val="000000"/>
              </a:solidFill>
              <a:uFill>
                <a:solidFill>
                  <a:srgbClr val="FFFFFF"/>
                </a:solidFill>
              </a:uFill>
              <a:latin typeface="Arial"/>
            </a:endParaRPr>
          </a:p>
        </p:txBody>
      </p:sp>
      <p:sp>
        <p:nvSpPr>
          <p:cNvPr id="422"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r>
              <a:rPr lang="en-US" sz="2800" spc="-1">
                <a:solidFill>
                  <a:srgbClr val="000000"/>
                </a:solidFill>
                <a:uFill>
                  <a:solidFill>
                    <a:srgbClr val="FFFFFF"/>
                  </a:solidFill>
                </a:uFill>
                <a:latin typeface="Tahoma"/>
              </a:rPr>
              <a:t>The process of encoding information for the purpose of keeping it secret or transmitting it privately is called </a:t>
            </a:r>
            <a:r>
              <a:rPr lang="en-US" sz="2800" i="1" spc="-1">
                <a:solidFill>
                  <a:srgbClr val="000000"/>
                </a:solidFill>
                <a:uFill>
                  <a:solidFill>
                    <a:srgbClr val="FFFFFF"/>
                  </a:solidFill>
                </a:uFill>
                <a:latin typeface="Tahoma"/>
              </a:rPr>
              <a:t>encryption</a:t>
            </a:r>
            <a:r>
              <a:rPr lang="en-US" sz="2800" spc="-1">
                <a:solidFill>
                  <a:srgbClr val="000000"/>
                </a:solidFill>
                <a:uFill>
                  <a:solidFill>
                    <a:srgbClr val="FFFFFF"/>
                  </a:solidFill>
                </a:uFill>
                <a:latin typeface="Tahoma"/>
              </a:rPr>
              <a:t>.</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2800" i="1" spc="-1">
                <a:solidFill>
                  <a:srgbClr val="000000"/>
                </a:solidFill>
                <a:uFill>
                  <a:solidFill>
                    <a:srgbClr val="FFFFFF"/>
                  </a:solidFill>
                </a:uFill>
                <a:latin typeface="Tahoma"/>
              </a:rPr>
              <a:t>Cryptography</a:t>
            </a:r>
            <a:r>
              <a:rPr lang="en-US" sz="2800" spc="-1">
                <a:solidFill>
                  <a:srgbClr val="000000"/>
                </a:solidFill>
                <a:uFill>
                  <a:solidFill>
                    <a:srgbClr val="FFFFFF"/>
                  </a:solidFill>
                </a:uFill>
                <a:latin typeface="Tahoma"/>
              </a:rPr>
              <a:t> is the study of encryption methods.</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2800" spc="-1">
                <a:solidFill>
                  <a:srgbClr val="000000"/>
                </a:solidFill>
                <a:uFill>
                  <a:solidFill>
                    <a:srgbClr val="FFFFFF"/>
                  </a:solidFill>
                </a:uFill>
                <a:latin typeface="Tahoma"/>
              </a:rPr>
              <a:t>Encryption is used when transmitting credit card and other personal information to a web site.</a:t>
            </a:r>
            <a:endParaRPr lang="en-US" spc="-1">
              <a:solidFill>
                <a:srgbClr val="000000"/>
              </a:solidFill>
              <a:uFill>
                <a:solidFill>
                  <a:srgbClr val="FFFFFF"/>
                </a:solidFill>
              </a:uFill>
              <a:latin typeface="Arial"/>
            </a:endParaRPr>
          </a:p>
        </p:txBody>
      </p:sp>
    </p:spTree>
    <p:extLst>
      <p:ext uri="{BB962C8B-B14F-4D97-AF65-F5344CB8AC3E}">
        <p14:creationId xmlns:p14="http://schemas.microsoft.com/office/powerpoint/2010/main" val="247147167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424"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B4E55DE1-E2F7-41F6-A056-36014444E891}" type="slidenum">
              <a:rPr lang="en-US" sz="1400" spc="-1">
                <a:solidFill>
                  <a:srgbClr val="000000"/>
                </a:solidFill>
                <a:uFill>
                  <a:solidFill>
                    <a:srgbClr val="FFFFFF"/>
                  </a:solidFill>
                </a:uFill>
                <a:latin typeface="Tahoma"/>
              </a:rPr>
              <a:t>39</a:t>
            </a:fld>
            <a:endParaRPr lang="en-US" spc="-1">
              <a:solidFill>
                <a:srgbClr val="000000"/>
              </a:solidFill>
              <a:uFill>
                <a:solidFill>
                  <a:srgbClr val="FFFFFF"/>
                </a:solidFill>
              </a:uFill>
              <a:latin typeface="Arial"/>
            </a:endParaRPr>
          </a:p>
        </p:txBody>
      </p:sp>
      <p:sp>
        <p:nvSpPr>
          <p:cNvPr id="425"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From Encoding to Encryption</a:t>
            </a:r>
            <a:endParaRPr lang="en-US" spc="-1">
              <a:solidFill>
                <a:srgbClr val="000000"/>
              </a:solidFill>
              <a:uFill>
                <a:solidFill>
                  <a:srgbClr val="FFFFFF"/>
                </a:solidFill>
              </a:uFill>
              <a:latin typeface="Arial"/>
            </a:endParaRPr>
          </a:p>
        </p:txBody>
      </p:sp>
      <p:sp>
        <p:nvSpPr>
          <p:cNvPr id="426"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Strings are represented as a sort of encoding problem, where each character in the string is represented as a number that</a:t>
            </a:r>
            <a:r>
              <a:rPr lang="en-US" sz="3200" spc="-1">
                <a:solidFill>
                  <a:srgbClr val="000000"/>
                </a:solidFill>
                <a:uFill>
                  <a:solidFill>
                    <a:srgbClr val="FFFFFF"/>
                  </a:solidFill>
                </a:uFill>
                <a:latin typeface="Times New Roman"/>
              </a:rPr>
              <a:t>’</a:t>
            </a:r>
            <a:r>
              <a:rPr lang="en-US" sz="3200" spc="-1">
                <a:solidFill>
                  <a:srgbClr val="000000"/>
                </a:solidFill>
                <a:uFill>
                  <a:solidFill>
                    <a:srgbClr val="FFFFFF"/>
                  </a:solidFill>
                </a:uFill>
                <a:latin typeface="Tahoma"/>
              </a:rPr>
              <a:t>s stored in the computer.</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The code that is the mapping between character and number is an industry standard, so it</a:t>
            </a:r>
            <a:r>
              <a:rPr lang="en-US" sz="3200" spc="-1">
                <a:solidFill>
                  <a:srgbClr val="000000"/>
                </a:solidFill>
                <a:uFill>
                  <a:solidFill>
                    <a:srgbClr val="FFFFFF"/>
                  </a:solidFill>
                </a:uFill>
                <a:latin typeface="Times New Roman"/>
              </a:rPr>
              <a:t>’</a:t>
            </a:r>
            <a:r>
              <a:rPr lang="en-US" sz="3200" spc="-1">
                <a:solidFill>
                  <a:srgbClr val="000000"/>
                </a:solidFill>
                <a:uFill>
                  <a:solidFill>
                    <a:srgbClr val="FFFFFF"/>
                  </a:solidFill>
                </a:uFill>
                <a:latin typeface="Tahoma"/>
              </a:rPr>
              <a:t>s not </a:t>
            </a:r>
            <a:r>
              <a:rPr lang="en-US" sz="3200" spc="-1">
                <a:solidFill>
                  <a:srgbClr val="000000"/>
                </a:solidFill>
                <a:uFill>
                  <a:solidFill>
                    <a:srgbClr val="FFFFFF"/>
                  </a:solidFill>
                </a:uFill>
                <a:latin typeface="Times New Roman"/>
              </a:rPr>
              <a:t>“</a:t>
            </a:r>
            <a:r>
              <a:rPr lang="en-US" sz="3200" spc="-1">
                <a:solidFill>
                  <a:srgbClr val="000000"/>
                </a:solidFill>
                <a:uFill>
                  <a:solidFill>
                    <a:srgbClr val="FFFFFF"/>
                  </a:solidFill>
                </a:uFill>
                <a:latin typeface="Tahoma"/>
              </a:rPr>
              <a:t>secret</a:t>
            </a:r>
            <a:r>
              <a:rPr lang="en-US" sz="3200" spc="-1">
                <a:solidFill>
                  <a:srgbClr val="000000"/>
                </a:solidFill>
                <a:uFill>
                  <a:solidFill>
                    <a:srgbClr val="FFFFFF"/>
                  </a:solidFill>
                </a:uFill>
                <a:latin typeface="Times New Roman"/>
              </a:rPr>
              <a:t>”</a:t>
            </a:r>
            <a:r>
              <a:rPr lang="en-US" sz="3200" spc="-1">
                <a:solidFill>
                  <a:srgbClr val="000000"/>
                </a:solidFill>
                <a:uFill>
                  <a:solidFill>
                    <a:srgbClr val="FFFFFF"/>
                  </a:solidFill>
                </a:uFill>
                <a:latin typeface="Tahoma"/>
              </a:rPr>
              <a:t>.</a:t>
            </a:r>
            <a:endParaRPr lang="en-US" spc="-1">
              <a:solidFill>
                <a:srgbClr val="000000"/>
              </a:solidFill>
              <a:uFill>
                <a:solidFill>
                  <a:srgbClr val="FFFFFF"/>
                </a:solidFill>
              </a:uFill>
              <a:latin typeface="Arial"/>
            </a:endParaRPr>
          </a:p>
        </p:txBody>
      </p:sp>
    </p:spTree>
    <p:extLst>
      <p:ext uri="{BB962C8B-B14F-4D97-AF65-F5344CB8AC3E}">
        <p14:creationId xmlns:p14="http://schemas.microsoft.com/office/powerpoint/2010/main" val="179443548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428"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8D8C2568-F1DA-4BBF-BF57-C017E1599D2A}" type="slidenum">
              <a:rPr lang="en-US" sz="1400" spc="-1">
                <a:solidFill>
                  <a:srgbClr val="000000"/>
                </a:solidFill>
                <a:uFill>
                  <a:solidFill>
                    <a:srgbClr val="FFFFFF"/>
                  </a:solidFill>
                </a:uFill>
                <a:latin typeface="Tahoma"/>
              </a:rPr>
              <a:t>40</a:t>
            </a:fld>
            <a:endParaRPr lang="en-US" spc="-1">
              <a:solidFill>
                <a:srgbClr val="000000"/>
              </a:solidFill>
              <a:uFill>
                <a:solidFill>
                  <a:srgbClr val="FFFFFF"/>
                </a:solidFill>
              </a:uFill>
              <a:latin typeface="Arial"/>
            </a:endParaRPr>
          </a:p>
        </p:txBody>
      </p:sp>
      <p:sp>
        <p:nvSpPr>
          <p:cNvPr id="429"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From Encoding to Encryption</a:t>
            </a:r>
            <a:endParaRPr lang="en-US" spc="-1">
              <a:solidFill>
                <a:srgbClr val="000000"/>
              </a:solidFill>
              <a:uFill>
                <a:solidFill>
                  <a:srgbClr val="FFFFFF"/>
                </a:solidFill>
              </a:uFill>
              <a:latin typeface="Arial"/>
            </a:endParaRPr>
          </a:p>
        </p:txBody>
      </p:sp>
      <p:sp>
        <p:nvSpPr>
          <p:cNvPr id="430"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The encoding/decoding programs we wrote use a </a:t>
            </a:r>
            <a:r>
              <a:rPr lang="en-US" sz="3200" i="1" spc="-1">
                <a:solidFill>
                  <a:srgbClr val="000000"/>
                </a:solidFill>
                <a:uFill>
                  <a:solidFill>
                    <a:srgbClr val="FFFFFF"/>
                  </a:solidFill>
                </a:uFill>
                <a:latin typeface="Tahoma"/>
              </a:rPr>
              <a:t>substitution cipher</a:t>
            </a:r>
            <a:r>
              <a:rPr lang="en-US" sz="3200" spc="-1">
                <a:solidFill>
                  <a:srgbClr val="000000"/>
                </a:solidFill>
                <a:uFill>
                  <a:solidFill>
                    <a:srgbClr val="FFFFFF"/>
                  </a:solidFill>
                </a:uFill>
                <a:latin typeface="Tahoma"/>
              </a:rPr>
              <a:t>, where each character of the original message, known as the </a:t>
            </a:r>
            <a:r>
              <a:rPr lang="en-US" sz="3200" i="1" spc="-1">
                <a:solidFill>
                  <a:srgbClr val="000000"/>
                </a:solidFill>
                <a:uFill>
                  <a:solidFill>
                    <a:srgbClr val="FFFFFF"/>
                  </a:solidFill>
                </a:uFill>
                <a:latin typeface="Tahoma"/>
              </a:rPr>
              <a:t>plaintext</a:t>
            </a:r>
            <a:r>
              <a:rPr lang="en-US" sz="3200" spc="-1">
                <a:solidFill>
                  <a:srgbClr val="000000"/>
                </a:solidFill>
                <a:uFill>
                  <a:solidFill>
                    <a:srgbClr val="FFFFFF"/>
                  </a:solidFill>
                </a:uFill>
                <a:latin typeface="Tahoma"/>
              </a:rPr>
              <a:t>, is replaced by a corresponding symbol in the </a:t>
            </a:r>
            <a:r>
              <a:rPr lang="en-US" sz="3200" i="1" spc="-1">
                <a:solidFill>
                  <a:srgbClr val="000000"/>
                </a:solidFill>
                <a:uFill>
                  <a:solidFill>
                    <a:srgbClr val="FFFFFF"/>
                  </a:solidFill>
                </a:uFill>
                <a:latin typeface="Tahoma"/>
              </a:rPr>
              <a:t>cipher alphabet</a:t>
            </a:r>
            <a:r>
              <a:rPr lang="en-US" sz="3200" spc="-1">
                <a:solidFill>
                  <a:srgbClr val="000000"/>
                </a:solidFill>
                <a:uFill>
                  <a:solidFill>
                    <a:srgbClr val="FFFFFF"/>
                  </a:solidFill>
                </a:uFill>
                <a:latin typeface="Tahoma"/>
              </a:rPr>
              <a:t>.</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The resulting code is known as the </a:t>
            </a:r>
            <a:r>
              <a:rPr lang="en-US" sz="3200" i="1" spc="-1">
                <a:solidFill>
                  <a:srgbClr val="000000"/>
                </a:solidFill>
                <a:uFill>
                  <a:solidFill>
                    <a:srgbClr val="FFFFFF"/>
                  </a:solidFill>
                </a:uFill>
                <a:latin typeface="Tahoma"/>
              </a:rPr>
              <a:t>ciphertext.</a:t>
            </a:r>
            <a:endParaRPr lang="en-US" spc="-1">
              <a:solidFill>
                <a:srgbClr val="000000"/>
              </a:solidFill>
              <a:uFill>
                <a:solidFill>
                  <a:srgbClr val="FFFFFF"/>
                </a:solidFill>
              </a:uFill>
              <a:latin typeface="Arial"/>
            </a:endParaRPr>
          </a:p>
        </p:txBody>
      </p:sp>
    </p:spTree>
    <p:extLst>
      <p:ext uri="{BB962C8B-B14F-4D97-AF65-F5344CB8AC3E}">
        <p14:creationId xmlns:p14="http://schemas.microsoft.com/office/powerpoint/2010/main" val="206617877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432"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E5EBD1DC-71C1-4A48-83A3-D29BBD04FFC6}" type="slidenum">
              <a:rPr lang="en-US" sz="1400" spc="-1">
                <a:solidFill>
                  <a:srgbClr val="000000"/>
                </a:solidFill>
                <a:uFill>
                  <a:solidFill>
                    <a:srgbClr val="FFFFFF"/>
                  </a:solidFill>
                </a:uFill>
                <a:latin typeface="Tahoma"/>
              </a:rPr>
              <a:t>41</a:t>
            </a:fld>
            <a:endParaRPr lang="en-US" spc="-1">
              <a:solidFill>
                <a:srgbClr val="000000"/>
              </a:solidFill>
              <a:uFill>
                <a:solidFill>
                  <a:srgbClr val="FFFFFF"/>
                </a:solidFill>
              </a:uFill>
              <a:latin typeface="Arial"/>
            </a:endParaRPr>
          </a:p>
        </p:txBody>
      </p:sp>
      <p:sp>
        <p:nvSpPr>
          <p:cNvPr id="433"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From Encoding to Encryption</a:t>
            </a:r>
            <a:endParaRPr lang="en-US" spc="-1">
              <a:solidFill>
                <a:srgbClr val="000000"/>
              </a:solidFill>
              <a:uFill>
                <a:solidFill>
                  <a:srgbClr val="FFFFFF"/>
                </a:solidFill>
              </a:uFill>
              <a:latin typeface="Arial"/>
            </a:endParaRPr>
          </a:p>
        </p:txBody>
      </p:sp>
      <p:sp>
        <p:nvSpPr>
          <p:cNvPr id="434"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This type of code is relatively easy to break.</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Each letter is always encoded with the same symbol, so using statistical analysis on the frequency of the letters and trial and error, the original message can be determined.</a:t>
            </a:r>
            <a:endParaRPr lang="en-US" spc="-1">
              <a:solidFill>
                <a:srgbClr val="000000"/>
              </a:solidFill>
              <a:uFill>
                <a:solidFill>
                  <a:srgbClr val="FFFFFF"/>
                </a:solidFill>
              </a:uFill>
              <a:latin typeface="Arial"/>
            </a:endParaRPr>
          </a:p>
        </p:txBody>
      </p:sp>
    </p:spTree>
    <p:extLst>
      <p:ext uri="{BB962C8B-B14F-4D97-AF65-F5344CB8AC3E}">
        <p14:creationId xmlns:p14="http://schemas.microsoft.com/office/powerpoint/2010/main" val="289730874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436"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F564AF92-5C83-4D0D-9471-988F627CCF29}" type="slidenum">
              <a:rPr lang="en-US" sz="1400" spc="-1">
                <a:solidFill>
                  <a:srgbClr val="000000"/>
                </a:solidFill>
                <a:uFill>
                  <a:solidFill>
                    <a:srgbClr val="FFFFFF"/>
                  </a:solidFill>
                </a:uFill>
                <a:latin typeface="Tahoma"/>
              </a:rPr>
              <a:t>42</a:t>
            </a:fld>
            <a:endParaRPr lang="en-US" spc="-1">
              <a:solidFill>
                <a:srgbClr val="000000"/>
              </a:solidFill>
              <a:uFill>
                <a:solidFill>
                  <a:srgbClr val="FFFFFF"/>
                </a:solidFill>
              </a:uFill>
              <a:latin typeface="Arial"/>
            </a:endParaRPr>
          </a:p>
        </p:txBody>
      </p:sp>
      <p:sp>
        <p:nvSpPr>
          <p:cNvPr id="437"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From Encoding to Encryption</a:t>
            </a:r>
            <a:endParaRPr lang="en-US" spc="-1">
              <a:solidFill>
                <a:srgbClr val="000000"/>
              </a:solidFill>
              <a:uFill>
                <a:solidFill>
                  <a:srgbClr val="FFFFFF"/>
                </a:solidFill>
              </a:uFill>
              <a:latin typeface="Arial"/>
            </a:endParaRPr>
          </a:p>
        </p:txBody>
      </p:sp>
      <p:sp>
        <p:nvSpPr>
          <p:cNvPr id="438"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Modern encryption converts messages into numbers.</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Sophisticated mathematical formulas convert these numbers into new numbers </a:t>
            </a:r>
            <a:r>
              <a:rPr lang="en-US" sz="3200" spc="-1">
                <a:solidFill>
                  <a:srgbClr val="000000"/>
                </a:solidFill>
                <a:uFill>
                  <a:solidFill>
                    <a:srgbClr val="FFFFFF"/>
                  </a:solidFill>
                </a:uFill>
                <a:latin typeface="Times New Roman"/>
              </a:rPr>
              <a:t>–</a:t>
            </a:r>
            <a:r>
              <a:rPr lang="en-US" sz="3200" spc="-1">
                <a:solidFill>
                  <a:srgbClr val="000000"/>
                </a:solidFill>
                <a:uFill>
                  <a:solidFill>
                    <a:srgbClr val="FFFFFF"/>
                  </a:solidFill>
                </a:uFill>
                <a:latin typeface="Tahoma"/>
              </a:rPr>
              <a:t> usually this transformation consists of combining the message with another value called the </a:t>
            </a:r>
            <a:r>
              <a:rPr lang="en-US" sz="3200" spc="-1">
                <a:solidFill>
                  <a:srgbClr val="000000"/>
                </a:solidFill>
                <a:uFill>
                  <a:solidFill>
                    <a:srgbClr val="FFFFFF"/>
                  </a:solidFill>
                </a:uFill>
                <a:latin typeface="Times New Roman"/>
              </a:rPr>
              <a:t>“</a:t>
            </a:r>
            <a:r>
              <a:rPr lang="en-US" sz="3200" i="1" spc="-1">
                <a:solidFill>
                  <a:srgbClr val="000000"/>
                </a:solidFill>
                <a:uFill>
                  <a:solidFill>
                    <a:srgbClr val="FFFFFF"/>
                  </a:solidFill>
                </a:uFill>
                <a:latin typeface="Tahoma"/>
              </a:rPr>
              <a:t>key</a:t>
            </a:r>
            <a:r>
              <a:rPr lang="en-US" sz="3200" spc="-1">
                <a:solidFill>
                  <a:srgbClr val="000000"/>
                </a:solidFill>
                <a:uFill>
                  <a:solidFill>
                    <a:srgbClr val="FFFFFF"/>
                  </a:solidFill>
                </a:uFill>
                <a:latin typeface="Times New Roman"/>
              </a:rPr>
              <a:t>”</a:t>
            </a:r>
            <a:endParaRPr lang="en-US" spc="-1">
              <a:solidFill>
                <a:srgbClr val="000000"/>
              </a:solidFill>
              <a:uFill>
                <a:solidFill>
                  <a:srgbClr val="FFFFFF"/>
                </a:solidFill>
              </a:uFill>
              <a:latin typeface="Arial"/>
            </a:endParaRPr>
          </a:p>
        </p:txBody>
      </p:sp>
    </p:spTree>
    <p:extLst>
      <p:ext uri="{BB962C8B-B14F-4D97-AF65-F5344CB8AC3E}">
        <p14:creationId xmlns:p14="http://schemas.microsoft.com/office/powerpoint/2010/main" val="58635141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3/e</a:t>
            </a:r>
            <a:endParaRPr lang="en-US" spc="-1">
              <a:solidFill>
                <a:srgbClr val="000000"/>
              </a:solidFill>
              <a:uFill>
                <a:solidFill>
                  <a:srgbClr val="FFFFFF"/>
                </a:solidFill>
              </a:uFill>
              <a:latin typeface="Arial"/>
            </a:endParaRPr>
          </a:p>
        </p:txBody>
      </p:sp>
      <p:sp>
        <p:nvSpPr>
          <p:cNvPr id="440"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260FC753-688C-4A4B-85E2-A2E6534C9163}" type="slidenum">
              <a:rPr lang="en-US" sz="1400" spc="-1">
                <a:solidFill>
                  <a:srgbClr val="000000"/>
                </a:solidFill>
                <a:uFill>
                  <a:solidFill>
                    <a:srgbClr val="FFFFFF"/>
                  </a:solidFill>
                </a:uFill>
                <a:latin typeface="Tahoma"/>
              </a:rPr>
              <a:t>43</a:t>
            </a:fld>
            <a:endParaRPr lang="en-US" spc="-1">
              <a:solidFill>
                <a:srgbClr val="000000"/>
              </a:solidFill>
              <a:uFill>
                <a:solidFill>
                  <a:srgbClr val="FFFFFF"/>
                </a:solidFill>
              </a:uFill>
              <a:latin typeface="Arial"/>
            </a:endParaRPr>
          </a:p>
        </p:txBody>
      </p:sp>
      <p:sp>
        <p:nvSpPr>
          <p:cNvPr id="441"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From Encoding to Encryption</a:t>
            </a:r>
            <a:endParaRPr lang="en-US" spc="-1">
              <a:solidFill>
                <a:srgbClr val="000000"/>
              </a:solidFill>
              <a:uFill>
                <a:solidFill>
                  <a:srgbClr val="FFFFFF"/>
                </a:solidFill>
              </a:uFill>
              <a:latin typeface="Arial"/>
            </a:endParaRPr>
          </a:p>
        </p:txBody>
      </p:sp>
      <p:sp>
        <p:nvSpPr>
          <p:cNvPr id="442"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r>
              <a:rPr lang="en-US" sz="2800" spc="-1">
                <a:solidFill>
                  <a:srgbClr val="000000"/>
                </a:solidFill>
                <a:uFill>
                  <a:solidFill>
                    <a:srgbClr val="FFFFFF"/>
                  </a:solidFill>
                </a:uFill>
                <a:latin typeface="Tahoma"/>
              </a:rPr>
              <a:t>To decrypt the message, the receiving end needs an appropriate key so the encoding can be reversed.</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2800" spc="-1">
                <a:solidFill>
                  <a:srgbClr val="000000"/>
                </a:solidFill>
                <a:uFill>
                  <a:solidFill>
                    <a:srgbClr val="FFFFFF"/>
                  </a:solidFill>
                </a:uFill>
                <a:latin typeface="Tahoma"/>
              </a:rPr>
              <a:t>In a </a:t>
            </a:r>
            <a:r>
              <a:rPr lang="en-US" sz="2800" i="1" spc="-1">
                <a:solidFill>
                  <a:srgbClr val="000000"/>
                </a:solidFill>
                <a:uFill>
                  <a:solidFill>
                    <a:srgbClr val="FFFFFF"/>
                  </a:solidFill>
                </a:uFill>
                <a:latin typeface="Tahoma"/>
              </a:rPr>
              <a:t>private key</a:t>
            </a:r>
            <a:r>
              <a:rPr lang="en-US" sz="2800" spc="-1">
                <a:solidFill>
                  <a:srgbClr val="000000"/>
                </a:solidFill>
                <a:uFill>
                  <a:solidFill>
                    <a:srgbClr val="FFFFFF"/>
                  </a:solidFill>
                </a:uFill>
                <a:latin typeface="Tahoma"/>
              </a:rPr>
              <a:t> (or </a:t>
            </a:r>
            <a:r>
              <a:rPr lang="en-US" sz="2800" i="1" spc="-1">
                <a:solidFill>
                  <a:srgbClr val="000000"/>
                </a:solidFill>
                <a:uFill>
                  <a:solidFill>
                    <a:srgbClr val="FFFFFF"/>
                  </a:solidFill>
                </a:uFill>
                <a:latin typeface="Tahoma"/>
              </a:rPr>
              <a:t>shared key</a:t>
            </a:r>
            <a:r>
              <a:rPr lang="en-US" sz="2800" spc="-1">
                <a:solidFill>
                  <a:srgbClr val="000000"/>
                </a:solidFill>
                <a:uFill>
                  <a:solidFill>
                    <a:srgbClr val="FFFFFF"/>
                  </a:solidFill>
                </a:uFill>
                <a:latin typeface="Tahoma"/>
              </a:rPr>
              <a:t>) system the same key is used for encrypting and decrypting messages. Everyone you know would need a copy of this key to communicate with you, but it needs to be kept a secret.</a:t>
            </a:r>
            <a:endParaRPr lang="en-US" spc="-1">
              <a:solidFill>
                <a:srgbClr val="000000"/>
              </a:solidFill>
              <a:uFill>
                <a:solidFill>
                  <a:srgbClr val="FFFFFF"/>
                </a:solidFill>
              </a:uFill>
              <a:latin typeface="Arial"/>
            </a:endParaRPr>
          </a:p>
        </p:txBody>
      </p:sp>
    </p:spTree>
    <p:extLst>
      <p:ext uri="{BB962C8B-B14F-4D97-AF65-F5344CB8AC3E}">
        <p14:creationId xmlns:p14="http://schemas.microsoft.com/office/powerpoint/2010/main" val="92545903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3/e</a:t>
            </a:r>
            <a:endParaRPr lang="en-US" spc="-1">
              <a:solidFill>
                <a:srgbClr val="000000"/>
              </a:solidFill>
              <a:uFill>
                <a:solidFill>
                  <a:srgbClr val="FFFFFF"/>
                </a:solidFill>
              </a:uFill>
              <a:latin typeface="Arial"/>
            </a:endParaRPr>
          </a:p>
        </p:txBody>
      </p:sp>
      <p:sp>
        <p:nvSpPr>
          <p:cNvPr id="444"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C593FE9E-E26C-4AA3-8762-F375C5A8F9E1}" type="slidenum">
              <a:rPr lang="en-US" sz="1400" spc="-1">
                <a:solidFill>
                  <a:srgbClr val="000000"/>
                </a:solidFill>
                <a:uFill>
                  <a:solidFill>
                    <a:srgbClr val="FFFFFF"/>
                  </a:solidFill>
                </a:uFill>
                <a:latin typeface="Tahoma"/>
              </a:rPr>
              <a:t>44</a:t>
            </a:fld>
            <a:endParaRPr lang="en-US" spc="-1">
              <a:solidFill>
                <a:srgbClr val="000000"/>
              </a:solidFill>
              <a:uFill>
                <a:solidFill>
                  <a:srgbClr val="FFFFFF"/>
                </a:solidFill>
              </a:uFill>
              <a:latin typeface="Arial"/>
            </a:endParaRPr>
          </a:p>
        </p:txBody>
      </p:sp>
      <p:sp>
        <p:nvSpPr>
          <p:cNvPr id="445"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From Encoding to Encryption</a:t>
            </a:r>
            <a:endParaRPr lang="en-US" spc="-1">
              <a:solidFill>
                <a:srgbClr val="000000"/>
              </a:solidFill>
              <a:uFill>
                <a:solidFill>
                  <a:srgbClr val="FFFFFF"/>
                </a:solidFill>
              </a:uFill>
              <a:latin typeface="Arial"/>
            </a:endParaRPr>
          </a:p>
        </p:txBody>
      </p:sp>
      <p:sp>
        <p:nvSpPr>
          <p:cNvPr id="446"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r>
              <a:rPr lang="en-US" sz="2800" spc="-1">
                <a:solidFill>
                  <a:srgbClr val="000000"/>
                </a:solidFill>
                <a:uFill>
                  <a:solidFill>
                    <a:srgbClr val="FFFFFF"/>
                  </a:solidFill>
                </a:uFill>
                <a:latin typeface="Tahoma"/>
              </a:rPr>
              <a:t>In </a:t>
            </a:r>
            <a:r>
              <a:rPr lang="en-US" sz="2800" i="1" spc="-1">
                <a:solidFill>
                  <a:srgbClr val="000000"/>
                </a:solidFill>
                <a:uFill>
                  <a:solidFill>
                    <a:srgbClr val="FFFFFF"/>
                  </a:solidFill>
                </a:uFill>
                <a:latin typeface="Tahoma"/>
              </a:rPr>
              <a:t>public key</a:t>
            </a:r>
            <a:r>
              <a:rPr lang="en-US" sz="2800" spc="-1">
                <a:solidFill>
                  <a:srgbClr val="000000"/>
                </a:solidFill>
                <a:uFill>
                  <a:solidFill>
                    <a:srgbClr val="FFFFFF"/>
                  </a:solidFill>
                </a:uFill>
                <a:latin typeface="Tahoma"/>
              </a:rPr>
              <a:t> encryption, there are separate keys for encrypting and decrypting the message.</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2800" spc="-1">
                <a:solidFill>
                  <a:srgbClr val="000000"/>
                </a:solidFill>
                <a:uFill>
                  <a:solidFill>
                    <a:srgbClr val="FFFFFF"/>
                  </a:solidFill>
                </a:uFill>
                <a:latin typeface="Tahoma"/>
              </a:rPr>
              <a:t>In public key systems, the encryption key is made publicly available, while the decryption key is kept private.</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2800" spc="-1">
                <a:solidFill>
                  <a:srgbClr val="000000"/>
                </a:solidFill>
                <a:uFill>
                  <a:solidFill>
                    <a:srgbClr val="FFFFFF"/>
                  </a:solidFill>
                </a:uFill>
                <a:latin typeface="Tahoma"/>
              </a:rPr>
              <a:t>Anyone with the public key can send a message, but only the person who holds the private key (decryption key) can decrypt it.</a:t>
            </a:r>
            <a:endParaRPr lang="en-US" spc="-1">
              <a:solidFill>
                <a:srgbClr val="000000"/>
              </a:solidFill>
              <a:uFill>
                <a:solidFill>
                  <a:srgbClr val="FFFFFF"/>
                </a:solidFill>
              </a:uFill>
              <a:latin typeface="Arial"/>
            </a:endParaRPr>
          </a:p>
        </p:txBody>
      </p:sp>
    </p:spTree>
    <p:extLst>
      <p:ext uri="{BB962C8B-B14F-4D97-AF65-F5344CB8AC3E}">
        <p14:creationId xmlns:p14="http://schemas.microsoft.com/office/powerpoint/2010/main" val="207754315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384"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5C8127F0-A47C-404F-B97E-B664929E44D2}" type="slidenum">
              <a:rPr lang="en-US" sz="1400" spc="-1">
                <a:solidFill>
                  <a:srgbClr val="000000"/>
                </a:solidFill>
                <a:uFill>
                  <a:solidFill>
                    <a:srgbClr val="FFFFFF"/>
                  </a:solidFill>
                </a:uFill>
                <a:latin typeface="Tahoma"/>
              </a:rPr>
              <a:t>45</a:t>
            </a:fld>
            <a:endParaRPr lang="en-US" spc="-1">
              <a:solidFill>
                <a:srgbClr val="000000"/>
              </a:solidFill>
              <a:uFill>
                <a:solidFill>
                  <a:srgbClr val="FFFFFF"/>
                </a:solidFill>
              </a:uFill>
              <a:latin typeface="Arial"/>
            </a:endParaRPr>
          </a:p>
        </p:txBody>
      </p:sp>
      <p:sp>
        <p:nvSpPr>
          <p:cNvPr id="385"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More String Methods</a:t>
            </a:r>
            <a:endParaRPr lang="en-US" spc="-1">
              <a:solidFill>
                <a:srgbClr val="000000"/>
              </a:solidFill>
              <a:uFill>
                <a:solidFill>
                  <a:srgbClr val="FFFFFF"/>
                </a:solidFill>
              </a:uFill>
              <a:latin typeface="Arial"/>
            </a:endParaRPr>
          </a:p>
        </p:txBody>
      </p:sp>
      <p:sp>
        <p:nvSpPr>
          <p:cNvPr id="386" name="CustomShape 4"/>
          <p:cNvSpPr/>
          <p:nvPr/>
        </p:nvSpPr>
        <p:spPr>
          <a:xfrm>
            <a:off x="1657350" y="2017800"/>
            <a:ext cx="962025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90000"/>
              </a:lnSpc>
              <a:buClr>
                <a:srgbClr val="3333CC"/>
              </a:buClr>
              <a:buSzPct val="60000"/>
              <a:buFont typeface="Wingdings" charset="2"/>
              <a:buChar char=""/>
            </a:pPr>
            <a:r>
              <a:rPr lang="en-US" sz="3200" spc="-1">
                <a:solidFill>
                  <a:srgbClr val="000000"/>
                </a:solidFill>
                <a:uFill>
                  <a:solidFill>
                    <a:srgbClr val="FFFFFF"/>
                  </a:solidFill>
                </a:uFill>
                <a:latin typeface="Tahoma"/>
              </a:rPr>
              <a:t>There are a number of other string methods. Try them all!</a:t>
            </a:r>
            <a:endParaRPr lang="en-US" spc="-1">
              <a:solidFill>
                <a:srgbClr val="000000"/>
              </a:solidFill>
              <a:uFill>
                <a:solidFill>
                  <a:srgbClr val="FFFFFF"/>
                </a:solidFill>
              </a:uFill>
              <a:latin typeface="Arial"/>
            </a:endParaRPr>
          </a:p>
          <a:p>
            <a:pPr marL="743040" lvl="1" indent="-285120">
              <a:lnSpc>
                <a:spcPct val="90000"/>
              </a:lnSpc>
              <a:buClr>
                <a:srgbClr val="FF0000"/>
              </a:buClr>
              <a:buSzPct val="55000"/>
              <a:buFont typeface="Wingdings" charset="2"/>
              <a:buChar char=""/>
            </a:pPr>
            <a:r>
              <a:rPr lang="en-US" sz="2400" spc="-1" err="1">
                <a:solidFill>
                  <a:srgbClr val="000000"/>
                </a:solidFill>
                <a:uFill>
                  <a:solidFill>
                    <a:srgbClr val="FFFFFF"/>
                  </a:solidFill>
                </a:uFill>
                <a:latin typeface="Courier New"/>
              </a:rPr>
              <a:t>s.capitalize</a:t>
            </a:r>
            <a:r>
              <a:rPr lang="en-US" sz="2400" spc="-1">
                <a:solidFill>
                  <a:srgbClr val="000000"/>
                </a:solidFill>
                <a:uFill>
                  <a:solidFill>
                    <a:srgbClr val="FFFFFF"/>
                  </a:solidFill>
                </a:uFill>
                <a:latin typeface="Courier New"/>
              </a:rPr>
              <a:t>()</a:t>
            </a:r>
            <a:r>
              <a:rPr lang="en-US" sz="2800" spc="-1">
                <a:solidFill>
                  <a:srgbClr val="000000"/>
                </a:solidFill>
                <a:uFill>
                  <a:solidFill>
                    <a:srgbClr val="FFFFFF"/>
                  </a:solidFill>
                </a:uFill>
                <a:latin typeface="Tahoma"/>
              </a:rPr>
              <a:t> </a:t>
            </a:r>
            <a:r>
              <a:rPr lang="en-US" sz="2800" spc="-1">
                <a:solidFill>
                  <a:srgbClr val="000000"/>
                </a:solidFill>
                <a:uFill>
                  <a:solidFill>
                    <a:srgbClr val="FFFFFF"/>
                  </a:solidFill>
                </a:uFill>
                <a:latin typeface="Times New Roman"/>
              </a:rPr>
              <a:t>–</a:t>
            </a:r>
            <a:r>
              <a:rPr lang="en-US" sz="2800" spc="-1">
                <a:solidFill>
                  <a:srgbClr val="000000"/>
                </a:solidFill>
                <a:uFill>
                  <a:solidFill>
                    <a:srgbClr val="FFFFFF"/>
                  </a:solidFill>
                </a:uFill>
                <a:latin typeface="Tahoma"/>
              </a:rPr>
              <a:t> Copy of s with only the first character capitalized</a:t>
            </a:r>
            <a:endParaRPr lang="en-US" spc="-1">
              <a:solidFill>
                <a:srgbClr val="000000"/>
              </a:solidFill>
              <a:uFill>
                <a:solidFill>
                  <a:srgbClr val="FFFFFF"/>
                </a:solidFill>
              </a:uFill>
              <a:latin typeface="Arial"/>
            </a:endParaRPr>
          </a:p>
          <a:p>
            <a:pPr marL="743040" lvl="1" indent="-285120">
              <a:lnSpc>
                <a:spcPct val="90000"/>
              </a:lnSpc>
              <a:buClr>
                <a:srgbClr val="FF0000"/>
              </a:buClr>
              <a:buSzPct val="55000"/>
              <a:buFont typeface="Wingdings" charset="2"/>
              <a:buChar char=""/>
            </a:pPr>
            <a:r>
              <a:rPr lang="en-US" sz="2400" spc="-1" err="1">
                <a:solidFill>
                  <a:srgbClr val="000000"/>
                </a:solidFill>
                <a:uFill>
                  <a:solidFill>
                    <a:srgbClr val="FFFFFF"/>
                  </a:solidFill>
                </a:uFill>
                <a:latin typeface="Courier New"/>
              </a:rPr>
              <a:t>s.title</a:t>
            </a:r>
            <a:r>
              <a:rPr lang="en-US" sz="2400" spc="-1">
                <a:solidFill>
                  <a:srgbClr val="000000"/>
                </a:solidFill>
                <a:uFill>
                  <a:solidFill>
                    <a:srgbClr val="FFFFFF"/>
                  </a:solidFill>
                </a:uFill>
                <a:latin typeface="Courier New"/>
              </a:rPr>
              <a:t>()</a:t>
            </a:r>
            <a:r>
              <a:rPr lang="en-US" sz="2800" spc="-1">
                <a:solidFill>
                  <a:srgbClr val="000000"/>
                </a:solidFill>
                <a:uFill>
                  <a:solidFill>
                    <a:srgbClr val="FFFFFF"/>
                  </a:solidFill>
                </a:uFill>
                <a:latin typeface="Tahoma"/>
              </a:rPr>
              <a:t> </a:t>
            </a:r>
            <a:r>
              <a:rPr lang="en-US" sz="2800" spc="-1">
                <a:solidFill>
                  <a:srgbClr val="000000"/>
                </a:solidFill>
                <a:uFill>
                  <a:solidFill>
                    <a:srgbClr val="FFFFFF"/>
                  </a:solidFill>
                </a:uFill>
                <a:latin typeface="Times New Roman"/>
              </a:rPr>
              <a:t>–</a:t>
            </a:r>
            <a:r>
              <a:rPr lang="en-US" sz="2800" spc="-1">
                <a:solidFill>
                  <a:srgbClr val="000000"/>
                </a:solidFill>
                <a:uFill>
                  <a:solidFill>
                    <a:srgbClr val="FFFFFF"/>
                  </a:solidFill>
                </a:uFill>
                <a:latin typeface="Tahoma"/>
              </a:rPr>
              <a:t> Copy of s; first character of each word capitalized</a:t>
            </a:r>
            <a:endParaRPr lang="en-US" spc="-1">
              <a:solidFill>
                <a:srgbClr val="000000"/>
              </a:solidFill>
              <a:uFill>
                <a:solidFill>
                  <a:srgbClr val="FFFFFF"/>
                </a:solidFill>
              </a:uFill>
              <a:latin typeface="Arial"/>
            </a:endParaRPr>
          </a:p>
          <a:p>
            <a:pPr marL="743040" lvl="1" indent="-285120">
              <a:lnSpc>
                <a:spcPct val="90000"/>
              </a:lnSpc>
              <a:buClr>
                <a:srgbClr val="FF0000"/>
              </a:buClr>
              <a:buSzPct val="55000"/>
              <a:buFont typeface="Wingdings" charset="2"/>
              <a:buChar char=""/>
            </a:pPr>
            <a:r>
              <a:rPr lang="en-US" sz="2400" spc="-1" err="1">
                <a:solidFill>
                  <a:srgbClr val="000000"/>
                </a:solidFill>
                <a:uFill>
                  <a:solidFill>
                    <a:srgbClr val="FFFFFF"/>
                  </a:solidFill>
                </a:uFill>
                <a:latin typeface="Courier New"/>
              </a:rPr>
              <a:t>s.center</a:t>
            </a:r>
            <a:r>
              <a:rPr lang="en-US" sz="2400" spc="-1">
                <a:solidFill>
                  <a:srgbClr val="000000"/>
                </a:solidFill>
                <a:uFill>
                  <a:solidFill>
                    <a:srgbClr val="FFFFFF"/>
                  </a:solidFill>
                </a:uFill>
                <a:latin typeface="Courier New"/>
              </a:rPr>
              <a:t>(width)</a:t>
            </a:r>
            <a:r>
              <a:rPr lang="en-US" sz="2800" spc="-1">
                <a:solidFill>
                  <a:srgbClr val="000000"/>
                </a:solidFill>
                <a:uFill>
                  <a:solidFill>
                    <a:srgbClr val="FFFFFF"/>
                  </a:solidFill>
                </a:uFill>
                <a:latin typeface="Tahoma"/>
              </a:rPr>
              <a:t> </a:t>
            </a:r>
            <a:r>
              <a:rPr lang="en-US" sz="2800" spc="-1">
                <a:solidFill>
                  <a:srgbClr val="000000"/>
                </a:solidFill>
                <a:uFill>
                  <a:solidFill>
                    <a:srgbClr val="FFFFFF"/>
                  </a:solidFill>
                </a:uFill>
                <a:latin typeface="Times New Roman"/>
              </a:rPr>
              <a:t>–</a:t>
            </a:r>
            <a:r>
              <a:rPr lang="en-US" sz="2800" spc="-1">
                <a:solidFill>
                  <a:srgbClr val="000000"/>
                </a:solidFill>
                <a:uFill>
                  <a:solidFill>
                    <a:srgbClr val="FFFFFF"/>
                  </a:solidFill>
                </a:uFill>
                <a:latin typeface="Tahoma"/>
              </a:rPr>
              <a:t> Center s in a field of given width</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388"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FE818E7A-00C7-4D8C-B281-54D08B7B72BA}" type="slidenum">
              <a:rPr lang="en-US" sz="1400" spc="-1">
                <a:solidFill>
                  <a:srgbClr val="000000"/>
                </a:solidFill>
                <a:uFill>
                  <a:solidFill>
                    <a:srgbClr val="FFFFFF"/>
                  </a:solidFill>
                </a:uFill>
                <a:latin typeface="Tahoma"/>
              </a:rPr>
              <a:t>46</a:t>
            </a:fld>
            <a:endParaRPr lang="en-US" spc="-1">
              <a:solidFill>
                <a:srgbClr val="000000"/>
              </a:solidFill>
              <a:uFill>
                <a:solidFill>
                  <a:srgbClr val="FFFFFF"/>
                </a:solidFill>
              </a:uFill>
              <a:latin typeface="Arial"/>
            </a:endParaRPr>
          </a:p>
        </p:txBody>
      </p:sp>
      <p:sp>
        <p:nvSpPr>
          <p:cNvPr id="389"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More String Methods</a:t>
            </a:r>
            <a:endParaRPr lang="en-US" spc="-1">
              <a:solidFill>
                <a:srgbClr val="000000"/>
              </a:solidFill>
              <a:uFill>
                <a:solidFill>
                  <a:srgbClr val="FFFFFF"/>
                </a:solidFill>
              </a:uFill>
              <a:latin typeface="Arial"/>
            </a:endParaRPr>
          </a:p>
        </p:txBody>
      </p:sp>
      <p:sp>
        <p:nvSpPr>
          <p:cNvPr id="390" name="CustomShape 4"/>
          <p:cNvSpPr/>
          <p:nvPr/>
        </p:nvSpPr>
        <p:spPr>
          <a:xfrm>
            <a:off x="1543050" y="2017800"/>
            <a:ext cx="958215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743040" lvl="1" indent="-285120">
              <a:buClr>
                <a:srgbClr val="FF0000"/>
              </a:buClr>
              <a:buSzPct val="55000"/>
              <a:buFont typeface="Wingdings" charset="2"/>
              <a:buChar char=""/>
            </a:pPr>
            <a:r>
              <a:rPr lang="en-US" sz="2800" spc="-1" err="1">
                <a:solidFill>
                  <a:srgbClr val="000000"/>
                </a:solidFill>
                <a:uFill>
                  <a:solidFill>
                    <a:srgbClr val="FFFFFF"/>
                  </a:solidFill>
                </a:uFill>
                <a:latin typeface="Courier New"/>
              </a:rPr>
              <a:t>s.count</a:t>
            </a:r>
            <a:r>
              <a:rPr lang="en-US" sz="2800" spc="-1">
                <a:solidFill>
                  <a:srgbClr val="000000"/>
                </a:solidFill>
                <a:uFill>
                  <a:solidFill>
                    <a:srgbClr val="FFFFFF"/>
                  </a:solidFill>
                </a:uFill>
                <a:latin typeface="Courier New"/>
              </a:rPr>
              <a:t>(sub)</a:t>
            </a:r>
            <a:r>
              <a:rPr lang="en-US" sz="2800" spc="-1">
                <a:solidFill>
                  <a:srgbClr val="000000"/>
                </a:solidFill>
                <a:uFill>
                  <a:solidFill>
                    <a:srgbClr val="FFFFFF"/>
                  </a:solidFill>
                </a:uFill>
                <a:latin typeface="Tahoma"/>
              </a:rPr>
              <a:t> </a:t>
            </a:r>
            <a:r>
              <a:rPr lang="en-US" sz="2800" spc="-1">
                <a:solidFill>
                  <a:srgbClr val="000000"/>
                </a:solidFill>
                <a:uFill>
                  <a:solidFill>
                    <a:srgbClr val="FFFFFF"/>
                  </a:solidFill>
                </a:uFill>
                <a:latin typeface="Times New Roman"/>
              </a:rPr>
              <a:t>–</a:t>
            </a:r>
            <a:r>
              <a:rPr lang="en-US" sz="2800" spc="-1">
                <a:solidFill>
                  <a:srgbClr val="000000"/>
                </a:solidFill>
                <a:uFill>
                  <a:solidFill>
                    <a:srgbClr val="FFFFFF"/>
                  </a:solidFill>
                </a:uFill>
                <a:latin typeface="Tahoma"/>
              </a:rPr>
              <a:t> Count the number of occurrences of sub in s</a:t>
            </a:r>
            <a:endParaRPr lang="en-US" spc="-1">
              <a:solidFill>
                <a:srgbClr val="000000"/>
              </a:solidFill>
              <a:uFill>
                <a:solidFill>
                  <a:srgbClr val="FFFFFF"/>
                </a:solidFill>
              </a:uFill>
              <a:latin typeface="Arial"/>
            </a:endParaRPr>
          </a:p>
          <a:p>
            <a:pPr marL="743040" lvl="1" indent="-285120">
              <a:buClr>
                <a:srgbClr val="FF0000"/>
              </a:buClr>
              <a:buSzPct val="55000"/>
              <a:buFont typeface="Wingdings" charset="2"/>
              <a:buChar char=""/>
            </a:pPr>
            <a:r>
              <a:rPr lang="en-US" sz="2800" spc="-1" err="1">
                <a:solidFill>
                  <a:srgbClr val="000000"/>
                </a:solidFill>
                <a:uFill>
                  <a:solidFill>
                    <a:srgbClr val="FFFFFF"/>
                  </a:solidFill>
                </a:uFill>
                <a:latin typeface="Courier New"/>
              </a:rPr>
              <a:t>s.find</a:t>
            </a:r>
            <a:r>
              <a:rPr lang="en-US" sz="2800" spc="-1">
                <a:solidFill>
                  <a:srgbClr val="000000"/>
                </a:solidFill>
                <a:uFill>
                  <a:solidFill>
                    <a:srgbClr val="FFFFFF"/>
                  </a:solidFill>
                </a:uFill>
                <a:latin typeface="Courier New"/>
              </a:rPr>
              <a:t>(sub)</a:t>
            </a:r>
            <a:r>
              <a:rPr lang="en-US" sz="2800" spc="-1">
                <a:solidFill>
                  <a:srgbClr val="000000"/>
                </a:solidFill>
                <a:uFill>
                  <a:solidFill>
                    <a:srgbClr val="FFFFFF"/>
                  </a:solidFill>
                </a:uFill>
                <a:latin typeface="Tahoma"/>
              </a:rPr>
              <a:t> </a:t>
            </a:r>
            <a:r>
              <a:rPr lang="en-US" sz="2800" spc="-1">
                <a:solidFill>
                  <a:srgbClr val="000000"/>
                </a:solidFill>
                <a:uFill>
                  <a:solidFill>
                    <a:srgbClr val="FFFFFF"/>
                  </a:solidFill>
                </a:uFill>
                <a:latin typeface="Times New Roman"/>
              </a:rPr>
              <a:t>–</a:t>
            </a:r>
            <a:r>
              <a:rPr lang="en-US" sz="2800" spc="-1">
                <a:solidFill>
                  <a:srgbClr val="000000"/>
                </a:solidFill>
                <a:uFill>
                  <a:solidFill>
                    <a:srgbClr val="FFFFFF"/>
                  </a:solidFill>
                </a:uFill>
                <a:latin typeface="Tahoma"/>
              </a:rPr>
              <a:t> Find the first position where sub occurs in s</a:t>
            </a:r>
            <a:endParaRPr lang="en-US" spc="-1">
              <a:solidFill>
                <a:srgbClr val="000000"/>
              </a:solidFill>
              <a:uFill>
                <a:solidFill>
                  <a:srgbClr val="FFFFFF"/>
                </a:solidFill>
              </a:uFill>
              <a:latin typeface="Arial"/>
            </a:endParaRPr>
          </a:p>
          <a:p>
            <a:pPr marL="743040" lvl="1" indent="-285120">
              <a:buClr>
                <a:srgbClr val="FF0000"/>
              </a:buClr>
              <a:buSzPct val="55000"/>
              <a:buFont typeface="Wingdings" charset="2"/>
              <a:buChar char=""/>
            </a:pPr>
            <a:r>
              <a:rPr lang="en-US" sz="2800" spc="-1" err="1">
                <a:solidFill>
                  <a:srgbClr val="000000"/>
                </a:solidFill>
                <a:uFill>
                  <a:solidFill>
                    <a:srgbClr val="FFFFFF"/>
                  </a:solidFill>
                </a:uFill>
                <a:latin typeface="Courier New"/>
              </a:rPr>
              <a:t>s.join</a:t>
            </a:r>
            <a:r>
              <a:rPr lang="en-US" sz="2800" spc="-1">
                <a:solidFill>
                  <a:srgbClr val="000000"/>
                </a:solidFill>
                <a:uFill>
                  <a:solidFill>
                    <a:srgbClr val="FFFFFF"/>
                  </a:solidFill>
                </a:uFill>
                <a:latin typeface="Courier New"/>
              </a:rPr>
              <a:t>(list)</a:t>
            </a:r>
            <a:r>
              <a:rPr lang="en-US" sz="2800" spc="-1">
                <a:solidFill>
                  <a:srgbClr val="000000"/>
                </a:solidFill>
                <a:uFill>
                  <a:solidFill>
                    <a:srgbClr val="FFFFFF"/>
                  </a:solidFill>
                </a:uFill>
                <a:latin typeface="Tahoma"/>
              </a:rPr>
              <a:t> </a:t>
            </a:r>
            <a:r>
              <a:rPr lang="en-US" sz="2800" spc="-1">
                <a:solidFill>
                  <a:srgbClr val="000000"/>
                </a:solidFill>
                <a:uFill>
                  <a:solidFill>
                    <a:srgbClr val="FFFFFF"/>
                  </a:solidFill>
                </a:uFill>
                <a:latin typeface="Times New Roman"/>
              </a:rPr>
              <a:t>–</a:t>
            </a:r>
            <a:r>
              <a:rPr lang="en-US" sz="2800" spc="-1">
                <a:solidFill>
                  <a:srgbClr val="000000"/>
                </a:solidFill>
                <a:uFill>
                  <a:solidFill>
                    <a:srgbClr val="FFFFFF"/>
                  </a:solidFill>
                </a:uFill>
                <a:latin typeface="Tahoma"/>
              </a:rPr>
              <a:t> Concatenate list of strings into one large string using s as separator.</a:t>
            </a:r>
            <a:endParaRPr lang="en-US" spc="-1">
              <a:solidFill>
                <a:srgbClr val="000000"/>
              </a:solidFill>
              <a:uFill>
                <a:solidFill>
                  <a:srgbClr val="FFFFFF"/>
                </a:solidFill>
              </a:uFill>
              <a:latin typeface="Arial"/>
            </a:endParaRPr>
          </a:p>
          <a:p>
            <a:pPr marL="743040" lvl="1" indent="-285120">
              <a:buClr>
                <a:srgbClr val="FF0000"/>
              </a:buClr>
              <a:buSzPct val="55000"/>
              <a:buFont typeface="Wingdings" charset="2"/>
              <a:buChar char=""/>
            </a:pPr>
            <a:r>
              <a:rPr lang="en-US" sz="2800" spc="-1" err="1">
                <a:solidFill>
                  <a:srgbClr val="000000"/>
                </a:solidFill>
                <a:uFill>
                  <a:solidFill>
                    <a:srgbClr val="FFFFFF"/>
                  </a:solidFill>
                </a:uFill>
                <a:latin typeface="Courier New"/>
              </a:rPr>
              <a:t>s.ljust</a:t>
            </a:r>
            <a:r>
              <a:rPr lang="en-US" sz="2800" spc="-1">
                <a:solidFill>
                  <a:srgbClr val="000000"/>
                </a:solidFill>
                <a:uFill>
                  <a:solidFill>
                    <a:srgbClr val="FFFFFF"/>
                  </a:solidFill>
                </a:uFill>
                <a:latin typeface="Courier New"/>
              </a:rPr>
              <a:t>(width)</a:t>
            </a:r>
            <a:r>
              <a:rPr lang="en-US" sz="2800" spc="-1">
                <a:solidFill>
                  <a:srgbClr val="000000"/>
                </a:solidFill>
                <a:uFill>
                  <a:solidFill>
                    <a:srgbClr val="FFFFFF"/>
                  </a:solidFill>
                </a:uFill>
                <a:latin typeface="Tahoma"/>
              </a:rPr>
              <a:t> </a:t>
            </a:r>
            <a:r>
              <a:rPr lang="en-US" sz="2800" spc="-1">
                <a:solidFill>
                  <a:srgbClr val="000000"/>
                </a:solidFill>
                <a:uFill>
                  <a:solidFill>
                    <a:srgbClr val="FFFFFF"/>
                  </a:solidFill>
                </a:uFill>
                <a:latin typeface="Times New Roman"/>
              </a:rPr>
              <a:t>–</a:t>
            </a:r>
            <a:r>
              <a:rPr lang="en-US" sz="2800" spc="-1">
                <a:solidFill>
                  <a:srgbClr val="000000"/>
                </a:solidFill>
                <a:uFill>
                  <a:solidFill>
                    <a:srgbClr val="FFFFFF"/>
                  </a:solidFill>
                </a:uFill>
                <a:latin typeface="Tahoma"/>
              </a:rPr>
              <a:t> Like center, but s is left-justified</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392"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41952754-A17D-4ABE-A64D-FC450C859842}" type="slidenum">
              <a:rPr lang="en-US" sz="1400" spc="-1">
                <a:solidFill>
                  <a:srgbClr val="000000"/>
                </a:solidFill>
                <a:uFill>
                  <a:solidFill>
                    <a:srgbClr val="FFFFFF"/>
                  </a:solidFill>
                </a:uFill>
                <a:latin typeface="Tahoma"/>
              </a:rPr>
              <a:t>47</a:t>
            </a:fld>
            <a:endParaRPr lang="en-US" spc="-1">
              <a:solidFill>
                <a:srgbClr val="000000"/>
              </a:solidFill>
              <a:uFill>
                <a:solidFill>
                  <a:srgbClr val="FFFFFF"/>
                </a:solidFill>
              </a:uFill>
              <a:latin typeface="Arial"/>
            </a:endParaRPr>
          </a:p>
        </p:txBody>
      </p:sp>
      <p:sp>
        <p:nvSpPr>
          <p:cNvPr id="393"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More String Methods</a:t>
            </a:r>
            <a:endParaRPr lang="en-US" spc="-1">
              <a:solidFill>
                <a:srgbClr val="000000"/>
              </a:solidFill>
              <a:uFill>
                <a:solidFill>
                  <a:srgbClr val="FFFFFF"/>
                </a:solidFill>
              </a:uFill>
              <a:latin typeface="Arial"/>
            </a:endParaRPr>
          </a:p>
        </p:txBody>
      </p:sp>
      <p:sp>
        <p:nvSpPr>
          <p:cNvPr id="394" name="CustomShape 4"/>
          <p:cNvSpPr/>
          <p:nvPr/>
        </p:nvSpPr>
        <p:spPr>
          <a:xfrm>
            <a:off x="1495425" y="2017800"/>
            <a:ext cx="9667875"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743040" lvl="1" indent="-285120">
              <a:lnSpc>
                <a:spcPct val="90000"/>
              </a:lnSpc>
              <a:buClr>
                <a:srgbClr val="FF0000"/>
              </a:buClr>
              <a:buSzPct val="55000"/>
              <a:buFont typeface="Wingdings" charset="2"/>
              <a:buChar char=""/>
            </a:pPr>
            <a:r>
              <a:rPr lang="en-US" sz="2800" spc="-1" err="1">
                <a:solidFill>
                  <a:srgbClr val="000000"/>
                </a:solidFill>
                <a:uFill>
                  <a:solidFill>
                    <a:srgbClr val="FFFFFF"/>
                  </a:solidFill>
                </a:uFill>
                <a:latin typeface="Courier New"/>
              </a:rPr>
              <a:t>s.lower</a:t>
            </a:r>
            <a:r>
              <a:rPr lang="en-US" sz="2800" spc="-1">
                <a:solidFill>
                  <a:srgbClr val="000000"/>
                </a:solidFill>
                <a:uFill>
                  <a:solidFill>
                    <a:srgbClr val="FFFFFF"/>
                  </a:solidFill>
                </a:uFill>
                <a:latin typeface="Courier New"/>
              </a:rPr>
              <a:t>()</a:t>
            </a:r>
            <a:r>
              <a:rPr lang="en-US" sz="2800" spc="-1">
                <a:solidFill>
                  <a:srgbClr val="000000"/>
                </a:solidFill>
                <a:uFill>
                  <a:solidFill>
                    <a:srgbClr val="FFFFFF"/>
                  </a:solidFill>
                </a:uFill>
                <a:latin typeface="Tahoma"/>
              </a:rPr>
              <a:t> </a:t>
            </a:r>
            <a:r>
              <a:rPr lang="en-US" sz="2800" spc="-1">
                <a:solidFill>
                  <a:srgbClr val="000000"/>
                </a:solidFill>
                <a:uFill>
                  <a:solidFill>
                    <a:srgbClr val="FFFFFF"/>
                  </a:solidFill>
                </a:uFill>
                <a:latin typeface="Times New Roman"/>
              </a:rPr>
              <a:t>–</a:t>
            </a:r>
            <a:r>
              <a:rPr lang="en-US" sz="2800" spc="-1">
                <a:solidFill>
                  <a:srgbClr val="000000"/>
                </a:solidFill>
                <a:uFill>
                  <a:solidFill>
                    <a:srgbClr val="FFFFFF"/>
                  </a:solidFill>
                </a:uFill>
                <a:latin typeface="Tahoma"/>
              </a:rPr>
              <a:t> Copy of s in all lowercase letters</a:t>
            </a:r>
            <a:endParaRPr lang="en-US" spc="-1">
              <a:solidFill>
                <a:srgbClr val="000000"/>
              </a:solidFill>
              <a:uFill>
                <a:solidFill>
                  <a:srgbClr val="FFFFFF"/>
                </a:solidFill>
              </a:uFill>
              <a:latin typeface="Arial"/>
            </a:endParaRPr>
          </a:p>
          <a:p>
            <a:pPr marL="743040" lvl="1" indent="-285120">
              <a:lnSpc>
                <a:spcPct val="90000"/>
              </a:lnSpc>
              <a:buClr>
                <a:srgbClr val="FF0000"/>
              </a:buClr>
              <a:buSzPct val="55000"/>
              <a:buFont typeface="Wingdings" charset="2"/>
              <a:buChar char=""/>
            </a:pPr>
            <a:r>
              <a:rPr lang="en-US" sz="2800" spc="-1" err="1">
                <a:solidFill>
                  <a:srgbClr val="000000"/>
                </a:solidFill>
                <a:uFill>
                  <a:solidFill>
                    <a:srgbClr val="FFFFFF"/>
                  </a:solidFill>
                </a:uFill>
                <a:latin typeface="Courier New"/>
              </a:rPr>
              <a:t>s.lstrip</a:t>
            </a:r>
            <a:r>
              <a:rPr lang="en-US" sz="2800" spc="-1">
                <a:solidFill>
                  <a:srgbClr val="000000"/>
                </a:solidFill>
                <a:uFill>
                  <a:solidFill>
                    <a:srgbClr val="FFFFFF"/>
                  </a:solidFill>
                </a:uFill>
                <a:latin typeface="Courier New"/>
              </a:rPr>
              <a:t>()</a:t>
            </a:r>
            <a:r>
              <a:rPr lang="en-US" sz="2800" spc="-1">
                <a:solidFill>
                  <a:srgbClr val="000000"/>
                </a:solidFill>
                <a:uFill>
                  <a:solidFill>
                    <a:srgbClr val="FFFFFF"/>
                  </a:solidFill>
                </a:uFill>
                <a:latin typeface="Tahoma"/>
              </a:rPr>
              <a:t> </a:t>
            </a:r>
            <a:r>
              <a:rPr lang="en-US" sz="2800" spc="-1">
                <a:solidFill>
                  <a:srgbClr val="000000"/>
                </a:solidFill>
                <a:uFill>
                  <a:solidFill>
                    <a:srgbClr val="FFFFFF"/>
                  </a:solidFill>
                </a:uFill>
                <a:latin typeface="Times New Roman"/>
              </a:rPr>
              <a:t>–</a:t>
            </a:r>
            <a:r>
              <a:rPr lang="en-US" sz="2800" spc="-1">
                <a:solidFill>
                  <a:srgbClr val="000000"/>
                </a:solidFill>
                <a:uFill>
                  <a:solidFill>
                    <a:srgbClr val="FFFFFF"/>
                  </a:solidFill>
                </a:uFill>
                <a:latin typeface="Tahoma"/>
              </a:rPr>
              <a:t> Copy of s with leading whitespace removed</a:t>
            </a:r>
            <a:endParaRPr lang="en-US" spc="-1">
              <a:solidFill>
                <a:srgbClr val="000000"/>
              </a:solidFill>
              <a:uFill>
                <a:solidFill>
                  <a:srgbClr val="FFFFFF"/>
                </a:solidFill>
              </a:uFill>
              <a:latin typeface="Arial"/>
            </a:endParaRPr>
          </a:p>
          <a:p>
            <a:pPr marL="743040" lvl="1" indent="-285120">
              <a:lnSpc>
                <a:spcPct val="90000"/>
              </a:lnSpc>
              <a:buClr>
                <a:srgbClr val="FF0000"/>
              </a:buClr>
              <a:buSzPct val="55000"/>
              <a:buFont typeface="Wingdings" charset="2"/>
              <a:buChar char=""/>
            </a:pPr>
            <a:r>
              <a:rPr lang="en-US" sz="2800" spc="-1" err="1">
                <a:solidFill>
                  <a:srgbClr val="000000"/>
                </a:solidFill>
                <a:uFill>
                  <a:solidFill>
                    <a:srgbClr val="FFFFFF"/>
                  </a:solidFill>
                </a:uFill>
                <a:latin typeface="Courier New"/>
              </a:rPr>
              <a:t>s.replace</a:t>
            </a:r>
            <a:r>
              <a:rPr lang="en-US" sz="2800" spc="-1">
                <a:solidFill>
                  <a:srgbClr val="000000"/>
                </a:solidFill>
                <a:uFill>
                  <a:solidFill>
                    <a:srgbClr val="FFFFFF"/>
                  </a:solidFill>
                </a:uFill>
                <a:latin typeface="Courier New"/>
              </a:rPr>
              <a:t>(</a:t>
            </a:r>
            <a:r>
              <a:rPr lang="en-US" sz="2800" spc="-1" err="1">
                <a:solidFill>
                  <a:srgbClr val="000000"/>
                </a:solidFill>
                <a:uFill>
                  <a:solidFill>
                    <a:srgbClr val="FFFFFF"/>
                  </a:solidFill>
                </a:uFill>
                <a:latin typeface="Courier New"/>
              </a:rPr>
              <a:t>oldsub</a:t>
            </a:r>
            <a:r>
              <a:rPr lang="en-US" sz="2800" spc="-1">
                <a:solidFill>
                  <a:srgbClr val="000000"/>
                </a:solidFill>
                <a:uFill>
                  <a:solidFill>
                    <a:srgbClr val="FFFFFF"/>
                  </a:solidFill>
                </a:uFill>
                <a:latin typeface="Courier New"/>
              </a:rPr>
              <a:t>, </a:t>
            </a:r>
            <a:r>
              <a:rPr lang="en-US" sz="2800" spc="-1" err="1">
                <a:solidFill>
                  <a:srgbClr val="000000"/>
                </a:solidFill>
                <a:uFill>
                  <a:solidFill>
                    <a:srgbClr val="FFFFFF"/>
                  </a:solidFill>
                </a:uFill>
                <a:latin typeface="Courier New"/>
              </a:rPr>
              <a:t>newsub</a:t>
            </a:r>
            <a:r>
              <a:rPr lang="en-US" sz="2800" spc="-1">
                <a:solidFill>
                  <a:srgbClr val="000000"/>
                </a:solidFill>
                <a:uFill>
                  <a:solidFill>
                    <a:srgbClr val="FFFFFF"/>
                  </a:solidFill>
                </a:uFill>
                <a:latin typeface="Courier New"/>
              </a:rPr>
              <a:t>)</a:t>
            </a:r>
            <a:r>
              <a:rPr lang="en-US" sz="2800" spc="-1">
                <a:solidFill>
                  <a:srgbClr val="000000"/>
                </a:solidFill>
                <a:uFill>
                  <a:solidFill>
                    <a:srgbClr val="FFFFFF"/>
                  </a:solidFill>
                </a:uFill>
                <a:latin typeface="Tahoma"/>
              </a:rPr>
              <a:t> </a:t>
            </a:r>
            <a:r>
              <a:rPr lang="en-US" sz="2800" spc="-1">
                <a:solidFill>
                  <a:srgbClr val="000000"/>
                </a:solidFill>
                <a:uFill>
                  <a:solidFill>
                    <a:srgbClr val="FFFFFF"/>
                  </a:solidFill>
                </a:uFill>
                <a:latin typeface="Times New Roman"/>
              </a:rPr>
              <a:t>–</a:t>
            </a:r>
            <a:r>
              <a:rPr lang="en-US" sz="2800" spc="-1">
                <a:solidFill>
                  <a:srgbClr val="000000"/>
                </a:solidFill>
                <a:uFill>
                  <a:solidFill>
                    <a:srgbClr val="FFFFFF"/>
                  </a:solidFill>
                </a:uFill>
                <a:latin typeface="Tahoma"/>
              </a:rPr>
              <a:t> Replace occurrences of </a:t>
            </a:r>
            <a:r>
              <a:rPr lang="en-US" sz="2800" spc="-1" err="1">
                <a:solidFill>
                  <a:srgbClr val="000000"/>
                </a:solidFill>
                <a:uFill>
                  <a:solidFill>
                    <a:srgbClr val="FFFFFF"/>
                  </a:solidFill>
                </a:uFill>
                <a:latin typeface="Tahoma"/>
              </a:rPr>
              <a:t>oldsub</a:t>
            </a:r>
            <a:r>
              <a:rPr lang="en-US" sz="2800" spc="-1">
                <a:solidFill>
                  <a:srgbClr val="000000"/>
                </a:solidFill>
                <a:uFill>
                  <a:solidFill>
                    <a:srgbClr val="FFFFFF"/>
                  </a:solidFill>
                </a:uFill>
                <a:latin typeface="Tahoma"/>
              </a:rPr>
              <a:t> in s with </a:t>
            </a:r>
            <a:r>
              <a:rPr lang="en-US" sz="2800" spc="-1" err="1">
                <a:solidFill>
                  <a:srgbClr val="000000"/>
                </a:solidFill>
                <a:uFill>
                  <a:solidFill>
                    <a:srgbClr val="FFFFFF"/>
                  </a:solidFill>
                </a:uFill>
                <a:latin typeface="Tahoma"/>
              </a:rPr>
              <a:t>newsub</a:t>
            </a:r>
            <a:endParaRPr lang="en-US" spc="-1">
              <a:solidFill>
                <a:srgbClr val="000000"/>
              </a:solidFill>
              <a:uFill>
                <a:solidFill>
                  <a:srgbClr val="FFFFFF"/>
                </a:solidFill>
              </a:uFill>
              <a:latin typeface="Arial"/>
            </a:endParaRPr>
          </a:p>
          <a:p>
            <a:pPr marL="743040" lvl="1" indent="-285120">
              <a:lnSpc>
                <a:spcPct val="90000"/>
              </a:lnSpc>
              <a:buClr>
                <a:srgbClr val="FF0000"/>
              </a:buClr>
              <a:buSzPct val="55000"/>
              <a:buFont typeface="Wingdings" charset="2"/>
              <a:buChar char=""/>
            </a:pPr>
            <a:r>
              <a:rPr lang="en-US" sz="2800" spc="-1" err="1">
                <a:solidFill>
                  <a:srgbClr val="000000"/>
                </a:solidFill>
                <a:uFill>
                  <a:solidFill>
                    <a:srgbClr val="FFFFFF"/>
                  </a:solidFill>
                </a:uFill>
                <a:latin typeface="Courier New"/>
              </a:rPr>
              <a:t>s.rfind</a:t>
            </a:r>
            <a:r>
              <a:rPr lang="en-US" sz="2800" spc="-1">
                <a:solidFill>
                  <a:srgbClr val="000000"/>
                </a:solidFill>
                <a:uFill>
                  <a:solidFill>
                    <a:srgbClr val="FFFFFF"/>
                  </a:solidFill>
                </a:uFill>
                <a:latin typeface="Courier New"/>
              </a:rPr>
              <a:t>(sub)</a:t>
            </a:r>
            <a:r>
              <a:rPr lang="en-US" sz="2800" spc="-1">
                <a:solidFill>
                  <a:srgbClr val="000000"/>
                </a:solidFill>
                <a:uFill>
                  <a:solidFill>
                    <a:srgbClr val="FFFFFF"/>
                  </a:solidFill>
                </a:uFill>
                <a:latin typeface="Tahoma"/>
              </a:rPr>
              <a:t> </a:t>
            </a:r>
            <a:r>
              <a:rPr lang="en-US" sz="2800" spc="-1">
                <a:solidFill>
                  <a:srgbClr val="000000"/>
                </a:solidFill>
                <a:uFill>
                  <a:solidFill>
                    <a:srgbClr val="FFFFFF"/>
                  </a:solidFill>
                </a:uFill>
                <a:latin typeface="Times New Roman"/>
              </a:rPr>
              <a:t>–</a:t>
            </a:r>
            <a:r>
              <a:rPr lang="en-US" sz="2800" spc="-1">
                <a:solidFill>
                  <a:srgbClr val="000000"/>
                </a:solidFill>
                <a:uFill>
                  <a:solidFill>
                    <a:srgbClr val="FFFFFF"/>
                  </a:solidFill>
                </a:uFill>
                <a:latin typeface="Tahoma"/>
              </a:rPr>
              <a:t> Like find, but returns the right-most position</a:t>
            </a:r>
            <a:endParaRPr lang="en-US" spc="-1">
              <a:solidFill>
                <a:srgbClr val="000000"/>
              </a:solidFill>
              <a:uFill>
                <a:solidFill>
                  <a:srgbClr val="FFFFFF"/>
                </a:solidFill>
              </a:uFill>
              <a:latin typeface="Arial"/>
            </a:endParaRPr>
          </a:p>
          <a:p>
            <a:pPr marL="743040" lvl="1" indent="-285120">
              <a:lnSpc>
                <a:spcPct val="90000"/>
              </a:lnSpc>
              <a:buClr>
                <a:srgbClr val="FF0000"/>
              </a:buClr>
              <a:buSzPct val="55000"/>
              <a:buFont typeface="Wingdings" charset="2"/>
              <a:buChar char=""/>
            </a:pPr>
            <a:r>
              <a:rPr lang="en-US" sz="2800" spc="-1" err="1">
                <a:solidFill>
                  <a:srgbClr val="000000"/>
                </a:solidFill>
                <a:uFill>
                  <a:solidFill>
                    <a:srgbClr val="FFFFFF"/>
                  </a:solidFill>
                </a:uFill>
                <a:latin typeface="Courier New"/>
              </a:rPr>
              <a:t>s.rjust</a:t>
            </a:r>
            <a:r>
              <a:rPr lang="en-US" sz="2800" spc="-1">
                <a:solidFill>
                  <a:srgbClr val="000000"/>
                </a:solidFill>
                <a:uFill>
                  <a:solidFill>
                    <a:srgbClr val="FFFFFF"/>
                  </a:solidFill>
                </a:uFill>
                <a:latin typeface="Courier New"/>
              </a:rPr>
              <a:t>(width)</a:t>
            </a:r>
            <a:r>
              <a:rPr lang="en-US" sz="2800" spc="-1">
                <a:solidFill>
                  <a:srgbClr val="000000"/>
                </a:solidFill>
                <a:uFill>
                  <a:solidFill>
                    <a:srgbClr val="FFFFFF"/>
                  </a:solidFill>
                </a:uFill>
                <a:latin typeface="Tahoma"/>
              </a:rPr>
              <a:t> </a:t>
            </a:r>
            <a:r>
              <a:rPr lang="en-US" sz="2800" spc="-1">
                <a:solidFill>
                  <a:srgbClr val="000000"/>
                </a:solidFill>
                <a:uFill>
                  <a:solidFill>
                    <a:srgbClr val="FFFFFF"/>
                  </a:solidFill>
                </a:uFill>
                <a:latin typeface="Times New Roman"/>
              </a:rPr>
              <a:t>–</a:t>
            </a:r>
            <a:r>
              <a:rPr lang="en-US" sz="2800" spc="-1">
                <a:solidFill>
                  <a:srgbClr val="000000"/>
                </a:solidFill>
                <a:uFill>
                  <a:solidFill>
                    <a:srgbClr val="FFFFFF"/>
                  </a:solidFill>
                </a:uFill>
                <a:latin typeface="Tahoma"/>
              </a:rPr>
              <a:t> Like center, but s is right-justified</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396"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14C3B1AF-31B9-47CD-8D13-B1254FA14AD9}" type="slidenum">
              <a:rPr lang="en-US" sz="1400" spc="-1">
                <a:solidFill>
                  <a:srgbClr val="000000"/>
                </a:solidFill>
                <a:uFill>
                  <a:solidFill>
                    <a:srgbClr val="FFFFFF"/>
                  </a:solidFill>
                </a:uFill>
                <a:latin typeface="Tahoma"/>
              </a:rPr>
              <a:t>48</a:t>
            </a:fld>
            <a:endParaRPr lang="en-US" spc="-1">
              <a:solidFill>
                <a:srgbClr val="000000"/>
              </a:solidFill>
              <a:uFill>
                <a:solidFill>
                  <a:srgbClr val="FFFFFF"/>
                </a:solidFill>
              </a:uFill>
              <a:latin typeface="Arial"/>
            </a:endParaRPr>
          </a:p>
        </p:txBody>
      </p:sp>
      <p:sp>
        <p:nvSpPr>
          <p:cNvPr id="397"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More String Methods</a:t>
            </a:r>
            <a:endParaRPr lang="en-US" spc="-1">
              <a:solidFill>
                <a:srgbClr val="000000"/>
              </a:solidFill>
              <a:uFill>
                <a:solidFill>
                  <a:srgbClr val="FFFFFF"/>
                </a:solidFill>
              </a:uFill>
              <a:latin typeface="Arial"/>
            </a:endParaRPr>
          </a:p>
        </p:txBody>
      </p:sp>
      <p:sp>
        <p:nvSpPr>
          <p:cNvPr id="398" name="CustomShape 4"/>
          <p:cNvSpPr/>
          <p:nvPr/>
        </p:nvSpPr>
        <p:spPr>
          <a:xfrm>
            <a:off x="1619249" y="2017800"/>
            <a:ext cx="9420225"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743040" lvl="1" indent="-285120">
              <a:buClr>
                <a:srgbClr val="FF0000"/>
              </a:buClr>
              <a:buSzPct val="55000"/>
              <a:buFont typeface="Wingdings" charset="2"/>
              <a:buChar char=""/>
            </a:pPr>
            <a:r>
              <a:rPr lang="en-US" sz="2800" spc="-1" err="1">
                <a:solidFill>
                  <a:srgbClr val="000000"/>
                </a:solidFill>
                <a:uFill>
                  <a:solidFill>
                    <a:srgbClr val="FFFFFF"/>
                  </a:solidFill>
                </a:uFill>
                <a:latin typeface="Courier New"/>
              </a:rPr>
              <a:t>s.rstrip</a:t>
            </a:r>
            <a:r>
              <a:rPr lang="en-US" sz="2800" spc="-1">
                <a:solidFill>
                  <a:srgbClr val="000000"/>
                </a:solidFill>
                <a:uFill>
                  <a:solidFill>
                    <a:srgbClr val="FFFFFF"/>
                  </a:solidFill>
                </a:uFill>
                <a:latin typeface="Courier New"/>
              </a:rPr>
              <a:t>()</a:t>
            </a:r>
            <a:r>
              <a:rPr lang="en-US" sz="2800" spc="-1">
                <a:solidFill>
                  <a:srgbClr val="000000"/>
                </a:solidFill>
                <a:uFill>
                  <a:solidFill>
                    <a:srgbClr val="FFFFFF"/>
                  </a:solidFill>
                </a:uFill>
                <a:latin typeface="Tahoma"/>
              </a:rPr>
              <a:t> </a:t>
            </a:r>
            <a:r>
              <a:rPr lang="en-US" sz="2800" spc="-1">
                <a:solidFill>
                  <a:srgbClr val="000000"/>
                </a:solidFill>
                <a:uFill>
                  <a:solidFill>
                    <a:srgbClr val="FFFFFF"/>
                  </a:solidFill>
                </a:uFill>
                <a:latin typeface="Times New Roman"/>
              </a:rPr>
              <a:t>–</a:t>
            </a:r>
            <a:r>
              <a:rPr lang="en-US" sz="2800" spc="-1">
                <a:solidFill>
                  <a:srgbClr val="000000"/>
                </a:solidFill>
                <a:uFill>
                  <a:solidFill>
                    <a:srgbClr val="FFFFFF"/>
                  </a:solidFill>
                </a:uFill>
                <a:latin typeface="Tahoma"/>
              </a:rPr>
              <a:t> Copy of s with trailing whitespace removed</a:t>
            </a:r>
            <a:endParaRPr lang="en-US" spc="-1">
              <a:solidFill>
                <a:srgbClr val="000000"/>
              </a:solidFill>
              <a:uFill>
                <a:solidFill>
                  <a:srgbClr val="FFFFFF"/>
                </a:solidFill>
              </a:uFill>
              <a:latin typeface="Arial"/>
            </a:endParaRPr>
          </a:p>
          <a:p>
            <a:pPr marL="743040" lvl="1" indent="-285120">
              <a:buClr>
                <a:srgbClr val="FF0000"/>
              </a:buClr>
              <a:buSzPct val="55000"/>
              <a:buFont typeface="Wingdings" charset="2"/>
              <a:buChar char=""/>
            </a:pPr>
            <a:r>
              <a:rPr lang="en-US" sz="2800" spc="-1" err="1">
                <a:solidFill>
                  <a:srgbClr val="000000"/>
                </a:solidFill>
                <a:uFill>
                  <a:solidFill>
                    <a:srgbClr val="FFFFFF"/>
                  </a:solidFill>
                </a:uFill>
                <a:latin typeface="Courier New"/>
              </a:rPr>
              <a:t>s.split</a:t>
            </a:r>
            <a:r>
              <a:rPr lang="en-US" sz="2800" spc="-1">
                <a:solidFill>
                  <a:srgbClr val="000000"/>
                </a:solidFill>
                <a:uFill>
                  <a:solidFill>
                    <a:srgbClr val="FFFFFF"/>
                  </a:solidFill>
                </a:uFill>
                <a:latin typeface="Courier New"/>
              </a:rPr>
              <a:t>() </a:t>
            </a:r>
            <a:r>
              <a:rPr lang="en-US" sz="2800" spc="-1">
                <a:solidFill>
                  <a:srgbClr val="000000"/>
                </a:solidFill>
                <a:uFill>
                  <a:solidFill>
                    <a:srgbClr val="FFFFFF"/>
                  </a:solidFill>
                </a:uFill>
                <a:latin typeface="Times New Roman"/>
              </a:rPr>
              <a:t>–</a:t>
            </a:r>
            <a:r>
              <a:rPr lang="en-US" sz="2800" spc="-1">
                <a:solidFill>
                  <a:srgbClr val="000000"/>
                </a:solidFill>
                <a:uFill>
                  <a:solidFill>
                    <a:srgbClr val="FFFFFF"/>
                  </a:solidFill>
                </a:uFill>
                <a:latin typeface="Tahoma"/>
              </a:rPr>
              <a:t> Split s into a list of substrings</a:t>
            </a:r>
            <a:endParaRPr lang="en-US" spc="-1">
              <a:solidFill>
                <a:srgbClr val="000000"/>
              </a:solidFill>
              <a:uFill>
                <a:solidFill>
                  <a:srgbClr val="FFFFFF"/>
                </a:solidFill>
              </a:uFill>
              <a:latin typeface="Arial"/>
            </a:endParaRPr>
          </a:p>
          <a:p>
            <a:pPr marL="743040" lvl="1" indent="-285120">
              <a:buClr>
                <a:srgbClr val="FF0000"/>
              </a:buClr>
              <a:buSzPct val="55000"/>
              <a:buFont typeface="Wingdings" charset="2"/>
              <a:buChar char=""/>
            </a:pPr>
            <a:r>
              <a:rPr lang="en-US" sz="2800" spc="-1" err="1">
                <a:solidFill>
                  <a:srgbClr val="000000"/>
                </a:solidFill>
                <a:uFill>
                  <a:solidFill>
                    <a:srgbClr val="FFFFFF"/>
                  </a:solidFill>
                </a:uFill>
                <a:latin typeface="Courier New"/>
              </a:rPr>
              <a:t>s.upper</a:t>
            </a:r>
            <a:r>
              <a:rPr lang="en-US" sz="2800" spc="-1">
                <a:solidFill>
                  <a:srgbClr val="000000"/>
                </a:solidFill>
                <a:uFill>
                  <a:solidFill>
                    <a:srgbClr val="FFFFFF"/>
                  </a:solidFill>
                </a:uFill>
                <a:latin typeface="Courier New"/>
              </a:rPr>
              <a:t>() </a:t>
            </a:r>
            <a:r>
              <a:rPr lang="en-US" sz="2800" spc="-1">
                <a:solidFill>
                  <a:srgbClr val="000000"/>
                </a:solidFill>
                <a:uFill>
                  <a:solidFill>
                    <a:srgbClr val="FFFFFF"/>
                  </a:solidFill>
                </a:uFill>
                <a:latin typeface="Times New Roman"/>
              </a:rPr>
              <a:t>–</a:t>
            </a:r>
            <a:r>
              <a:rPr lang="en-US" sz="2800" spc="-1">
                <a:solidFill>
                  <a:srgbClr val="000000"/>
                </a:solidFill>
                <a:uFill>
                  <a:solidFill>
                    <a:srgbClr val="FFFFFF"/>
                  </a:solidFill>
                </a:uFill>
                <a:latin typeface="Tahoma"/>
              </a:rPr>
              <a:t> Copy of s; all characters converted to uppercase</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B99C4-6077-22B0-6E4A-80522B4F9527}"/>
              </a:ext>
            </a:extLst>
          </p:cNvPr>
          <p:cNvSpPr>
            <a:spLocks noGrp="1"/>
          </p:cNvSpPr>
          <p:nvPr>
            <p:ph type="title"/>
          </p:nvPr>
        </p:nvSpPr>
        <p:spPr>
          <a:xfrm>
            <a:off x="2895600" y="311700"/>
            <a:ext cx="8572500" cy="1144800"/>
          </a:xfrm>
        </p:spPr>
        <p:txBody>
          <a:bodyPr/>
          <a:lstStyle/>
          <a:p>
            <a:r>
              <a:rPr lang="en-US"/>
              <a:t>More String Methods</a:t>
            </a:r>
          </a:p>
        </p:txBody>
      </p:sp>
      <p:sp>
        <p:nvSpPr>
          <p:cNvPr id="3" name="Subtitle 2">
            <a:extLst>
              <a:ext uri="{FF2B5EF4-FFF2-40B4-BE49-F238E27FC236}">
                <a16:creationId xmlns:a16="http://schemas.microsoft.com/office/drawing/2014/main" id="{35990BC8-B968-B2C0-6F65-B6A144AB6846}"/>
              </a:ext>
            </a:extLst>
          </p:cNvPr>
          <p:cNvSpPr>
            <a:spLocks noGrp="1"/>
          </p:cNvSpPr>
          <p:nvPr>
            <p:ph type="subTitle"/>
          </p:nvPr>
        </p:nvSpPr>
        <p:spPr>
          <a:xfrm>
            <a:off x="609840" y="1899795"/>
            <a:ext cx="10972320" cy="3977280"/>
          </a:xfrm>
        </p:spPr>
        <p:txBody>
          <a:bodyPr/>
          <a:lstStyle/>
          <a:p>
            <a:r>
              <a:rPr lang="en-US" sz="2800"/>
              <a:t>Python has a number of other standard libraries for text processing – consult the documentation to learn more!</a:t>
            </a:r>
          </a:p>
          <a:p>
            <a:r>
              <a:rPr lang="en-US" sz="2800"/>
              <a:t>Programs that are primarily processing numeric information may need to use string expressions. Consider a program to do financial analysis that treats some inputs as strings, and after doing some number crunching, produces a nicely formatted report.</a:t>
            </a:r>
          </a:p>
          <a:p>
            <a:r>
              <a:rPr lang="en-US" sz="2800"/>
              <a:t>Suppose we want to update the chaos program (from Chapter 1) to compare the results from two different inputs.</a:t>
            </a:r>
          </a:p>
        </p:txBody>
      </p:sp>
      <p:sp>
        <p:nvSpPr>
          <p:cNvPr id="9" name="CustomShape 1">
            <a:extLst>
              <a:ext uri="{FF2B5EF4-FFF2-40B4-BE49-F238E27FC236}">
                <a16:creationId xmlns:a16="http://schemas.microsoft.com/office/drawing/2014/main" id="{A313F097-BEA3-F72C-0784-725F58FE6B39}"/>
              </a:ext>
            </a:extLst>
          </p:cNvPr>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14" name="CustomShape 2">
            <a:extLst>
              <a:ext uri="{FF2B5EF4-FFF2-40B4-BE49-F238E27FC236}">
                <a16:creationId xmlns:a16="http://schemas.microsoft.com/office/drawing/2014/main" id="{25E2C7D6-6E24-6D17-49FA-17E89CB359E8}"/>
              </a:ext>
            </a:extLst>
          </p:cNvPr>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14C3B1AF-31B9-47CD-8D13-B1254FA14AD9}" type="slidenum">
              <a:rPr lang="en-US" sz="1400" spc="-1">
                <a:solidFill>
                  <a:srgbClr val="000000"/>
                </a:solidFill>
                <a:uFill>
                  <a:solidFill>
                    <a:srgbClr val="FFFFFF"/>
                  </a:solidFill>
                </a:uFill>
                <a:latin typeface="Tahoma"/>
              </a:rPr>
              <a:t>49</a:t>
            </a:fld>
            <a:endParaRPr lang="en-US" spc="-1">
              <a:solidFill>
                <a:srgbClr val="000000"/>
              </a:solidFill>
              <a:uFill>
                <a:solidFill>
                  <a:srgbClr val="FFFFFF"/>
                </a:solidFill>
              </a:uFill>
              <a:latin typeface="Arial"/>
            </a:endParaRPr>
          </a:p>
        </p:txBody>
      </p:sp>
    </p:spTree>
    <p:extLst>
      <p:ext uri="{BB962C8B-B14F-4D97-AF65-F5344CB8AC3E}">
        <p14:creationId xmlns:p14="http://schemas.microsoft.com/office/powerpoint/2010/main" val="5655093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B99C4-6077-22B0-6E4A-80522B4F9527}"/>
              </a:ext>
            </a:extLst>
          </p:cNvPr>
          <p:cNvSpPr>
            <a:spLocks noGrp="1"/>
          </p:cNvSpPr>
          <p:nvPr>
            <p:ph type="title"/>
          </p:nvPr>
        </p:nvSpPr>
        <p:spPr/>
        <p:txBody>
          <a:bodyPr/>
          <a:lstStyle/>
          <a:p>
            <a:r>
              <a:rPr lang="en-US"/>
              <a:t>More String Methods</a:t>
            </a:r>
          </a:p>
        </p:txBody>
      </p:sp>
      <p:sp>
        <p:nvSpPr>
          <p:cNvPr id="6" name="Text Placeholder 5">
            <a:extLst>
              <a:ext uri="{FF2B5EF4-FFF2-40B4-BE49-F238E27FC236}">
                <a16:creationId xmlns:a16="http://schemas.microsoft.com/office/drawing/2014/main" id="{3405EEFC-DB4C-3960-D5AE-B41AD9C463C9}"/>
              </a:ext>
            </a:extLst>
          </p:cNvPr>
          <p:cNvSpPr>
            <a:spLocks noGrp="1"/>
          </p:cNvSpPr>
          <p:nvPr>
            <p:ph type="body"/>
          </p:nvPr>
        </p:nvSpPr>
        <p:spPr>
          <a:xfrm>
            <a:off x="529080" y="2880720"/>
            <a:ext cx="4451482" cy="2849010"/>
          </a:xfrm>
        </p:spPr>
        <p:txBody>
          <a:bodyPr/>
          <a:lstStyle/>
          <a:p>
            <a:r>
              <a:rPr lang="en-US" sz="2800">
                <a:latin typeface="Tahoma" panose="020B0604030504040204" pitchFamily="34" charset="0"/>
                <a:ea typeface="Tahoma" panose="020B0604030504040204" pitchFamily="34" charset="0"/>
                <a:cs typeface="Tahoma" panose="020B0604030504040204" pitchFamily="34" charset="0"/>
              </a:rPr>
              <a:t>Suppose we want to modify the Chapter 1 chaos program to produce output like the following:</a:t>
            </a:r>
          </a:p>
          <a:p>
            <a:pPr marL="108000" indent="0">
              <a:buNone/>
            </a:pPr>
            <a:endParaRPr lang="en-US" sz="2800">
              <a:latin typeface="Tahoma" panose="020B0604030504040204" pitchFamily="34" charset="0"/>
              <a:ea typeface="Tahoma" panose="020B0604030504040204" pitchFamily="34" charset="0"/>
              <a:cs typeface="Tahoma" panose="020B0604030504040204" pitchFamily="34" charset="0"/>
            </a:endParaRPr>
          </a:p>
        </p:txBody>
      </p:sp>
      <p:sp>
        <p:nvSpPr>
          <p:cNvPr id="7" name="Text Placeholder 6">
            <a:extLst>
              <a:ext uri="{FF2B5EF4-FFF2-40B4-BE49-F238E27FC236}">
                <a16:creationId xmlns:a16="http://schemas.microsoft.com/office/drawing/2014/main" id="{832D285F-78C2-5B1B-5FE7-4E20A23F359E}"/>
              </a:ext>
            </a:extLst>
          </p:cNvPr>
          <p:cNvSpPr>
            <a:spLocks noGrp="1"/>
          </p:cNvSpPr>
          <p:nvPr>
            <p:ph type="body"/>
          </p:nvPr>
        </p:nvSpPr>
        <p:spPr>
          <a:xfrm>
            <a:off x="5051221" y="1128270"/>
            <a:ext cx="7016953" cy="5456130"/>
          </a:xfrm>
        </p:spPr>
        <p:txBody>
          <a:bodyPr/>
          <a:lstStyle/>
          <a:p>
            <a:pPr marL="108000" indent="0">
              <a:buNone/>
            </a:pPr>
            <a:r>
              <a:rPr lang="en-US" sz="1800">
                <a:latin typeface="Courier New" panose="02070309020205020404" pitchFamily="49" charset="0"/>
                <a:cs typeface="Courier New" panose="02070309020205020404" pitchFamily="49" charset="0"/>
              </a:rPr>
              <a:t>This program illustrates a chaotic function.</a:t>
            </a:r>
          </a:p>
          <a:p>
            <a:pPr marL="108000" indent="0">
              <a:buNone/>
            </a:pPr>
            <a:r>
              <a:rPr lang="en-US" sz="1800">
                <a:latin typeface="Courier New" panose="02070309020205020404" pitchFamily="49" charset="0"/>
                <a:cs typeface="Courier New" panose="02070309020205020404" pitchFamily="49" charset="0"/>
              </a:rPr>
              <a:t>Enter two starting values between 0 and 1: .25 .26</a:t>
            </a:r>
          </a:p>
          <a:p>
            <a:pPr marL="108000" indent="0">
              <a:buNone/>
            </a:pPr>
            <a:endParaRPr lang="en-US" sz="1800">
              <a:latin typeface="Courier New" panose="02070309020205020404" pitchFamily="49" charset="0"/>
              <a:cs typeface="Courier New" panose="02070309020205020404" pitchFamily="49" charset="0"/>
            </a:endParaRPr>
          </a:p>
          <a:p>
            <a:pPr marL="108000" indent="0">
              <a:buNone/>
            </a:pPr>
            <a:r>
              <a:rPr lang="en-US" sz="1800">
                <a:latin typeface="Courier New" panose="02070309020205020404" pitchFamily="49" charset="0"/>
                <a:cs typeface="Courier New" panose="02070309020205020404" pitchFamily="49" charset="0"/>
              </a:rPr>
              <a:t>input:   0.25       0.26  </a:t>
            </a:r>
          </a:p>
          <a:p>
            <a:pPr marL="108000" indent="0">
              <a:buNone/>
            </a:pPr>
            <a:r>
              <a:rPr lang="en-US" sz="1800">
                <a:latin typeface="Courier New" panose="02070309020205020404" pitchFamily="49" charset="0"/>
                <a:cs typeface="Courier New" panose="02070309020205020404" pitchFamily="49" charset="0"/>
              </a:rPr>
              <a:t>---------------------------</a:t>
            </a:r>
          </a:p>
          <a:p>
            <a:pPr marL="108000" indent="0">
              <a:buNone/>
            </a:pPr>
            <a:r>
              <a:rPr lang="en-US" sz="1800">
                <a:latin typeface="Courier New" panose="02070309020205020404" pitchFamily="49" charset="0"/>
                <a:cs typeface="Courier New" panose="02070309020205020404" pitchFamily="49" charset="0"/>
              </a:rPr>
              <a:t>       0.731250   0.750360 </a:t>
            </a:r>
          </a:p>
          <a:p>
            <a:pPr marL="108000" indent="0">
              <a:buNone/>
            </a:pPr>
            <a:r>
              <a:rPr lang="en-US" sz="1800">
                <a:latin typeface="Courier New" panose="02070309020205020404" pitchFamily="49" charset="0"/>
                <a:cs typeface="Courier New" panose="02070309020205020404" pitchFamily="49" charset="0"/>
              </a:rPr>
              <a:t>       0.766441   0.730547</a:t>
            </a:r>
          </a:p>
          <a:p>
            <a:pPr marL="108000" indent="0">
              <a:buNone/>
            </a:pPr>
            <a:r>
              <a:rPr lang="en-US" sz="1800">
                <a:latin typeface="Courier New" panose="02070309020205020404" pitchFamily="49" charset="0"/>
                <a:cs typeface="Courier New" panose="02070309020205020404" pitchFamily="49" charset="0"/>
              </a:rPr>
              <a:t>       0.698135   0.767707</a:t>
            </a:r>
          </a:p>
          <a:p>
            <a:pPr marL="108000" indent="0">
              <a:buNone/>
            </a:pPr>
            <a:r>
              <a:rPr lang="en-US" sz="1800">
                <a:latin typeface="Courier New" panose="02070309020205020404" pitchFamily="49" charset="0"/>
                <a:cs typeface="Courier New" panose="02070309020205020404" pitchFamily="49" charset="0"/>
              </a:rPr>
              <a:t>       0.821896   0.695499</a:t>
            </a:r>
          </a:p>
          <a:p>
            <a:pPr marL="108000" indent="0">
              <a:buNone/>
            </a:pPr>
            <a:r>
              <a:rPr lang="en-US" sz="1800">
                <a:latin typeface="Courier New" panose="02070309020205020404" pitchFamily="49" charset="0"/>
                <a:cs typeface="Courier New" panose="02070309020205020404" pitchFamily="49" charset="0"/>
              </a:rPr>
              <a:t>       0.570894   0.825942</a:t>
            </a:r>
          </a:p>
          <a:p>
            <a:pPr marL="108000" indent="0">
              <a:buNone/>
            </a:pPr>
            <a:r>
              <a:rPr lang="en-US" sz="1800">
                <a:latin typeface="Courier New" panose="02070309020205020404" pitchFamily="49" charset="0"/>
                <a:cs typeface="Courier New" panose="02070309020205020404" pitchFamily="49" charset="0"/>
              </a:rPr>
              <a:t>       0.955399   0.560671</a:t>
            </a:r>
          </a:p>
          <a:p>
            <a:pPr marL="108000" indent="0">
              <a:buNone/>
            </a:pPr>
            <a:r>
              <a:rPr lang="en-US" sz="1800">
                <a:latin typeface="Courier New" panose="02070309020205020404" pitchFamily="49" charset="0"/>
                <a:cs typeface="Courier New" panose="02070309020205020404" pitchFamily="49" charset="0"/>
              </a:rPr>
              <a:t>       0.166187   0.960644</a:t>
            </a:r>
          </a:p>
          <a:p>
            <a:pPr marL="108000" indent="0">
              <a:buNone/>
            </a:pPr>
            <a:r>
              <a:rPr lang="en-US" sz="1800">
                <a:latin typeface="Courier New" panose="02070309020205020404" pitchFamily="49" charset="0"/>
                <a:cs typeface="Courier New" panose="02070309020205020404" pitchFamily="49" charset="0"/>
              </a:rPr>
              <a:t>       0.540418   0.147447</a:t>
            </a:r>
          </a:p>
          <a:p>
            <a:pPr marL="108000" indent="0">
              <a:buNone/>
            </a:pPr>
            <a:r>
              <a:rPr lang="en-US" sz="1800">
                <a:latin typeface="Courier New" panose="02070309020205020404" pitchFamily="49" charset="0"/>
                <a:cs typeface="Courier New" panose="02070309020205020404" pitchFamily="49" charset="0"/>
              </a:rPr>
              <a:t>       0.968629   0.490255</a:t>
            </a:r>
          </a:p>
          <a:p>
            <a:pPr marL="108000" indent="0">
              <a:buNone/>
            </a:pPr>
            <a:r>
              <a:rPr lang="en-US" sz="1800">
                <a:latin typeface="Courier New" panose="02070309020205020404" pitchFamily="49" charset="0"/>
                <a:cs typeface="Courier New" panose="02070309020205020404" pitchFamily="49" charset="0"/>
              </a:rPr>
              <a:t>       0.118509   0.974630 </a:t>
            </a:r>
          </a:p>
        </p:txBody>
      </p:sp>
      <p:sp>
        <p:nvSpPr>
          <p:cNvPr id="8" name="CustomShape 1">
            <a:extLst>
              <a:ext uri="{FF2B5EF4-FFF2-40B4-BE49-F238E27FC236}">
                <a16:creationId xmlns:a16="http://schemas.microsoft.com/office/drawing/2014/main" id="{58E16AE9-E870-F0BD-EB76-C364970C8B3A}"/>
              </a:ext>
            </a:extLst>
          </p:cNvPr>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9" name="CustomShape 2">
            <a:extLst>
              <a:ext uri="{FF2B5EF4-FFF2-40B4-BE49-F238E27FC236}">
                <a16:creationId xmlns:a16="http://schemas.microsoft.com/office/drawing/2014/main" id="{59D7BFEE-71C1-1C2D-247D-0A011CE8C830}"/>
              </a:ext>
            </a:extLst>
          </p:cNvPr>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14C3B1AF-31B9-47CD-8D13-B1254FA14AD9}" type="slidenum">
              <a:rPr lang="en-US" sz="1400" spc="-1">
                <a:solidFill>
                  <a:srgbClr val="000000"/>
                </a:solidFill>
                <a:uFill>
                  <a:solidFill>
                    <a:srgbClr val="FFFFFF"/>
                  </a:solidFill>
                </a:uFill>
                <a:latin typeface="Tahoma"/>
              </a:rPr>
              <a:t>50</a:t>
            </a:fld>
            <a:endParaRPr lang="en-US" spc="-1">
              <a:solidFill>
                <a:srgbClr val="000000"/>
              </a:solidFill>
              <a:uFill>
                <a:solidFill>
                  <a:srgbClr val="FFFFFF"/>
                </a:solidFill>
              </a:uFill>
              <a:latin typeface="Arial"/>
            </a:endParaRPr>
          </a:p>
        </p:txBody>
      </p:sp>
    </p:spTree>
    <p:extLst>
      <p:ext uri="{BB962C8B-B14F-4D97-AF65-F5344CB8AC3E}">
        <p14:creationId xmlns:p14="http://schemas.microsoft.com/office/powerpoint/2010/main" val="20266944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B99C4-6077-22B0-6E4A-80522B4F9527}"/>
              </a:ext>
            </a:extLst>
          </p:cNvPr>
          <p:cNvSpPr>
            <a:spLocks noGrp="1"/>
          </p:cNvSpPr>
          <p:nvPr>
            <p:ph type="title"/>
          </p:nvPr>
        </p:nvSpPr>
        <p:spPr>
          <a:xfrm>
            <a:off x="2914650" y="313275"/>
            <a:ext cx="9162570" cy="1144800"/>
          </a:xfrm>
        </p:spPr>
        <p:txBody>
          <a:bodyPr/>
          <a:lstStyle/>
          <a:p>
            <a:r>
              <a:rPr lang="en-US"/>
              <a:t>More String Methods</a:t>
            </a:r>
          </a:p>
        </p:txBody>
      </p:sp>
      <p:sp>
        <p:nvSpPr>
          <p:cNvPr id="4" name="Text Placeholder 3">
            <a:extLst>
              <a:ext uri="{FF2B5EF4-FFF2-40B4-BE49-F238E27FC236}">
                <a16:creationId xmlns:a16="http://schemas.microsoft.com/office/drawing/2014/main" id="{6E558AA9-C050-C654-7516-8A1252C2EC1B}"/>
              </a:ext>
            </a:extLst>
          </p:cNvPr>
          <p:cNvSpPr>
            <a:spLocks noGrp="1"/>
          </p:cNvSpPr>
          <p:nvPr>
            <p:ph type="body"/>
          </p:nvPr>
        </p:nvSpPr>
        <p:spPr>
          <a:xfrm>
            <a:off x="609600" y="1995045"/>
            <a:ext cx="10972320" cy="3977280"/>
          </a:xfrm>
        </p:spPr>
        <p:txBody>
          <a:bodyPr/>
          <a:lstStyle/>
          <a:p>
            <a:r>
              <a:rPr lang="en-US" sz="2800">
                <a:latin typeface="Tahoma" panose="020B0604030504040204" pitchFamily="34" charset="0"/>
                <a:ea typeface="Tahoma" panose="020B0604030504040204" pitchFamily="34" charset="0"/>
                <a:cs typeface="Tahoma" panose="020B0604030504040204" pitchFamily="34" charset="0"/>
              </a:rPr>
              <a:t>We need to get two values for input. We could do this with two separate input statements, but we could show off our new string processing skills to process the two values separated by a space.</a:t>
            </a:r>
          </a:p>
          <a:p>
            <a:pPr marL="108000" indent="0">
              <a:buNone/>
            </a:pPr>
            <a:r>
              <a:rPr lang="en-US" sz="2800">
                <a:latin typeface="Tahoma" panose="020B0604030504040204" pitchFamily="34" charset="0"/>
                <a:ea typeface="Tahoma" panose="020B0604030504040204" pitchFamily="34" charset="0"/>
                <a:cs typeface="Tahoma" panose="020B0604030504040204" pitchFamily="34" charset="0"/>
              </a:rPr>
              <a:t>def </a:t>
            </a:r>
            <a:r>
              <a:rPr lang="en-US" sz="2800" err="1">
                <a:latin typeface="Tahoma" panose="020B0604030504040204" pitchFamily="34" charset="0"/>
                <a:ea typeface="Tahoma" panose="020B0604030504040204" pitchFamily="34" charset="0"/>
                <a:cs typeface="Tahoma" panose="020B0604030504040204" pitchFamily="34" charset="0"/>
              </a:rPr>
              <a:t>get_inputs</a:t>
            </a:r>
            <a:r>
              <a:rPr lang="en-US" sz="2800">
                <a:latin typeface="Tahoma" panose="020B0604030504040204" pitchFamily="34" charset="0"/>
                <a:ea typeface="Tahoma" panose="020B0604030504040204" pitchFamily="34" charset="0"/>
                <a:cs typeface="Tahoma" panose="020B0604030504040204" pitchFamily="34" charset="0"/>
              </a:rPr>
              <a:t>():</a:t>
            </a:r>
          </a:p>
          <a:p>
            <a:pPr marL="108000" indent="0">
              <a:buNone/>
            </a:pPr>
            <a:r>
              <a:rPr lang="en-US" sz="2800">
                <a:latin typeface="Tahoma" panose="020B0604030504040204" pitchFamily="34" charset="0"/>
                <a:ea typeface="Tahoma" panose="020B0604030504040204" pitchFamily="34" charset="0"/>
                <a:cs typeface="Tahoma" panose="020B0604030504040204" pitchFamily="34" charset="0"/>
              </a:rPr>
              <a:t>    </a:t>
            </a:r>
            <a:r>
              <a:rPr lang="en-US" sz="1800">
                <a:latin typeface="Tahoma" panose="020B0604030504040204" pitchFamily="34" charset="0"/>
                <a:ea typeface="Tahoma" panose="020B0604030504040204" pitchFamily="34" charset="0"/>
                <a:cs typeface="Tahoma" panose="020B0604030504040204" pitchFamily="34" charset="0"/>
              </a:rPr>
              <a:t>inputs = input("Enter two starting values between 0 and 1: ")</a:t>
            </a:r>
          </a:p>
          <a:p>
            <a:pPr marL="108000" indent="0">
              <a:buNone/>
            </a:pPr>
            <a:r>
              <a:rPr lang="en-US" sz="1800">
                <a:latin typeface="Tahoma" panose="020B0604030504040204" pitchFamily="34" charset="0"/>
                <a:ea typeface="Tahoma" panose="020B0604030504040204" pitchFamily="34" charset="0"/>
                <a:cs typeface="Tahoma" panose="020B0604030504040204" pitchFamily="34" charset="0"/>
              </a:rPr>
              <a:t>    a, b = </a:t>
            </a:r>
            <a:r>
              <a:rPr lang="en-US" sz="1800" err="1">
                <a:latin typeface="Tahoma" panose="020B0604030504040204" pitchFamily="34" charset="0"/>
                <a:ea typeface="Tahoma" panose="020B0604030504040204" pitchFamily="34" charset="0"/>
                <a:cs typeface="Tahoma" panose="020B0604030504040204" pitchFamily="34" charset="0"/>
              </a:rPr>
              <a:t>inputs.split</a:t>
            </a:r>
            <a:r>
              <a:rPr lang="en-US" sz="1800">
                <a:latin typeface="Tahoma" panose="020B0604030504040204" pitchFamily="34" charset="0"/>
                <a:ea typeface="Tahoma" panose="020B0604030504040204" pitchFamily="34" charset="0"/>
                <a:cs typeface="Tahoma" panose="020B0604030504040204" pitchFamily="34" charset="0"/>
              </a:rPr>
              <a:t>()</a:t>
            </a:r>
          </a:p>
          <a:p>
            <a:pPr marL="108000" indent="0">
              <a:buNone/>
            </a:pPr>
            <a:r>
              <a:rPr lang="en-US" sz="1800">
                <a:latin typeface="Tahoma" panose="020B0604030504040204" pitchFamily="34" charset="0"/>
                <a:ea typeface="Tahoma" panose="020B0604030504040204" pitchFamily="34" charset="0"/>
                <a:cs typeface="Tahoma" panose="020B0604030504040204" pitchFamily="34" charset="0"/>
              </a:rPr>
              <a:t>    return float(a), float(b)</a:t>
            </a:r>
          </a:p>
          <a:p>
            <a:r>
              <a:rPr lang="en-US" sz="2800">
                <a:latin typeface="Tahoma" panose="020B0604030504040204" pitchFamily="34" charset="0"/>
                <a:ea typeface="Tahoma" panose="020B0604030504040204" pitchFamily="34" charset="0"/>
                <a:cs typeface="Tahoma" panose="020B0604030504040204" pitchFamily="34" charset="0"/>
              </a:rPr>
              <a:t>Using this function, the main program can easily get the values:</a:t>
            </a:r>
            <a:br>
              <a:rPr lang="en-US" sz="2800">
                <a:latin typeface="Tahoma" panose="020B0604030504040204" pitchFamily="34" charset="0"/>
                <a:ea typeface="Tahoma" panose="020B0604030504040204" pitchFamily="34" charset="0"/>
                <a:cs typeface="Tahoma" panose="020B0604030504040204" pitchFamily="34" charset="0"/>
              </a:rPr>
            </a:br>
            <a:r>
              <a:rPr lang="en-US" sz="2800">
                <a:latin typeface="Tahoma" panose="020B0604030504040204" pitchFamily="34" charset="0"/>
                <a:ea typeface="Tahoma" panose="020B0604030504040204" pitchFamily="34" charset="0"/>
                <a:cs typeface="Tahoma" panose="020B0604030504040204" pitchFamily="34" charset="0"/>
              </a:rPr>
              <a:t>x1, x2 = </a:t>
            </a:r>
            <a:r>
              <a:rPr lang="en-US" sz="2800" err="1">
                <a:latin typeface="Tahoma" panose="020B0604030504040204" pitchFamily="34" charset="0"/>
                <a:ea typeface="Tahoma" panose="020B0604030504040204" pitchFamily="34" charset="0"/>
                <a:cs typeface="Tahoma" panose="020B0604030504040204" pitchFamily="34" charset="0"/>
              </a:rPr>
              <a:t>get_inputs</a:t>
            </a:r>
            <a:r>
              <a:rPr lang="en-US" sz="2800">
                <a:latin typeface="Tahoma" panose="020B0604030504040204" pitchFamily="34" charset="0"/>
                <a:ea typeface="Tahoma" panose="020B0604030504040204" pitchFamily="34" charset="0"/>
                <a:cs typeface="Tahoma" panose="020B0604030504040204" pitchFamily="34" charset="0"/>
              </a:rPr>
              <a:t>()</a:t>
            </a:r>
          </a:p>
        </p:txBody>
      </p:sp>
      <p:sp>
        <p:nvSpPr>
          <p:cNvPr id="5" name="CustomShape 1">
            <a:extLst>
              <a:ext uri="{FF2B5EF4-FFF2-40B4-BE49-F238E27FC236}">
                <a16:creationId xmlns:a16="http://schemas.microsoft.com/office/drawing/2014/main" id="{99BEE6BA-A660-B039-D5BF-7C38725B9E54}"/>
              </a:ext>
            </a:extLst>
          </p:cNvPr>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6" name="CustomShape 2">
            <a:extLst>
              <a:ext uri="{FF2B5EF4-FFF2-40B4-BE49-F238E27FC236}">
                <a16:creationId xmlns:a16="http://schemas.microsoft.com/office/drawing/2014/main" id="{31E145AB-2C77-8671-522D-C806D10FBA7B}"/>
              </a:ext>
            </a:extLst>
          </p:cNvPr>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14C3B1AF-31B9-47CD-8D13-B1254FA14AD9}" type="slidenum">
              <a:rPr lang="en-US" sz="1400" spc="-1">
                <a:solidFill>
                  <a:srgbClr val="000000"/>
                </a:solidFill>
                <a:uFill>
                  <a:solidFill>
                    <a:srgbClr val="FFFFFF"/>
                  </a:solidFill>
                </a:uFill>
                <a:latin typeface="Tahoma"/>
              </a:rPr>
              <a:t>51</a:t>
            </a:fld>
            <a:endParaRPr lang="en-US" spc="-1">
              <a:solidFill>
                <a:srgbClr val="000000"/>
              </a:solidFill>
              <a:uFill>
                <a:solidFill>
                  <a:srgbClr val="FFFFFF"/>
                </a:solidFill>
              </a:uFill>
              <a:latin typeface="Arial"/>
            </a:endParaRPr>
          </a:p>
        </p:txBody>
      </p:sp>
    </p:spTree>
    <p:extLst>
      <p:ext uri="{BB962C8B-B14F-4D97-AF65-F5344CB8AC3E}">
        <p14:creationId xmlns:p14="http://schemas.microsoft.com/office/powerpoint/2010/main" val="16518873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B99C4-6077-22B0-6E4A-80522B4F9527}"/>
              </a:ext>
            </a:extLst>
          </p:cNvPr>
          <p:cNvSpPr>
            <a:spLocks noGrp="1"/>
          </p:cNvSpPr>
          <p:nvPr>
            <p:ph type="title"/>
          </p:nvPr>
        </p:nvSpPr>
        <p:spPr>
          <a:xfrm>
            <a:off x="2905124" y="273600"/>
            <a:ext cx="8676795" cy="1144800"/>
          </a:xfrm>
        </p:spPr>
        <p:txBody>
          <a:bodyPr/>
          <a:lstStyle/>
          <a:p>
            <a:r>
              <a:rPr lang="en-US"/>
              <a:t>More String Methods</a:t>
            </a:r>
          </a:p>
        </p:txBody>
      </p:sp>
      <p:sp>
        <p:nvSpPr>
          <p:cNvPr id="4" name="Text Placeholder 3">
            <a:extLst>
              <a:ext uri="{FF2B5EF4-FFF2-40B4-BE49-F238E27FC236}">
                <a16:creationId xmlns:a16="http://schemas.microsoft.com/office/drawing/2014/main" id="{7D32E239-552C-1B0A-8290-E81C4A5C59FC}"/>
              </a:ext>
            </a:extLst>
          </p:cNvPr>
          <p:cNvSpPr>
            <a:spLocks noGrp="1"/>
          </p:cNvSpPr>
          <p:nvPr>
            <p:ph type="body"/>
          </p:nvPr>
        </p:nvSpPr>
        <p:spPr>
          <a:xfrm>
            <a:off x="609840" y="2033145"/>
            <a:ext cx="10972320" cy="3977280"/>
          </a:xfrm>
        </p:spPr>
        <p:txBody>
          <a:bodyPr/>
          <a:lstStyle/>
          <a:p>
            <a:r>
              <a:rPr lang="en-US" sz="2800">
                <a:latin typeface="Tahoma" panose="020B0604030504040204" pitchFamily="34" charset="0"/>
                <a:ea typeface="Tahoma" panose="020B0604030504040204" pitchFamily="34" charset="0"/>
                <a:cs typeface="Tahoma" panose="020B0604030504040204" pitchFamily="34" charset="0"/>
              </a:rPr>
              <a:t>The first thing we need to do is print out the table headings.</a:t>
            </a:r>
          </a:p>
          <a:p>
            <a:r>
              <a:rPr lang="en-US" sz="2800">
                <a:latin typeface="Tahoma" panose="020B0604030504040204" pitchFamily="34" charset="0"/>
                <a:ea typeface="Tahoma" panose="020B0604030504040204" pitchFamily="34" charset="0"/>
                <a:cs typeface="Tahoma" panose="020B0604030504040204" pitchFamily="34" charset="0"/>
              </a:rPr>
              <a:t>We want the two input values to be centered in columns in the heading of the table.</a:t>
            </a:r>
          </a:p>
          <a:p>
            <a:r>
              <a:rPr lang="en-US" sz="2800">
                <a:latin typeface="Tahoma" panose="020B0604030504040204" pitchFamily="34" charset="0"/>
                <a:ea typeface="Tahoma" panose="020B0604030504040204" pitchFamily="34" charset="0"/>
                <a:cs typeface="Tahoma" panose="020B0604030504040204" pitchFamily="34" charset="0"/>
              </a:rPr>
              <a:t>If we round the values to six digits (including 0’s at the beginning) means the column is 8 characters wide.</a:t>
            </a:r>
          </a:p>
          <a:p>
            <a:r>
              <a:rPr lang="en-US" sz="2800">
                <a:latin typeface="Tahoma" panose="020B0604030504040204" pitchFamily="34" charset="0"/>
                <a:ea typeface="Tahoma" panose="020B0604030504040204" pitchFamily="34" charset="0"/>
                <a:cs typeface="Tahoma" panose="020B0604030504040204" pitchFamily="34" charset="0"/>
              </a:rPr>
              <a:t>We can use the center string method to center the digits in the column.</a:t>
            </a:r>
          </a:p>
          <a:p>
            <a:r>
              <a:rPr lang="en-US" sz="2800">
                <a:latin typeface="Tahoma" panose="020B0604030504040204" pitchFamily="34" charset="0"/>
                <a:ea typeface="Tahoma" panose="020B0604030504040204" pitchFamily="34" charset="0"/>
                <a:cs typeface="Tahoma" panose="020B0604030504040204" pitchFamily="34" charset="0"/>
              </a:rPr>
              <a:t>Be sure to remember to convert the numbers into strings first so you can use the string method!</a:t>
            </a:r>
          </a:p>
        </p:txBody>
      </p:sp>
      <p:sp>
        <p:nvSpPr>
          <p:cNvPr id="5" name="CustomShape 1">
            <a:extLst>
              <a:ext uri="{FF2B5EF4-FFF2-40B4-BE49-F238E27FC236}">
                <a16:creationId xmlns:a16="http://schemas.microsoft.com/office/drawing/2014/main" id="{D88AFB92-D9C3-CADD-45D9-A403FA89E5F3}"/>
              </a:ext>
            </a:extLst>
          </p:cNvPr>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6" name="CustomShape 2">
            <a:extLst>
              <a:ext uri="{FF2B5EF4-FFF2-40B4-BE49-F238E27FC236}">
                <a16:creationId xmlns:a16="http://schemas.microsoft.com/office/drawing/2014/main" id="{A905120F-027B-718C-F4E4-627C8E95A6F1}"/>
              </a:ext>
            </a:extLst>
          </p:cNvPr>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14C3B1AF-31B9-47CD-8D13-B1254FA14AD9}" type="slidenum">
              <a:rPr lang="en-US" sz="1400" spc="-1">
                <a:solidFill>
                  <a:srgbClr val="000000"/>
                </a:solidFill>
                <a:uFill>
                  <a:solidFill>
                    <a:srgbClr val="FFFFFF"/>
                  </a:solidFill>
                </a:uFill>
                <a:latin typeface="Tahoma"/>
              </a:rPr>
              <a:t>52</a:t>
            </a:fld>
            <a:endParaRPr lang="en-US" spc="-1">
              <a:solidFill>
                <a:srgbClr val="000000"/>
              </a:solidFill>
              <a:uFill>
                <a:solidFill>
                  <a:srgbClr val="FFFFFF"/>
                </a:solidFill>
              </a:uFill>
              <a:latin typeface="Arial"/>
            </a:endParaRPr>
          </a:p>
        </p:txBody>
      </p:sp>
    </p:spTree>
    <p:extLst>
      <p:ext uri="{BB962C8B-B14F-4D97-AF65-F5344CB8AC3E}">
        <p14:creationId xmlns:p14="http://schemas.microsoft.com/office/powerpoint/2010/main" val="34057905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93C0FC-CABC-A261-1938-885C23F9980B}"/>
              </a:ext>
            </a:extLst>
          </p:cNvPr>
          <p:cNvSpPr>
            <a:spLocks noGrp="1"/>
          </p:cNvSpPr>
          <p:nvPr>
            <p:ph type="title"/>
          </p:nvPr>
        </p:nvSpPr>
        <p:spPr>
          <a:xfrm>
            <a:off x="2895600" y="273600"/>
            <a:ext cx="8686320" cy="1144800"/>
          </a:xfrm>
        </p:spPr>
        <p:txBody>
          <a:bodyPr/>
          <a:lstStyle/>
          <a:p>
            <a:r>
              <a:rPr lang="en-US"/>
              <a:t>More String Methods</a:t>
            </a:r>
          </a:p>
        </p:txBody>
      </p:sp>
      <p:sp>
        <p:nvSpPr>
          <p:cNvPr id="5" name="Text Placeholder 4">
            <a:extLst>
              <a:ext uri="{FF2B5EF4-FFF2-40B4-BE49-F238E27FC236}">
                <a16:creationId xmlns:a16="http://schemas.microsoft.com/office/drawing/2014/main" id="{3302EBFA-6932-2797-D455-528708DAF31C}"/>
              </a:ext>
            </a:extLst>
          </p:cNvPr>
          <p:cNvSpPr>
            <a:spLocks noGrp="1"/>
          </p:cNvSpPr>
          <p:nvPr>
            <p:ph type="body"/>
          </p:nvPr>
        </p:nvSpPr>
        <p:spPr>
          <a:xfrm>
            <a:off x="609600" y="1995045"/>
            <a:ext cx="10972320" cy="3977280"/>
          </a:xfrm>
        </p:spPr>
        <p:txBody>
          <a:bodyPr/>
          <a:lstStyle/>
          <a:p>
            <a:pPr marL="108000" indent="0">
              <a:buNone/>
            </a:pPr>
            <a:r>
              <a:rPr lang="en-US" sz="2000">
                <a:latin typeface="Courier New" panose="02070309020205020404" pitchFamily="49" charset="0"/>
                <a:cs typeface="Courier New" panose="02070309020205020404" pitchFamily="49" charset="0"/>
              </a:rPr>
              <a:t>def </a:t>
            </a:r>
            <a:r>
              <a:rPr lang="en-US" sz="2000" err="1">
                <a:latin typeface="Courier New" panose="02070309020205020404" pitchFamily="49" charset="0"/>
                <a:cs typeface="Courier New" panose="02070309020205020404" pitchFamily="49" charset="0"/>
              </a:rPr>
              <a:t>formatvalue</a:t>
            </a:r>
            <a:r>
              <a:rPr lang="en-US" sz="2000">
                <a:latin typeface="Courier New" panose="02070309020205020404" pitchFamily="49" charset="0"/>
                <a:cs typeface="Courier New" panose="02070309020205020404" pitchFamily="49" charset="0"/>
              </a:rPr>
              <a:t>(x):</a:t>
            </a:r>
          </a:p>
          <a:p>
            <a:pPr marL="108000" indent="0">
              <a:buNone/>
            </a:pPr>
            <a:r>
              <a:rPr lang="en-US" sz="2000">
                <a:latin typeface="Courier New" panose="02070309020205020404" pitchFamily="49" charset="0"/>
                <a:cs typeface="Courier New" panose="02070309020205020404" pitchFamily="49" charset="0"/>
              </a:rPr>
              <a:t>    digits = str(round(x, 6))</a:t>
            </a:r>
          </a:p>
          <a:p>
            <a:pPr marL="108000" indent="0">
              <a:buNone/>
            </a:pPr>
            <a:r>
              <a:rPr lang="en-US" sz="2000">
                <a:latin typeface="Courier New" panose="02070309020205020404" pitchFamily="49" charset="0"/>
                <a:cs typeface="Courier New" panose="02070309020205020404" pitchFamily="49" charset="0"/>
              </a:rPr>
              <a:t>    return </a:t>
            </a:r>
            <a:r>
              <a:rPr lang="en-US" sz="2000" err="1">
                <a:latin typeface="Courier New" panose="02070309020205020404" pitchFamily="49" charset="0"/>
                <a:cs typeface="Courier New" panose="02070309020205020404" pitchFamily="49" charset="0"/>
              </a:rPr>
              <a:t>digits.ljust</a:t>
            </a:r>
            <a:r>
              <a:rPr lang="en-US" sz="2000">
                <a:latin typeface="Courier New" panose="02070309020205020404" pitchFamily="49" charset="0"/>
                <a:cs typeface="Courier New" panose="02070309020205020404" pitchFamily="49" charset="0"/>
              </a:rPr>
              <a:t>(8)</a:t>
            </a:r>
          </a:p>
          <a:p>
            <a:r>
              <a:rPr lang="en-US" sz="2400">
                <a:latin typeface="Tahoma" panose="020B0604030504040204" pitchFamily="34" charset="0"/>
                <a:ea typeface="Tahoma" panose="020B0604030504040204" pitchFamily="34" charset="0"/>
                <a:cs typeface="Tahoma" panose="020B0604030504040204" pitchFamily="34" charset="0"/>
              </a:rPr>
              <a:t>Here, the values are left-justified so that the decimal places will all line up.</a:t>
            </a:r>
          </a:p>
          <a:p>
            <a:r>
              <a:rPr lang="en-US" sz="2400">
                <a:latin typeface="Tahoma" panose="020B0604030504040204" pitchFamily="34" charset="0"/>
                <a:ea typeface="Tahoma" panose="020B0604030504040204" pitchFamily="34" charset="0"/>
                <a:cs typeface="Tahoma" panose="020B0604030504040204" pitchFamily="34" charset="0"/>
              </a:rPr>
              <a:t>We can also use a function to make sure the same function is applied to all our data.</a:t>
            </a:r>
          </a:p>
          <a:p>
            <a:pPr marL="108000" indent="0">
              <a:buNone/>
            </a:pPr>
            <a:r>
              <a:rPr lang="en-US" sz="2000">
                <a:latin typeface="Courier New" panose="02070309020205020404" pitchFamily="49" charset="0"/>
                <a:cs typeface="Courier New" panose="02070309020205020404" pitchFamily="49" charset="0"/>
              </a:rPr>
              <a:t>def </a:t>
            </a:r>
            <a:r>
              <a:rPr lang="en-US" sz="2000" err="1">
                <a:latin typeface="Courier New" panose="02070309020205020404" pitchFamily="49" charset="0"/>
                <a:cs typeface="Courier New" panose="02070309020205020404" pitchFamily="49" charset="0"/>
              </a:rPr>
              <a:t>logisticfn</a:t>
            </a:r>
            <a:r>
              <a:rPr lang="en-US" sz="2000">
                <a:latin typeface="Courier New" panose="02070309020205020404" pitchFamily="49" charset="0"/>
                <a:cs typeface="Courier New" panose="02070309020205020404" pitchFamily="49" charset="0"/>
              </a:rPr>
              <a:t>(x):</a:t>
            </a:r>
          </a:p>
          <a:p>
            <a:pPr marL="108000" indent="0">
              <a:buNone/>
            </a:pPr>
            <a:r>
              <a:rPr lang="en-US" sz="2000">
                <a:latin typeface="Courier New" panose="02070309020205020404" pitchFamily="49" charset="0"/>
                <a:cs typeface="Courier New" panose="02070309020205020404" pitchFamily="49" charset="0"/>
              </a:rPr>
              <a:t>    return 3.9 * x * (1-x)</a:t>
            </a:r>
          </a:p>
        </p:txBody>
      </p:sp>
      <p:sp>
        <p:nvSpPr>
          <p:cNvPr id="6" name="CustomShape 1">
            <a:extLst>
              <a:ext uri="{FF2B5EF4-FFF2-40B4-BE49-F238E27FC236}">
                <a16:creationId xmlns:a16="http://schemas.microsoft.com/office/drawing/2014/main" id="{08F6FC9F-1D38-3F84-ED5F-82D8342B16C0}"/>
              </a:ext>
            </a:extLst>
          </p:cNvPr>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7" name="CustomShape 2">
            <a:extLst>
              <a:ext uri="{FF2B5EF4-FFF2-40B4-BE49-F238E27FC236}">
                <a16:creationId xmlns:a16="http://schemas.microsoft.com/office/drawing/2014/main" id="{46F986BC-1782-942D-DC41-25316FC220FB}"/>
              </a:ext>
            </a:extLst>
          </p:cNvPr>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14C3B1AF-31B9-47CD-8D13-B1254FA14AD9}" type="slidenum">
              <a:rPr lang="en-US" sz="1400" spc="-1">
                <a:solidFill>
                  <a:srgbClr val="000000"/>
                </a:solidFill>
                <a:uFill>
                  <a:solidFill>
                    <a:srgbClr val="FFFFFF"/>
                  </a:solidFill>
                </a:uFill>
                <a:latin typeface="Tahoma"/>
              </a:rPr>
              <a:t>53</a:t>
            </a:fld>
            <a:endParaRPr lang="en-US" spc="-1">
              <a:solidFill>
                <a:srgbClr val="000000"/>
              </a:solidFill>
              <a:uFill>
                <a:solidFill>
                  <a:srgbClr val="FFFFFF"/>
                </a:solidFill>
              </a:uFill>
              <a:latin typeface="Arial"/>
            </a:endParaRPr>
          </a:p>
        </p:txBody>
      </p:sp>
    </p:spTree>
    <p:extLst>
      <p:ext uri="{BB962C8B-B14F-4D97-AF65-F5344CB8AC3E}">
        <p14:creationId xmlns:p14="http://schemas.microsoft.com/office/powerpoint/2010/main" val="10553677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B99C4-6077-22B0-6E4A-80522B4F9527}"/>
              </a:ext>
            </a:extLst>
          </p:cNvPr>
          <p:cNvSpPr>
            <a:spLocks noGrp="1"/>
          </p:cNvSpPr>
          <p:nvPr>
            <p:ph type="title"/>
          </p:nvPr>
        </p:nvSpPr>
        <p:spPr/>
        <p:txBody>
          <a:bodyPr/>
          <a:lstStyle/>
          <a:p>
            <a:r>
              <a:rPr lang="en-US"/>
              <a:t>More String Methods</a:t>
            </a:r>
          </a:p>
        </p:txBody>
      </p:sp>
      <p:sp>
        <p:nvSpPr>
          <p:cNvPr id="6" name="Text Placeholder 5">
            <a:extLst>
              <a:ext uri="{FF2B5EF4-FFF2-40B4-BE49-F238E27FC236}">
                <a16:creationId xmlns:a16="http://schemas.microsoft.com/office/drawing/2014/main" id="{3405EEFC-DB4C-3960-D5AE-B41AD9C463C9}"/>
              </a:ext>
            </a:extLst>
          </p:cNvPr>
          <p:cNvSpPr>
            <a:spLocks noGrp="1"/>
          </p:cNvSpPr>
          <p:nvPr>
            <p:ph type="body"/>
          </p:nvPr>
        </p:nvSpPr>
        <p:spPr>
          <a:xfrm>
            <a:off x="529080" y="2880720"/>
            <a:ext cx="5354400" cy="2710455"/>
          </a:xfrm>
        </p:spPr>
        <p:txBody>
          <a:bodyPr/>
          <a:lstStyle/>
          <a:p>
            <a:r>
              <a:rPr lang="en-US" sz="2800">
                <a:latin typeface="Tahoma" panose="020B0604030504040204" pitchFamily="34" charset="0"/>
                <a:ea typeface="Tahoma" panose="020B0604030504040204" pitchFamily="34" charset="0"/>
                <a:cs typeface="Tahoma" panose="020B0604030504040204" pitchFamily="34" charset="0"/>
              </a:rPr>
              <a:t>There’s a problem with our output…</a:t>
            </a:r>
          </a:p>
          <a:p>
            <a:pPr marL="108000" indent="0">
              <a:buNone/>
            </a:pPr>
            <a:endParaRPr lang="en-US"/>
          </a:p>
        </p:txBody>
      </p:sp>
      <p:sp>
        <p:nvSpPr>
          <p:cNvPr id="7" name="Text Placeholder 6">
            <a:extLst>
              <a:ext uri="{FF2B5EF4-FFF2-40B4-BE49-F238E27FC236}">
                <a16:creationId xmlns:a16="http://schemas.microsoft.com/office/drawing/2014/main" id="{832D285F-78C2-5B1B-5FE7-4E20A23F359E}"/>
              </a:ext>
            </a:extLst>
          </p:cNvPr>
          <p:cNvSpPr>
            <a:spLocks noGrp="1"/>
          </p:cNvSpPr>
          <p:nvPr>
            <p:ph type="body"/>
          </p:nvPr>
        </p:nvSpPr>
        <p:spPr>
          <a:xfrm>
            <a:off x="5051221" y="1128270"/>
            <a:ext cx="7016953" cy="5456130"/>
          </a:xfrm>
        </p:spPr>
        <p:txBody>
          <a:bodyPr/>
          <a:lstStyle/>
          <a:p>
            <a:pPr marL="108000" indent="0">
              <a:buNone/>
            </a:pPr>
            <a:r>
              <a:rPr lang="en-US" sz="1800">
                <a:latin typeface="Courier New" panose="02070309020205020404" pitchFamily="49" charset="0"/>
                <a:cs typeface="Courier New" panose="02070309020205020404" pitchFamily="49" charset="0"/>
              </a:rPr>
              <a:t>This program illustrates a chaotic function.</a:t>
            </a:r>
          </a:p>
          <a:p>
            <a:pPr marL="108000" indent="0">
              <a:buNone/>
            </a:pPr>
            <a:r>
              <a:rPr lang="en-US" sz="1800">
                <a:latin typeface="Courier New" panose="02070309020205020404" pitchFamily="49" charset="0"/>
                <a:cs typeface="Courier New" panose="02070309020205020404" pitchFamily="49" charset="0"/>
              </a:rPr>
              <a:t>Enter two starting values between 0 and 1: .25 .26</a:t>
            </a:r>
          </a:p>
          <a:p>
            <a:pPr marL="108000" indent="0">
              <a:buNone/>
            </a:pPr>
            <a:endParaRPr lang="en-US" sz="1800">
              <a:latin typeface="Courier New" panose="02070309020205020404" pitchFamily="49" charset="0"/>
              <a:cs typeface="Courier New" panose="02070309020205020404" pitchFamily="49" charset="0"/>
            </a:endParaRPr>
          </a:p>
          <a:p>
            <a:pPr marL="108000" indent="0">
              <a:buNone/>
            </a:pPr>
            <a:r>
              <a:rPr lang="en-US" sz="1800">
                <a:latin typeface="Courier New" panose="02070309020205020404" pitchFamily="49" charset="0"/>
                <a:cs typeface="Courier New" panose="02070309020205020404" pitchFamily="49" charset="0"/>
              </a:rPr>
              <a:t>input:   0.25       0.26  </a:t>
            </a:r>
          </a:p>
          <a:p>
            <a:pPr marL="108000" indent="0">
              <a:buNone/>
            </a:pPr>
            <a:r>
              <a:rPr lang="en-US" sz="1800">
                <a:latin typeface="Courier New" panose="02070309020205020404" pitchFamily="49" charset="0"/>
                <a:cs typeface="Courier New" panose="02070309020205020404" pitchFamily="49" charset="0"/>
              </a:rPr>
              <a:t>---------------------------</a:t>
            </a:r>
          </a:p>
          <a:p>
            <a:pPr marL="108000" indent="0">
              <a:buNone/>
            </a:pPr>
            <a:r>
              <a:rPr lang="en-US" sz="1800">
                <a:latin typeface="Courier New" panose="02070309020205020404" pitchFamily="49" charset="0"/>
                <a:cs typeface="Courier New" panose="02070309020205020404" pitchFamily="49" charset="0"/>
              </a:rPr>
              <a:t>       0.73125    0.75036 </a:t>
            </a:r>
          </a:p>
          <a:p>
            <a:pPr marL="108000" indent="0">
              <a:buNone/>
            </a:pPr>
            <a:r>
              <a:rPr lang="en-US" sz="1800">
                <a:latin typeface="Courier New" panose="02070309020205020404" pitchFamily="49" charset="0"/>
                <a:cs typeface="Courier New" panose="02070309020205020404" pitchFamily="49" charset="0"/>
              </a:rPr>
              <a:t>       0.766441   0.730547</a:t>
            </a:r>
          </a:p>
          <a:p>
            <a:pPr marL="108000" indent="0">
              <a:buNone/>
            </a:pPr>
            <a:r>
              <a:rPr lang="en-US" sz="1800">
                <a:latin typeface="Courier New" panose="02070309020205020404" pitchFamily="49" charset="0"/>
                <a:cs typeface="Courier New" panose="02070309020205020404" pitchFamily="49" charset="0"/>
              </a:rPr>
              <a:t>       0.698135   0.767707</a:t>
            </a:r>
          </a:p>
          <a:p>
            <a:pPr marL="108000" indent="0">
              <a:buNone/>
            </a:pPr>
            <a:r>
              <a:rPr lang="en-US" sz="1800">
                <a:latin typeface="Courier New" panose="02070309020205020404" pitchFamily="49" charset="0"/>
                <a:cs typeface="Courier New" panose="02070309020205020404" pitchFamily="49" charset="0"/>
              </a:rPr>
              <a:t>       0.821896   0.695499</a:t>
            </a:r>
          </a:p>
          <a:p>
            <a:pPr marL="108000" indent="0">
              <a:buNone/>
            </a:pPr>
            <a:r>
              <a:rPr lang="en-US" sz="1800">
                <a:latin typeface="Courier New" panose="02070309020205020404" pitchFamily="49" charset="0"/>
                <a:cs typeface="Courier New" panose="02070309020205020404" pitchFamily="49" charset="0"/>
              </a:rPr>
              <a:t>       0.570894   0.825942</a:t>
            </a:r>
          </a:p>
          <a:p>
            <a:pPr marL="108000" indent="0">
              <a:buNone/>
            </a:pPr>
            <a:r>
              <a:rPr lang="en-US" sz="1800">
                <a:latin typeface="Courier New" panose="02070309020205020404" pitchFamily="49" charset="0"/>
                <a:cs typeface="Courier New" panose="02070309020205020404" pitchFamily="49" charset="0"/>
              </a:rPr>
              <a:t>       0.955399   0.560671</a:t>
            </a:r>
          </a:p>
          <a:p>
            <a:pPr marL="108000" indent="0">
              <a:buNone/>
            </a:pPr>
            <a:r>
              <a:rPr lang="en-US" sz="1800">
                <a:latin typeface="Courier New" panose="02070309020205020404" pitchFamily="49" charset="0"/>
                <a:cs typeface="Courier New" panose="02070309020205020404" pitchFamily="49" charset="0"/>
              </a:rPr>
              <a:t>       0.166187   0.960644</a:t>
            </a:r>
          </a:p>
          <a:p>
            <a:pPr marL="108000" indent="0">
              <a:buNone/>
            </a:pPr>
            <a:r>
              <a:rPr lang="en-US" sz="1800">
                <a:latin typeface="Courier New" panose="02070309020205020404" pitchFamily="49" charset="0"/>
                <a:cs typeface="Courier New" panose="02070309020205020404" pitchFamily="49" charset="0"/>
              </a:rPr>
              <a:t>       0.540418   0.147447</a:t>
            </a:r>
          </a:p>
          <a:p>
            <a:pPr marL="108000" indent="0">
              <a:buNone/>
            </a:pPr>
            <a:r>
              <a:rPr lang="en-US" sz="1800">
                <a:latin typeface="Courier New" panose="02070309020205020404" pitchFamily="49" charset="0"/>
                <a:cs typeface="Courier New" panose="02070309020205020404" pitchFamily="49" charset="0"/>
              </a:rPr>
              <a:t>       0.968629   0.490255</a:t>
            </a:r>
          </a:p>
          <a:p>
            <a:pPr marL="108000" indent="0">
              <a:buNone/>
            </a:pPr>
            <a:r>
              <a:rPr lang="en-US" sz="1800">
                <a:latin typeface="Courier New" panose="02070309020205020404" pitchFamily="49" charset="0"/>
                <a:cs typeface="Courier New" panose="02070309020205020404" pitchFamily="49" charset="0"/>
              </a:rPr>
              <a:t>       0.118509   0.97463</a:t>
            </a:r>
          </a:p>
        </p:txBody>
      </p:sp>
      <p:sp>
        <p:nvSpPr>
          <p:cNvPr id="8" name="CustomShape 1">
            <a:extLst>
              <a:ext uri="{FF2B5EF4-FFF2-40B4-BE49-F238E27FC236}">
                <a16:creationId xmlns:a16="http://schemas.microsoft.com/office/drawing/2014/main" id="{58E16AE9-E870-F0BD-EB76-C364970C8B3A}"/>
              </a:ext>
            </a:extLst>
          </p:cNvPr>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9" name="CustomShape 2">
            <a:extLst>
              <a:ext uri="{FF2B5EF4-FFF2-40B4-BE49-F238E27FC236}">
                <a16:creationId xmlns:a16="http://schemas.microsoft.com/office/drawing/2014/main" id="{59D7BFEE-71C1-1C2D-247D-0A011CE8C830}"/>
              </a:ext>
            </a:extLst>
          </p:cNvPr>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14C3B1AF-31B9-47CD-8D13-B1254FA14AD9}" type="slidenum">
              <a:rPr lang="en-US" sz="1400" spc="-1">
                <a:solidFill>
                  <a:srgbClr val="000000"/>
                </a:solidFill>
                <a:uFill>
                  <a:solidFill>
                    <a:srgbClr val="FFFFFF"/>
                  </a:solidFill>
                </a:uFill>
                <a:latin typeface="Tahoma"/>
              </a:rPr>
              <a:t>54</a:t>
            </a:fld>
            <a:endParaRPr lang="en-US" spc="-1">
              <a:solidFill>
                <a:srgbClr val="000000"/>
              </a:solidFill>
              <a:uFill>
                <a:solidFill>
                  <a:srgbClr val="FFFFFF"/>
                </a:solidFill>
              </a:uFill>
              <a:latin typeface="Arial"/>
            </a:endParaRPr>
          </a:p>
        </p:txBody>
      </p:sp>
    </p:spTree>
    <p:extLst>
      <p:ext uri="{BB962C8B-B14F-4D97-AF65-F5344CB8AC3E}">
        <p14:creationId xmlns:p14="http://schemas.microsoft.com/office/powerpoint/2010/main" val="36386771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489"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5A882400-7DBB-4368-905F-9C8EC1C12D4B}" type="slidenum">
              <a:rPr lang="en-US" sz="1400" spc="-1">
                <a:solidFill>
                  <a:srgbClr val="000000"/>
                </a:solidFill>
                <a:uFill>
                  <a:solidFill>
                    <a:srgbClr val="FFFFFF"/>
                  </a:solidFill>
                </a:uFill>
                <a:latin typeface="Tahoma"/>
              </a:rPr>
              <a:t>55</a:t>
            </a:fld>
            <a:endParaRPr lang="en-US" spc="-1">
              <a:solidFill>
                <a:srgbClr val="000000"/>
              </a:solidFill>
              <a:uFill>
                <a:solidFill>
                  <a:srgbClr val="FFFFFF"/>
                </a:solidFill>
              </a:uFill>
              <a:latin typeface="Arial"/>
            </a:endParaRPr>
          </a:p>
        </p:txBody>
      </p:sp>
      <p:sp>
        <p:nvSpPr>
          <p:cNvPr id="490"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String Formatting</a:t>
            </a:r>
            <a:endParaRPr lang="en-US" spc="-1">
              <a:solidFill>
                <a:srgbClr val="000000"/>
              </a:solidFill>
              <a:uFill>
                <a:solidFill>
                  <a:srgbClr val="FFFFFF"/>
                </a:solidFill>
              </a:uFill>
              <a:latin typeface="Arial"/>
            </a:endParaRPr>
          </a:p>
        </p:txBody>
      </p:sp>
      <p:sp>
        <p:nvSpPr>
          <p:cNvPr id="491"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String formatting is an easy way to get beautiful output!</a:t>
            </a:r>
            <a:endParaRPr lang="en-US" spc="-1">
              <a:solidFill>
                <a:srgbClr val="000000"/>
              </a:solidFill>
              <a:uFill>
                <a:solidFill>
                  <a:srgbClr val="FFFFFF"/>
                </a:solidFill>
              </a:uFill>
              <a:latin typeface="Arial"/>
            </a:endParaRPr>
          </a:p>
          <a:p>
            <a:pPr marL="343080" indent="-342360"/>
            <a:r>
              <a:rPr lang="en-US" sz="1600" spc="-1">
                <a:solidFill>
                  <a:srgbClr val="000000"/>
                </a:solidFill>
                <a:uFill>
                  <a:solidFill>
                    <a:srgbClr val="FFFFFF"/>
                  </a:solidFill>
                </a:uFill>
                <a:latin typeface="Courier New"/>
              </a:rPr>
              <a:t>Change Counter</a:t>
            </a:r>
            <a:endParaRPr lang="en-US" spc="-1">
              <a:solidFill>
                <a:srgbClr val="000000"/>
              </a:solidFill>
              <a:uFill>
                <a:solidFill>
                  <a:srgbClr val="FFFFFF"/>
                </a:solidFill>
              </a:uFill>
              <a:latin typeface="Arial"/>
            </a:endParaRPr>
          </a:p>
          <a:p>
            <a:pPr marL="343080" indent="-342360"/>
            <a:endParaRPr lang="en-US" spc="-1">
              <a:solidFill>
                <a:srgbClr val="000000"/>
              </a:solidFill>
              <a:uFill>
                <a:solidFill>
                  <a:srgbClr val="FFFFFF"/>
                </a:solidFill>
              </a:uFill>
              <a:latin typeface="Arial"/>
            </a:endParaRPr>
          </a:p>
          <a:p>
            <a:pPr marL="343080" indent="-342360"/>
            <a:r>
              <a:rPr lang="en-US" sz="1600" spc="-1">
                <a:solidFill>
                  <a:srgbClr val="000000"/>
                </a:solidFill>
                <a:uFill>
                  <a:solidFill>
                    <a:srgbClr val="FFFFFF"/>
                  </a:solidFill>
                </a:uFill>
                <a:latin typeface="Courier New"/>
              </a:rPr>
              <a:t>Please enter the count of each coin type.</a:t>
            </a:r>
            <a:endParaRPr lang="en-US" spc="-1">
              <a:solidFill>
                <a:srgbClr val="000000"/>
              </a:solidFill>
              <a:uFill>
                <a:solidFill>
                  <a:srgbClr val="FFFFFF"/>
                </a:solidFill>
              </a:uFill>
              <a:latin typeface="Arial"/>
            </a:endParaRPr>
          </a:p>
          <a:p>
            <a:pPr marL="343080" indent="-342360"/>
            <a:r>
              <a:rPr lang="en-US" sz="1600" spc="-1">
                <a:solidFill>
                  <a:srgbClr val="000000"/>
                </a:solidFill>
                <a:uFill>
                  <a:solidFill>
                    <a:srgbClr val="FFFFFF"/>
                  </a:solidFill>
                </a:uFill>
                <a:latin typeface="Courier New"/>
              </a:rPr>
              <a:t>Quarters: 6</a:t>
            </a:r>
            <a:endParaRPr lang="en-US" spc="-1">
              <a:solidFill>
                <a:srgbClr val="000000"/>
              </a:solidFill>
              <a:uFill>
                <a:solidFill>
                  <a:srgbClr val="FFFFFF"/>
                </a:solidFill>
              </a:uFill>
              <a:latin typeface="Arial"/>
            </a:endParaRPr>
          </a:p>
          <a:p>
            <a:pPr marL="343080" indent="-342360"/>
            <a:r>
              <a:rPr lang="en-US" sz="1600" spc="-1">
                <a:solidFill>
                  <a:srgbClr val="000000"/>
                </a:solidFill>
                <a:uFill>
                  <a:solidFill>
                    <a:srgbClr val="FFFFFF"/>
                  </a:solidFill>
                </a:uFill>
                <a:latin typeface="Courier New"/>
              </a:rPr>
              <a:t>Dimes: 0</a:t>
            </a:r>
            <a:endParaRPr lang="en-US" spc="-1">
              <a:solidFill>
                <a:srgbClr val="000000"/>
              </a:solidFill>
              <a:uFill>
                <a:solidFill>
                  <a:srgbClr val="FFFFFF"/>
                </a:solidFill>
              </a:uFill>
              <a:latin typeface="Arial"/>
            </a:endParaRPr>
          </a:p>
          <a:p>
            <a:pPr marL="343080" indent="-342360"/>
            <a:r>
              <a:rPr lang="en-US" sz="1600" spc="-1">
                <a:solidFill>
                  <a:srgbClr val="000000"/>
                </a:solidFill>
                <a:uFill>
                  <a:solidFill>
                    <a:srgbClr val="FFFFFF"/>
                  </a:solidFill>
                </a:uFill>
                <a:latin typeface="Courier New"/>
              </a:rPr>
              <a:t>Nickels: 0</a:t>
            </a:r>
            <a:endParaRPr lang="en-US" spc="-1">
              <a:solidFill>
                <a:srgbClr val="000000"/>
              </a:solidFill>
              <a:uFill>
                <a:solidFill>
                  <a:srgbClr val="FFFFFF"/>
                </a:solidFill>
              </a:uFill>
              <a:latin typeface="Arial"/>
            </a:endParaRPr>
          </a:p>
          <a:p>
            <a:pPr marL="343080" indent="-342360"/>
            <a:r>
              <a:rPr lang="en-US" sz="1600" spc="-1">
                <a:solidFill>
                  <a:srgbClr val="000000"/>
                </a:solidFill>
                <a:uFill>
                  <a:solidFill>
                    <a:srgbClr val="FFFFFF"/>
                  </a:solidFill>
                </a:uFill>
                <a:latin typeface="Courier New"/>
              </a:rPr>
              <a:t>Pennies: 0</a:t>
            </a:r>
            <a:endParaRPr lang="en-US" spc="-1">
              <a:solidFill>
                <a:srgbClr val="000000"/>
              </a:solidFill>
              <a:uFill>
                <a:solidFill>
                  <a:srgbClr val="FFFFFF"/>
                </a:solidFill>
              </a:uFill>
              <a:latin typeface="Arial"/>
            </a:endParaRPr>
          </a:p>
          <a:p>
            <a:pPr marL="343080" indent="-342360"/>
            <a:endParaRPr lang="en-US" spc="-1">
              <a:solidFill>
                <a:srgbClr val="000000"/>
              </a:solidFill>
              <a:uFill>
                <a:solidFill>
                  <a:srgbClr val="FFFFFF"/>
                </a:solidFill>
              </a:uFill>
              <a:latin typeface="Arial"/>
            </a:endParaRPr>
          </a:p>
          <a:p>
            <a:pPr marL="343080" indent="-342360"/>
            <a:r>
              <a:rPr lang="en-US" sz="1600" spc="-1">
                <a:solidFill>
                  <a:srgbClr val="000000"/>
                </a:solidFill>
                <a:uFill>
                  <a:solidFill>
                    <a:srgbClr val="FFFFFF"/>
                  </a:solidFill>
                </a:uFill>
                <a:latin typeface="Courier New"/>
              </a:rPr>
              <a:t>The total value of your change is $1.5</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Shouldn</a:t>
            </a:r>
            <a:r>
              <a:rPr lang="en-US" sz="3200" spc="-1">
                <a:solidFill>
                  <a:srgbClr val="000000"/>
                </a:solidFill>
                <a:uFill>
                  <a:solidFill>
                    <a:srgbClr val="FFFFFF"/>
                  </a:solidFill>
                </a:uFill>
                <a:latin typeface="Times New Roman"/>
              </a:rPr>
              <a:t>’</a:t>
            </a:r>
            <a:r>
              <a:rPr lang="en-US" sz="3200" spc="-1">
                <a:solidFill>
                  <a:srgbClr val="000000"/>
                </a:solidFill>
                <a:uFill>
                  <a:solidFill>
                    <a:srgbClr val="FFFFFF"/>
                  </a:solidFill>
                </a:uFill>
                <a:latin typeface="Tahoma"/>
              </a:rPr>
              <a:t>t that be more like $1.50??</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489"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5A882400-7DBB-4368-905F-9C8EC1C12D4B}" type="slidenum">
              <a:rPr lang="en-US" sz="1400" spc="-1">
                <a:solidFill>
                  <a:srgbClr val="000000"/>
                </a:solidFill>
                <a:uFill>
                  <a:solidFill>
                    <a:srgbClr val="FFFFFF"/>
                  </a:solidFill>
                </a:uFill>
                <a:latin typeface="Tahoma"/>
              </a:rPr>
              <a:t>56</a:t>
            </a:fld>
            <a:endParaRPr lang="en-US" spc="-1">
              <a:solidFill>
                <a:srgbClr val="000000"/>
              </a:solidFill>
              <a:uFill>
                <a:solidFill>
                  <a:srgbClr val="FFFFFF"/>
                </a:solidFill>
              </a:uFill>
              <a:latin typeface="Arial"/>
            </a:endParaRPr>
          </a:p>
        </p:txBody>
      </p:sp>
      <p:sp>
        <p:nvSpPr>
          <p:cNvPr id="490"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String Formatting</a:t>
            </a:r>
            <a:endParaRPr lang="en-US" spc="-1">
              <a:solidFill>
                <a:srgbClr val="000000"/>
              </a:solidFill>
              <a:uFill>
                <a:solidFill>
                  <a:srgbClr val="FFFFFF"/>
                </a:solidFill>
              </a:uFill>
              <a:latin typeface="Arial"/>
            </a:endParaRPr>
          </a:p>
        </p:txBody>
      </p:sp>
      <p:sp>
        <p:nvSpPr>
          <p:cNvPr id="491" name="CustomShape 4"/>
          <p:cNvSpPr/>
          <p:nvPr/>
        </p:nvSpPr>
        <p:spPr>
          <a:xfrm>
            <a:off x="1209675" y="2017799"/>
            <a:ext cx="9972675" cy="444967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r>
              <a:rPr lang="en-US" sz="2800" spc="-1">
                <a:solidFill>
                  <a:srgbClr val="000000"/>
                </a:solidFill>
                <a:uFill>
                  <a:solidFill>
                    <a:srgbClr val="FFFFFF"/>
                  </a:solidFill>
                </a:uFill>
                <a:latin typeface="Tahoma" panose="020B0604030504040204" pitchFamily="34" charset="0"/>
                <a:ea typeface="Tahoma" panose="020B0604030504040204" pitchFamily="34" charset="0"/>
                <a:cs typeface="Tahoma" panose="020B0604030504040204" pitchFamily="34" charset="0"/>
              </a:rPr>
              <a:t>The line of code producing this result looks like this:</a:t>
            </a:r>
          </a:p>
          <a:p>
            <a:pPr marL="720">
              <a:buClr>
                <a:srgbClr val="3333CC"/>
              </a:buClr>
              <a:buSzPct val="60000"/>
            </a:pPr>
            <a:r>
              <a:rPr lang="en-US" sz="2000" spc="-1">
                <a:solidFill>
                  <a:srgbClr val="000000"/>
                </a:solidFill>
                <a:uFill>
                  <a:solidFill>
                    <a:srgbClr val="FFFFFF"/>
                  </a:solidFill>
                </a:uFill>
                <a:latin typeface="Courier New" panose="02070309020205020404" pitchFamily="49" charset="0"/>
                <a:cs typeface="Courier New" panose="02070309020205020404" pitchFamily="49" charset="0"/>
              </a:rPr>
              <a:t>print("The total of your change is","$"+str(round(total,2))+".")</a:t>
            </a:r>
          </a:p>
          <a:p>
            <a:pPr marL="343620" indent="-342900">
              <a:buClr>
                <a:srgbClr val="3333CC"/>
              </a:buClr>
              <a:buSzPct val="60000"/>
              <a:buFont typeface="Arial" panose="020B0604020202020204" pitchFamily="34" charset="0"/>
              <a:buChar char="•"/>
            </a:pPr>
            <a:r>
              <a:rPr lang="en-US" sz="2800" spc="-1">
                <a:solidFill>
                  <a:srgbClr val="000000"/>
                </a:solidFill>
                <a:uFill>
                  <a:solidFill>
                    <a:srgbClr val="FFFFFF"/>
                  </a:solidFill>
                </a:uFill>
                <a:latin typeface="Tahoma" panose="020B0604030504040204" pitchFamily="34" charset="0"/>
                <a:ea typeface="Tahoma" panose="020B0604030504040204" pitchFamily="34" charset="0"/>
                <a:cs typeface="Tahoma" panose="020B0604030504040204" pitchFamily="34" charset="0"/>
              </a:rPr>
              <a:t>This is a common thing to want to do in Python. We can use formatted string literals, f-strings for short.</a:t>
            </a:r>
          </a:p>
          <a:p>
            <a:pPr marL="343620" indent="-342900">
              <a:buClr>
                <a:srgbClr val="3333CC"/>
              </a:buClr>
              <a:buSzPct val="60000"/>
              <a:buFont typeface="Arial" panose="020B0604020202020204" pitchFamily="34" charset="0"/>
              <a:buChar char="•"/>
            </a:pPr>
            <a:r>
              <a:rPr lang="en-US" sz="2800" spc="-1">
                <a:solidFill>
                  <a:srgbClr val="000000"/>
                </a:solidFill>
                <a:uFill>
                  <a:solidFill>
                    <a:srgbClr val="FFFFFF"/>
                  </a:solidFill>
                </a:uFill>
                <a:latin typeface="Tahoma" panose="020B0604030504040204" pitchFamily="34" charset="0"/>
                <a:ea typeface="Tahoma" panose="020B0604030504040204" pitchFamily="34" charset="0"/>
                <a:cs typeface="Tahoma" panose="020B0604030504040204" pitchFamily="34" charset="0"/>
              </a:rPr>
              <a:t>An f-string produces a string value.</a:t>
            </a:r>
          </a:p>
          <a:p>
            <a:pPr marL="343620" indent="-342900">
              <a:buClr>
                <a:srgbClr val="3333CC"/>
              </a:buClr>
              <a:buSzPct val="60000"/>
              <a:buFont typeface="Arial" panose="020B0604020202020204" pitchFamily="34" charset="0"/>
              <a:buChar char="•"/>
            </a:pPr>
            <a:r>
              <a:rPr lang="en-US" sz="2400" spc="-1">
                <a:solidFill>
                  <a:srgbClr val="000000"/>
                </a:solidFill>
                <a:uFill>
                  <a:solidFill>
                    <a:srgbClr val="FFFFFF"/>
                  </a:solidFill>
                </a:uFill>
                <a:latin typeface="Courier New" panose="02070309020205020404" pitchFamily="49" charset="0"/>
                <a:cs typeface="Courier New" panose="02070309020205020404" pitchFamily="49" charset="0"/>
              </a:rPr>
              <a:t>&gt;&gt;&gt;</a:t>
            </a:r>
            <a:r>
              <a:rPr lang="en-US" sz="2400" spc="-1" err="1">
                <a:solidFill>
                  <a:srgbClr val="000000"/>
                </a:solidFill>
                <a:uFill>
                  <a:solidFill>
                    <a:srgbClr val="FFFFFF"/>
                  </a:solidFill>
                </a:uFill>
                <a:latin typeface="Courier New" panose="02070309020205020404" pitchFamily="49" charset="0"/>
                <a:cs typeface="Courier New" panose="02070309020205020404" pitchFamily="49" charset="0"/>
              </a:rPr>
              <a:t>f"hello</a:t>
            </a:r>
            <a:r>
              <a:rPr lang="en-US" sz="2400" spc="-1">
                <a:solidFill>
                  <a:srgbClr val="000000"/>
                </a:solidFill>
                <a:uFill>
                  <a:solidFill>
                    <a:srgbClr val="FFFFFF"/>
                  </a:solidFill>
                </a:uFill>
                <a:latin typeface="Courier New" panose="02070309020205020404" pitchFamily="49" charset="0"/>
                <a:cs typeface="Courier New" panose="02070309020205020404" pitchFamily="49" charset="0"/>
              </a:rPr>
              <a:t> f-strings"</a:t>
            </a:r>
            <a:br>
              <a:rPr lang="en-US" sz="2400" spc="-1">
                <a:solidFill>
                  <a:srgbClr val="000000"/>
                </a:solidFill>
                <a:uFill>
                  <a:solidFill>
                    <a:srgbClr val="FFFFFF"/>
                  </a:solidFill>
                </a:uFill>
                <a:latin typeface="Courier New" panose="02070309020205020404" pitchFamily="49" charset="0"/>
                <a:cs typeface="Courier New" panose="02070309020205020404" pitchFamily="49" charset="0"/>
              </a:rPr>
            </a:br>
            <a:r>
              <a:rPr lang="en-US" sz="2400" spc="-1">
                <a:solidFill>
                  <a:srgbClr val="000000"/>
                </a:solidFill>
                <a:uFill>
                  <a:solidFill>
                    <a:srgbClr val="FFFFFF"/>
                  </a:solidFill>
                </a:uFill>
                <a:latin typeface="Courier New" panose="02070309020205020404" pitchFamily="49" charset="0"/>
                <a:cs typeface="Courier New" panose="02070309020205020404" pitchFamily="49" charset="0"/>
              </a:rPr>
              <a:t>   'hello f-strings’</a:t>
            </a:r>
          </a:p>
          <a:p>
            <a:pPr marL="343620" indent="-342900">
              <a:buClr>
                <a:srgbClr val="3333CC"/>
              </a:buClr>
              <a:buSzPct val="60000"/>
              <a:buFont typeface="Arial" panose="020B0604020202020204" pitchFamily="34" charset="0"/>
              <a:buChar char="•"/>
            </a:pPr>
            <a:r>
              <a:rPr lang="en-US" sz="2800" spc="-1">
                <a:solidFill>
                  <a:srgbClr val="000000"/>
                </a:solidFill>
                <a:uFill>
                  <a:solidFill>
                    <a:srgbClr val="FFFFFF"/>
                  </a:solidFill>
                </a:uFill>
                <a:latin typeface="Tahoma" panose="020B0604030504040204" pitchFamily="34" charset="0"/>
                <a:ea typeface="Tahoma" panose="020B0604030504040204" pitchFamily="34" charset="0"/>
                <a:cs typeface="Tahoma" panose="020B0604030504040204" pitchFamily="34" charset="0"/>
              </a:rPr>
              <a:t>We can embed expressions in the strings by placing them inside curly braces.</a:t>
            </a:r>
          </a:p>
          <a:p>
            <a:pPr marL="343620" indent="-342900">
              <a:buClr>
                <a:srgbClr val="3333CC"/>
              </a:buClr>
              <a:buSzPct val="60000"/>
              <a:buFont typeface="Arial" panose="020B0604020202020204" pitchFamily="34" charset="0"/>
              <a:buChar char="•"/>
            </a:pPr>
            <a:r>
              <a:rPr lang="en-US" sz="2400" spc="-1">
                <a:solidFill>
                  <a:srgbClr val="000000"/>
                </a:solidFill>
                <a:uFill>
                  <a:solidFill>
                    <a:srgbClr val="FFFFFF"/>
                  </a:solidFill>
                </a:uFill>
                <a:latin typeface="Courier New" panose="02070309020205020404" pitchFamily="49" charset="0"/>
                <a:cs typeface="Courier New" panose="02070309020205020404" pitchFamily="49" charset="0"/>
              </a:rPr>
              <a:t>&gt;&gt;&gt;f"3 + 4 = {3 + 4}."</a:t>
            </a:r>
            <a:br>
              <a:rPr lang="en-US" sz="2400" spc="-1">
                <a:solidFill>
                  <a:srgbClr val="000000"/>
                </a:solidFill>
                <a:uFill>
                  <a:solidFill>
                    <a:srgbClr val="FFFFFF"/>
                  </a:solidFill>
                </a:uFill>
                <a:latin typeface="Courier New" panose="02070309020205020404" pitchFamily="49" charset="0"/>
                <a:cs typeface="Courier New" panose="02070309020205020404" pitchFamily="49" charset="0"/>
              </a:rPr>
            </a:br>
            <a:r>
              <a:rPr lang="en-US" sz="2400" spc="-1">
                <a:solidFill>
                  <a:srgbClr val="000000"/>
                </a:solidFill>
                <a:uFill>
                  <a:solidFill>
                    <a:srgbClr val="FFFFFF"/>
                  </a:solidFill>
                </a:uFill>
                <a:latin typeface="Courier New" panose="02070309020205020404" pitchFamily="49" charset="0"/>
                <a:cs typeface="Courier New" panose="02070309020205020404" pitchFamily="49" charset="0"/>
              </a:rPr>
              <a:t>   '3 + 4 = 7.'</a:t>
            </a:r>
          </a:p>
        </p:txBody>
      </p:sp>
    </p:spTree>
    <p:extLst>
      <p:ext uri="{BB962C8B-B14F-4D97-AF65-F5344CB8AC3E}">
        <p14:creationId xmlns:p14="http://schemas.microsoft.com/office/powerpoint/2010/main" val="97236309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489"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5A882400-7DBB-4368-905F-9C8EC1C12D4B}" type="slidenum">
              <a:rPr lang="en-US" sz="1400" spc="-1">
                <a:solidFill>
                  <a:srgbClr val="000000"/>
                </a:solidFill>
                <a:uFill>
                  <a:solidFill>
                    <a:srgbClr val="FFFFFF"/>
                  </a:solidFill>
                </a:uFill>
                <a:latin typeface="Tahoma"/>
              </a:rPr>
              <a:t>57</a:t>
            </a:fld>
            <a:endParaRPr lang="en-US" spc="-1">
              <a:solidFill>
                <a:srgbClr val="000000"/>
              </a:solidFill>
              <a:uFill>
                <a:solidFill>
                  <a:srgbClr val="FFFFFF"/>
                </a:solidFill>
              </a:uFill>
              <a:latin typeface="Arial"/>
            </a:endParaRPr>
          </a:p>
        </p:txBody>
      </p:sp>
      <p:sp>
        <p:nvSpPr>
          <p:cNvPr id="490"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String Formatting</a:t>
            </a:r>
            <a:endParaRPr lang="en-US" spc="-1">
              <a:solidFill>
                <a:srgbClr val="000000"/>
              </a:solidFill>
              <a:uFill>
                <a:solidFill>
                  <a:srgbClr val="FFFFFF"/>
                </a:solidFill>
              </a:uFill>
              <a:latin typeface="Arial"/>
            </a:endParaRPr>
          </a:p>
        </p:txBody>
      </p:sp>
      <p:sp>
        <p:nvSpPr>
          <p:cNvPr id="491" name="CustomShape 4"/>
          <p:cNvSpPr/>
          <p:nvPr/>
        </p:nvSpPr>
        <p:spPr>
          <a:xfrm>
            <a:off x="1209675" y="2017799"/>
            <a:ext cx="9972675" cy="444967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r>
              <a:rPr lang="en-US" sz="2800" spc="-1">
                <a:solidFill>
                  <a:srgbClr val="000000"/>
                </a:solidFill>
                <a:uFill>
                  <a:solidFill>
                    <a:srgbClr val="FFFFFF"/>
                  </a:solidFill>
                </a:uFill>
                <a:cs typeface="Courier New" panose="02070309020205020404" pitchFamily="49" charset="0"/>
              </a:rPr>
              <a:t>The ability to embed expression results in a string is very useful!</a:t>
            </a:r>
          </a:p>
          <a:p>
            <a:pPr marL="343080" indent="-342360">
              <a:buClr>
                <a:srgbClr val="3333CC"/>
              </a:buClr>
              <a:buSzPct val="60000"/>
              <a:buFont typeface="Wingdings" charset="2"/>
              <a:buChar char=""/>
            </a:pPr>
            <a:r>
              <a:rPr lang="en-US" sz="2800" spc="-1">
                <a:solidFill>
                  <a:srgbClr val="000000"/>
                </a:solidFill>
                <a:uFill>
                  <a:solidFill>
                    <a:srgbClr val="FFFFFF"/>
                  </a:solidFill>
                </a:uFill>
                <a:cs typeface="Courier New" panose="02070309020205020404" pitchFamily="49" charset="0"/>
              </a:rPr>
              <a:t>The complex print statement at the end of the change counter can be more easily handled with an f-string – we just need a template for the result.</a:t>
            </a:r>
          </a:p>
          <a:p>
            <a:pPr marL="343080" indent="-342360">
              <a:buClr>
                <a:srgbClr val="3333CC"/>
              </a:buClr>
              <a:buSzPct val="60000"/>
              <a:buFont typeface="Wingdings" charset="2"/>
              <a:buChar char=""/>
            </a:pPr>
            <a:r>
              <a:rPr lang="en-US" sz="2000" spc="-1">
                <a:solidFill>
                  <a:srgbClr val="000000"/>
                </a:solidFill>
                <a:uFill>
                  <a:solidFill>
                    <a:srgbClr val="FFFFFF"/>
                  </a:solidFill>
                </a:uFill>
                <a:latin typeface="Courier New" panose="02070309020205020404" pitchFamily="49" charset="0"/>
                <a:cs typeface="Courier New" panose="02070309020205020404" pitchFamily="49" charset="0"/>
              </a:rPr>
              <a:t>print(</a:t>
            </a:r>
            <a:r>
              <a:rPr lang="en-US" sz="2000" spc="-1" err="1">
                <a:solidFill>
                  <a:srgbClr val="000000"/>
                </a:solidFill>
                <a:uFill>
                  <a:solidFill>
                    <a:srgbClr val="FFFFFF"/>
                  </a:solidFill>
                </a:uFill>
                <a:latin typeface="Courier New" panose="02070309020205020404" pitchFamily="49" charset="0"/>
                <a:cs typeface="Courier New" panose="02070309020205020404" pitchFamily="49" charset="0"/>
              </a:rPr>
              <a:t>f"The</a:t>
            </a:r>
            <a:r>
              <a:rPr lang="en-US" sz="2000" spc="-1">
                <a:solidFill>
                  <a:srgbClr val="000000"/>
                </a:solidFill>
                <a:uFill>
                  <a:solidFill>
                    <a:srgbClr val="FFFFFF"/>
                  </a:solidFill>
                </a:uFill>
                <a:latin typeface="Courier New" panose="02070309020205020404" pitchFamily="49" charset="0"/>
                <a:cs typeface="Courier New" panose="02070309020205020404" pitchFamily="49" charset="0"/>
              </a:rPr>
              <a:t> total of your change is ${round(total,2)}.")</a:t>
            </a:r>
          </a:p>
          <a:p>
            <a:pPr marL="343080" indent="-342360">
              <a:buClr>
                <a:srgbClr val="3333CC"/>
              </a:buClr>
              <a:buSzPct val="60000"/>
              <a:buFont typeface="Wingdings" charset="2"/>
              <a:buChar char=""/>
            </a:pPr>
            <a:r>
              <a:rPr lang="en-US" sz="2800" spc="-1">
                <a:solidFill>
                  <a:srgbClr val="000000"/>
                </a:solidFill>
                <a:uFill>
                  <a:solidFill>
                    <a:srgbClr val="FFFFFF"/>
                  </a:solidFill>
                </a:uFill>
                <a:cs typeface="Courier New" panose="02070309020205020404" pitchFamily="49" charset="0"/>
              </a:rPr>
              <a:t>But wait! There’s more! We can also add hints for how we want the expression result to appear.</a:t>
            </a:r>
          </a:p>
          <a:p>
            <a:pPr marL="343080" indent="-342360">
              <a:buClr>
                <a:srgbClr val="3333CC"/>
              </a:buClr>
              <a:buSzPct val="60000"/>
              <a:buFont typeface="Wingdings" charset="2"/>
              <a:buChar char=""/>
            </a:pPr>
            <a:r>
              <a:rPr lang="en-US" sz="2000" spc="-1">
                <a:solidFill>
                  <a:srgbClr val="000000"/>
                </a:solidFill>
                <a:uFill>
                  <a:solidFill>
                    <a:srgbClr val="FFFFFF"/>
                  </a:solidFill>
                </a:uFill>
                <a:latin typeface="Courier New" panose="02070309020205020404" pitchFamily="49" charset="0"/>
                <a:cs typeface="Courier New" panose="02070309020205020404" pitchFamily="49" charset="0"/>
              </a:rPr>
              <a:t>print(</a:t>
            </a:r>
            <a:r>
              <a:rPr lang="en-US" sz="2000" spc="-1" err="1">
                <a:solidFill>
                  <a:srgbClr val="000000"/>
                </a:solidFill>
                <a:uFill>
                  <a:solidFill>
                    <a:srgbClr val="FFFFFF"/>
                  </a:solidFill>
                </a:uFill>
                <a:latin typeface="Courier New" panose="02070309020205020404" pitchFamily="49" charset="0"/>
                <a:cs typeface="Courier New" panose="02070309020205020404" pitchFamily="49" charset="0"/>
              </a:rPr>
              <a:t>f"The</a:t>
            </a:r>
            <a:r>
              <a:rPr lang="en-US" sz="2000" spc="-1">
                <a:solidFill>
                  <a:srgbClr val="000000"/>
                </a:solidFill>
                <a:uFill>
                  <a:solidFill>
                    <a:srgbClr val="FFFFFF"/>
                  </a:solidFill>
                </a:uFill>
                <a:latin typeface="Courier New" panose="02070309020205020404" pitchFamily="49" charset="0"/>
                <a:cs typeface="Courier New" panose="02070309020205020404" pitchFamily="49" charset="0"/>
              </a:rPr>
              <a:t> total of your change is ${total:0.2f}.")</a:t>
            </a:r>
            <a:br>
              <a:rPr lang="en-US" sz="2000" spc="-1">
                <a:solidFill>
                  <a:srgbClr val="000000"/>
                </a:solidFill>
                <a:uFill>
                  <a:solidFill>
                    <a:srgbClr val="FFFFFF"/>
                  </a:solidFill>
                </a:uFill>
                <a:latin typeface="Courier New" panose="02070309020205020404" pitchFamily="49" charset="0"/>
                <a:cs typeface="Courier New" panose="02070309020205020404" pitchFamily="49" charset="0"/>
              </a:rPr>
            </a:br>
            <a:r>
              <a:rPr lang="en-US" sz="2000" spc="-1">
                <a:solidFill>
                  <a:srgbClr val="000000"/>
                </a:solidFill>
                <a:uFill>
                  <a:solidFill>
                    <a:srgbClr val="FFFFFF"/>
                  </a:solidFill>
                </a:uFill>
                <a:latin typeface="Courier New" panose="02070309020205020404" pitchFamily="49" charset="0"/>
                <a:cs typeface="Courier New" panose="02070309020205020404" pitchFamily="49" charset="0"/>
              </a:rPr>
              <a:t>The total of your change is $1.50.</a:t>
            </a:r>
          </a:p>
        </p:txBody>
      </p:sp>
    </p:spTree>
    <p:extLst>
      <p:ext uri="{BB962C8B-B14F-4D97-AF65-F5344CB8AC3E}">
        <p14:creationId xmlns:p14="http://schemas.microsoft.com/office/powerpoint/2010/main" val="57944463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489"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5A882400-7DBB-4368-905F-9C8EC1C12D4B}" type="slidenum">
              <a:rPr lang="en-US" sz="1400" spc="-1">
                <a:solidFill>
                  <a:srgbClr val="000000"/>
                </a:solidFill>
                <a:uFill>
                  <a:solidFill>
                    <a:srgbClr val="FFFFFF"/>
                  </a:solidFill>
                </a:uFill>
                <a:latin typeface="Tahoma"/>
              </a:rPr>
              <a:t>58</a:t>
            </a:fld>
            <a:endParaRPr lang="en-US" spc="-1">
              <a:solidFill>
                <a:srgbClr val="000000"/>
              </a:solidFill>
              <a:uFill>
                <a:solidFill>
                  <a:srgbClr val="FFFFFF"/>
                </a:solidFill>
              </a:uFill>
              <a:latin typeface="Arial"/>
            </a:endParaRPr>
          </a:p>
        </p:txBody>
      </p:sp>
      <p:sp>
        <p:nvSpPr>
          <p:cNvPr id="490"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String Formatting</a:t>
            </a:r>
            <a:endParaRPr lang="en-US" spc="-1">
              <a:solidFill>
                <a:srgbClr val="000000"/>
              </a:solidFill>
              <a:uFill>
                <a:solidFill>
                  <a:srgbClr val="FFFFFF"/>
                </a:solidFill>
              </a:uFill>
              <a:latin typeface="Arial"/>
            </a:endParaRPr>
          </a:p>
        </p:txBody>
      </p:sp>
      <p:sp>
        <p:nvSpPr>
          <p:cNvPr id="491" name="CustomShape 4"/>
          <p:cNvSpPr/>
          <p:nvPr/>
        </p:nvSpPr>
        <p:spPr>
          <a:xfrm>
            <a:off x="1209675" y="2017799"/>
            <a:ext cx="9972675" cy="444967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endParaRPr lang="en-US" sz="2000" spc="-1">
              <a:solidFill>
                <a:srgbClr val="000000"/>
              </a:solidFill>
              <a:uFill>
                <a:solidFill>
                  <a:srgbClr val="FFFFFF"/>
                </a:solidFill>
              </a:uFill>
              <a:latin typeface="Courier New" panose="02070309020205020404" pitchFamily="49" charset="0"/>
              <a:cs typeface="Courier New" panose="02070309020205020404" pitchFamily="49" charset="0"/>
            </a:endParaRPr>
          </a:p>
        </p:txBody>
      </p:sp>
      <p:sp>
        <p:nvSpPr>
          <p:cNvPr id="3" name="Text Placeholder 2">
            <a:extLst>
              <a:ext uri="{FF2B5EF4-FFF2-40B4-BE49-F238E27FC236}">
                <a16:creationId xmlns:a16="http://schemas.microsoft.com/office/drawing/2014/main" id="{C7C64E90-816D-8C78-C7C0-7CDA700B0D48}"/>
              </a:ext>
            </a:extLst>
          </p:cNvPr>
          <p:cNvSpPr>
            <a:spLocks noGrp="1"/>
          </p:cNvSpPr>
          <p:nvPr>
            <p:ph type="body"/>
          </p:nvPr>
        </p:nvSpPr>
        <p:spPr>
          <a:xfrm>
            <a:off x="609840" y="2017799"/>
            <a:ext cx="10972320" cy="3977280"/>
          </a:xfrm>
        </p:spPr>
        <p:txBody>
          <a:bodyPr/>
          <a:lstStyle/>
          <a:p>
            <a:r>
              <a:rPr lang="en-US" sz="2800">
                <a:latin typeface="Tahoma" panose="020B0604030504040204" pitchFamily="34" charset="0"/>
                <a:ea typeface="Tahoma" panose="020B0604030504040204" pitchFamily="34" charset="0"/>
                <a:cs typeface="Tahoma" panose="020B0604030504040204" pitchFamily="34" charset="0"/>
              </a:rPr>
              <a:t>The contents of the curly braces has two parts:</a:t>
            </a:r>
            <a:br>
              <a:rPr lang="en-US" sz="2800">
                <a:latin typeface="Tahoma" panose="020B0604030504040204" pitchFamily="34" charset="0"/>
                <a:ea typeface="Tahoma" panose="020B0604030504040204" pitchFamily="34" charset="0"/>
                <a:cs typeface="Tahoma" panose="020B0604030504040204" pitchFamily="34" charset="0"/>
              </a:rPr>
            </a:br>
            <a:r>
              <a:rPr lang="en-US" sz="2400" i="1">
                <a:latin typeface="Tahoma" panose="020B0604030504040204" pitchFamily="34" charset="0"/>
                <a:ea typeface="Tahoma" panose="020B0604030504040204" pitchFamily="34" charset="0"/>
                <a:cs typeface="Tahoma" panose="020B0604030504040204" pitchFamily="34" charset="0"/>
              </a:rPr>
              <a:t>{&lt;expression&gt;:&lt;format-specifier&gt;}</a:t>
            </a:r>
          </a:p>
          <a:p>
            <a:r>
              <a:rPr lang="en-US" sz="2800">
                <a:latin typeface="Tahoma" panose="020B0604030504040204" pitchFamily="34" charset="0"/>
                <a:ea typeface="Tahoma" panose="020B0604030504040204" pitchFamily="34" charset="0"/>
                <a:cs typeface="Tahoma" panose="020B0604030504040204" pitchFamily="34" charset="0"/>
              </a:rPr>
              <a:t>The part of the description after the colon specifies how the value should look when it’s inserted into the f-string.</a:t>
            </a:r>
          </a:p>
          <a:p>
            <a:r>
              <a:rPr lang="en-US" sz="2800">
                <a:latin typeface="Tahoma" panose="020B0604030504040204" pitchFamily="34" charset="0"/>
                <a:ea typeface="Tahoma" panose="020B0604030504040204" pitchFamily="34" charset="0"/>
                <a:cs typeface="Tahoma" panose="020B0604030504040204" pitchFamily="34" charset="0"/>
              </a:rPr>
              <a:t>The format specifier is 0.2f. Its format is </a:t>
            </a:r>
            <a:r>
              <a:rPr lang="en-US" sz="2400" i="1">
                <a:latin typeface="Tahoma" panose="020B0604030504040204" pitchFamily="34" charset="0"/>
                <a:ea typeface="Tahoma" panose="020B0604030504040204" pitchFamily="34" charset="0"/>
                <a:cs typeface="Tahoma" panose="020B0604030504040204" pitchFamily="34" charset="0"/>
              </a:rPr>
              <a:t>&lt;width&gt;.&lt;precision&gt;&lt;type&gt;</a:t>
            </a:r>
          </a:p>
          <a:p>
            <a:r>
              <a:rPr lang="en-US" sz="2800">
                <a:latin typeface="Tahoma" panose="020B0604030504040204" pitchFamily="34" charset="0"/>
                <a:ea typeface="Tahoma" panose="020B0604030504040204" pitchFamily="34" charset="0"/>
                <a:cs typeface="Tahoma" panose="020B0604030504040204" pitchFamily="34" charset="0"/>
              </a:rPr>
              <a:t>The width specifies how many “spaces” the value should take up.</a:t>
            </a:r>
          </a:p>
          <a:p>
            <a:pPr lvl="1"/>
            <a:r>
              <a:rPr lang="en-US" sz="2800">
                <a:latin typeface="Tahoma" panose="020B0604030504040204" pitchFamily="34" charset="0"/>
                <a:ea typeface="Tahoma" panose="020B0604030504040204" pitchFamily="34" charset="0"/>
                <a:cs typeface="Tahoma" panose="020B0604030504040204" pitchFamily="34" charset="0"/>
              </a:rPr>
              <a:t>If the value is less than that width, it will be padded with extra characters.</a:t>
            </a:r>
          </a:p>
          <a:p>
            <a:pPr lvl="1"/>
            <a:r>
              <a:rPr lang="en-US" sz="2800">
                <a:latin typeface="Tahoma" panose="020B0604030504040204" pitchFamily="34" charset="0"/>
                <a:ea typeface="Tahoma" panose="020B0604030504040204" pitchFamily="34" charset="0"/>
                <a:cs typeface="Tahoma" panose="020B0604030504040204" pitchFamily="34" charset="0"/>
              </a:rPr>
              <a:t>Putting a 0 here means “Take as much space as you need!”</a:t>
            </a:r>
          </a:p>
          <a:p>
            <a:r>
              <a:rPr lang="en-US" sz="2800">
                <a:latin typeface="Tahoma" panose="020B0604030504040204" pitchFamily="34" charset="0"/>
                <a:ea typeface="Tahoma" panose="020B0604030504040204" pitchFamily="34" charset="0"/>
                <a:cs typeface="Tahoma" panose="020B0604030504040204" pitchFamily="34" charset="0"/>
              </a:rPr>
              <a:t>The precision is 2, which tells Python to round the value to 2 places. f means ‘fixed point’, meaning specific decimal places.</a:t>
            </a:r>
          </a:p>
        </p:txBody>
      </p:sp>
    </p:spTree>
    <p:extLst>
      <p:ext uri="{BB962C8B-B14F-4D97-AF65-F5344CB8AC3E}">
        <p14:creationId xmlns:p14="http://schemas.microsoft.com/office/powerpoint/2010/main" val="421454571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489"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5A882400-7DBB-4368-905F-9C8EC1C12D4B}" type="slidenum">
              <a:rPr lang="en-US" sz="1400" spc="-1">
                <a:solidFill>
                  <a:srgbClr val="000000"/>
                </a:solidFill>
                <a:uFill>
                  <a:solidFill>
                    <a:srgbClr val="FFFFFF"/>
                  </a:solidFill>
                </a:uFill>
                <a:latin typeface="Tahoma"/>
              </a:rPr>
              <a:t>59</a:t>
            </a:fld>
            <a:endParaRPr lang="en-US" spc="-1">
              <a:solidFill>
                <a:srgbClr val="000000"/>
              </a:solidFill>
              <a:uFill>
                <a:solidFill>
                  <a:srgbClr val="FFFFFF"/>
                </a:solidFill>
              </a:uFill>
              <a:latin typeface="Arial"/>
            </a:endParaRPr>
          </a:p>
        </p:txBody>
      </p:sp>
      <p:sp>
        <p:nvSpPr>
          <p:cNvPr id="490"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String Formatting</a:t>
            </a:r>
            <a:endParaRPr lang="en-US" spc="-1">
              <a:solidFill>
                <a:srgbClr val="000000"/>
              </a:solidFill>
              <a:uFill>
                <a:solidFill>
                  <a:srgbClr val="FFFFFF"/>
                </a:solidFill>
              </a:uFill>
              <a:latin typeface="Arial"/>
            </a:endParaRPr>
          </a:p>
        </p:txBody>
      </p:sp>
      <p:sp>
        <p:nvSpPr>
          <p:cNvPr id="491" name="CustomShape 4"/>
          <p:cNvSpPr/>
          <p:nvPr/>
        </p:nvSpPr>
        <p:spPr>
          <a:xfrm>
            <a:off x="1209675" y="2017799"/>
            <a:ext cx="9972675" cy="444967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endParaRPr lang="en-US" sz="2000" spc="-1">
              <a:solidFill>
                <a:srgbClr val="000000"/>
              </a:solidFill>
              <a:uFill>
                <a:solidFill>
                  <a:srgbClr val="FFFFFF"/>
                </a:solidFill>
              </a:uFill>
              <a:latin typeface="Courier New" panose="02070309020205020404" pitchFamily="49" charset="0"/>
              <a:cs typeface="Courier New" panose="02070309020205020404" pitchFamily="49" charset="0"/>
            </a:endParaRPr>
          </a:p>
        </p:txBody>
      </p:sp>
      <p:sp>
        <p:nvSpPr>
          <p:cNvPr id="3" name="Text Placeholder 2">
            <a:extLst>
              <a:ext uri="{FF2B5EF4-FFF2-40B4-BE49-F238E27FC236}">
                <a16:creationId xmlns:a16="http://schemas.microsoft.com/office/drawing/2014/main" id="{D971C0E9-B82A-AA24-89A7-AEF11BE05007}"/>
              </a:ext>
            </a:extLst>
          </p:cNvPr>
          <p:cNvSpPr>
            <a:spLocks noGrp="1"/>
          </p:cNvSpPr>
          <p:nvPr>
            <p:ph type="body"/>
          </p:nvPr>
        </p:nvSpPr>
        <p:spPr>
          <a:xfrm>
            <a:off x="609840" y="2069744"/>
            <a:ext cx="10972320" cy="3977280"/>
          </a:xfrm>
        </p:spPr>
        <p:txBody>
          <a:bodyPr/>
          <a:lstStyle/>
          <a:p>
            <a:pPr marL="108000" indent="0">
              <a:buNone/>
            </a:pPr>
            <a:r>
              <a:rPr lang="en-US" sz="2000">
                <a:latin typeface="Courier New" panose="02070309020205020404" pitchFamily="49" charset="0"/>
                <a:cs typeface="Courier New" panose="02070309020205020404" pitchFamily="49" charset="0"/>
              </a:rPr>
              <a:t>print(</a:t>
            </a:r>
            <a:r>
              <a:rPr lang="en-US" sz="2000" err="1">
                <a:latin typeface="Courier New" panose="02070309020205020404" pitchFamily="49" charset="0"/>
                <a:cs typeface="Courier New" panose="02070309020205020404" pitchFamily="49" charset="0"/>
              </a:rPr>
              <a:t>f"The</a:t>
            </a:r>
            <a:r>
              <a:rPr lang="en-US" sz="2000">
                <a:latin typeface="Courier New" panose="02070309020205020404" pitchFamily="49" charset="0"/>
                <a:cs typeface="Courier New" panose="02070309020205020404" pitchFamily="49" charset="0"/>
              </a:rPr>
              <a:t> total of your change is ${round(total,2)}.")</a:t>
            </a:r>
          </a:p>
          <a:p>
            <a:pPr marL="108000" indent="0">
              <a:buNone/>
            </a:pPr>
            <a:r>
              <a:rPr lang="en-US" sz="2000">
                <a:latin typeface="Courier New" panose="02070309020205020404" pitchFamily="49" charset="0"/>
                <a:cs typeface="Courier New" panose="02070309020205020404" pitchFamily="49" charset="0"/>
              </a:rPr>
              <a:t>The total of your change is $1.5.</a:t>
            </a:r>
          </a:p>
          <a:p>
            <a:pPr marL="108000" indent="0">
              <a:buNone/>
            </a:pPr>
            <a:r>
              <a:rPr lang="en-US" sz="2000">
                <a:latin typeface="Courier New" panose="02070309020205020404" pitchFamily="49" charset="0"/>
                <a:cs typeface="Courier New" panose="02070309020205020404" pitchFamily="49" charset="0"/>
              </a:rPr>
              <a:t>print(</a:t>
            </a:r>
            <a:r>
              <a:rPr lang="en-US" sz="2000" err="1">
                <a:latin typeface="Courier New" panose="02070309020205020404" pitchFamily="49" charset="0"/>
                <a:cs typeface="Courier New" panose="02070309020205020404" pitchFamily="49" charset="0"/>
              </a:rPr>
              <a:t>f"The</a:t>
            </a:r>
            <a:r>
              <a:rPr lang="en-US" sz="2000">
                <a:latin typeface="Courier New" panose="02070309020205020404" pitchFamily="49" charset="0"/>
                <a:cs typeface="Courier New" panose="02070309020205020404" pitchFamily="49" charset="0"/>
              </a:rPr>
              <a:t> total of your change is ${total:0.2f}.")</a:t>
            </a:r>
          </a:p>
          <a:p>
            <a:pPr marL="108000" indent="0">
              <a:buNone/>
            </a:pPr>
            <a:r>
              <a:rPr lang="en-US" sz="2000">
                <a:latin typeface="Courier New" panose="02070309020205020404" pitchFamily="49" charset="0"/>
                <a:cs typeface="Courier New" panose="02070309020205020404" pitchFamily="49" charset="0"/>
              </a:rPr>
              <a:t>The total of your change is $1.50.</a:t>
            </a:r>
          </a:p>
          <a:p>
            <a:pPr marL="108000" indent="0">
              <a:buNone/>
            </a:pPr>
            <a:r>
              <a:rPr lang="en-US" sz="2000" err="1">
                <a:latin typeface="Courier New" panose="02070309020205020404" pitchFamily="49" charset="0"/>
                <a:cs typeface="Courier New" panose="02070309020205020404" pitchFamily="49" charset="0"/>
              </a:rPr>
              <a:t>f"This</a:t>
            </a:r>
            <a:r>
              <a:rPr lang="en-US" sz="2000">
                <a:latin typeface="Courier New" panose="02070309020205020404" pitchFamily="49" charset="0"/>
                <a:cs typeface="Courier New" panose="02070309020205020404" pitchFamily="49" charset="0"/>
              </a:rPr>
              <a:t> int, {7:5}, was placed in a field of width 5"</a:t>
            </a:r>
          </a:p>
          <a:p>
            <a:pPr marL="108000" indent="0">
              <a:buNone/>
            </a:pPr>
            <a:r>
              <a:rPr lang="en-US" sz="2000">
                <a:latin typeface="Courier New" panose="02070309020205020404" pitchFamily="49" charset="0"/>
                <a:cs typeface="Courier New" panose="02070309020205020404" pitchFamily="49" charset="0"/>
              </a:rPr>
              <a:t>'This int,     7, was placed in a field of width 5'</a:t>
            </a:r>
          </a:p>
          <a:p>
            <a:pPr marL="108000" indent="0">
              <a:buNone/>
            </a:pPr>
            <a:r>
              <a:rPr lang="en-US" sz="2000" err="1">
                <a:latin typeface="Courier New" panose="02070309020205020404" pitchFamily="49" charset="0"/>
                <a:cs typeface="Courier New" panose="02070309020205020404" pitchFamily="49" charset="0"/>
              </a:rPr>
              <a:t>f"This</a:t>
            </a:r>
            <a:r>
              <a:rPr lang="en-US" sz="2000">
                <a:latin typeface="Courier New" panose="02070309020205020404" pitchFamily="49" charset="0"/>
                <a:cs typeface="Courier New" panose="02070309020205020404" pitchFamily="49" charset="0"/>
              </a:rPr>
              <a:t> int, {7:10}, was placed in a field of width 10"</a:t>
            </a:r>
          </a:p>
          <a:p>
            <a:pPr marL="108000" indent="0">
              <a:buNone/>
            </a:pPr>
            <a:r>
              <a:rPr lang="en-US" sz="2000">
                <a:latin typeface="Courier New" panose="02070309020205020404" pitchFamily="49" charset="0"/>
                <a:cs typeface="Courier New" panose="02070309020205020404" pitchFamily="49" charset="0"/>
              </a:rPr>
              <a:t>'This int,          7, was placed in a field of width 10'</a:t>
            </a:r>
          </a:p>
        </p:txBody>
      </p:sp>
    </p:spTree>
    <p:extLst>
      <p:ext uri="{BB962C8B-B14F-4D97-AF65-F5344CB8AC3E}">
        <p14:creationId xmlns:p14="http://schemas.microsoft.com/office/powerpoint/2010/main" val="375260172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489"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5A882400-7DBB-4368-905F-9C8EC1C12D4B}" type="slidenum">
              <a:rPr lang="en-US" sz="1400" spc="-1">
                <a:solidFill>
                  <a:srgbClr val="000000"/>
                </a:solidFill>
                <a:uFill>
                  <a:solidFill>
                    <a:srgbClr val="FFFFFF"/>
                  </a:solidFill>
                </a:uFill>
                <a:latin typeface="Tahoma"/>
              </a:rPr>
              <a:t>60</a:t>
            </a:fld>
            <a:endParaRPr lang="en-US" spc="-1">
              <a:solidFill>
                <a:srgbClr val="000000"/>
              </a:solidFill>
              <a:uFill>
                <a:solidFill>
                  <a:srgbClr val="FFFFFF"/>
                </a:solidFill>
              </a:uFill>
              <a:latin typeface="Arial"/>
            </a:endParaRPr>
          </a:p>
        </p:txBody>
      </p:sp>
      <p:sp>
        <p:nvSpPr>
          <p:cNvPr id="490"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String Formatting</a:t>
            </a:r>
            <a:endParaRPr lang="en-US" spc="-1">
              <a:solidFill>
                <a:srgbClr val="000000"/>
              </a:solidFill>
              <a:uFill>
                <a:solidFill>
                  <a:srgbClr val="FFFFFF"/>
                </a:solidFill>
              </a:uFill>
              <a:latin typeface="Arial"/>
            </a:endParaRPr>
          </a:p>
        </p:txBody>
      </p:sp>
      <p:sp>
        <p:nvSpPr>
          <p:cNvPr id="491" name="CustomShape 4"/>
          <p:cNvSpPr/>
          <p:nvPr/>
        </p:nvSpPr>
        <p:spPr>
          <a:xfrm>
            <a:off x="1209675" y="2017799"/>
            <a:ext cx="9972675" cy="444967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endParaRPr lang="en-US" sz="2000" spc="-1">
              <a:solidFill>
                <a:srgbClr val="000000"/>
              </a:solidFill>
              <a:uFill>
                <a:solidFill>
                  <a:srgbClr val="FFFFFF"/>
                </a:solidFill>
              </a:uFill>
              <a:latin typeface="Courier New" panose="02070309020205020404" pitchFamily="49" charset="0"/>
              <a:cs typeface="Courier New" panose="02070309020205020404" pitchFamily="49" charset="0"/>
            </a:endParaRPr>
          </a:p>
        </p:txBody>
      </p:sp>
      <p:sp>
        <p:nvSpPr>
          <p:cNvPr id="3" name="Text Placeholder 2">
            <a:extLst>
              <a:ext uri="{FF2B5EF4-FFF2-40B4-BE49-F238E27FC236}">
                <a16:creationId xmlns:a16="http://schemas.microsoft.com/office/drawing/2014/main" id="{D971C0E9-B82A-AA24-89A7-AEF11BE05007}"/>
              </a:ext>
            </a:extLst>
          </p:cNvPr>
          <p:cNvSpPr>
            <a:spLocks noGrp="1"/>
          </p:cNvSpPr>
          <p:nvPr>
            <p:ph type="body"/>
          </p:nvPr>
        </p:nvSpPr>
        <p:spPr>
          <a:xfrm>
            <a:off x="609840" y="2069744"/>
            <a:ext cx="10972320" cy="4397730"/>
          </a:xfrm>
        </p:spPr>
        <p:txBody>
          <a:bodyPr/>
          <a:lstStyle/>
          <a:p>
            <a:pPr marL="108000" indent="0">
              <a:buNone/>
            </a:pPr>
            <a:r>
              <a:rPr lang="en-US" sz="2000" err="1">
                <a:latin typeface="Courier New" panose="02070309020205020404" pitchFamily="49" charset="0"/>
                <a:cs typeface="Courier New" panose="02070309020205020404" pitchFamily="49" charset="0"/>
              </a:rPr>
              <a:t>f"This</a:t>
            </a:r>
            <a:r>
              <a:rPr lang="en-US" sz="2000">
                <a:latin typeface="Courier New" panose="02070309020205020404" pitchFamily="49" charset="0"/>
                <a:cs typeface="Courier New" panose="02070309020205020404" pitchFamily="49" charset="0"/>
              </a:rPr>
              <a:t> float, {3.1415926:10.5} has width 10 and precision 5"</a:t>
            </a:r>
          </a:p>
          <a:p>
            <a:pPr marL="108000" indent="0">
              <a:buNone/>
            </a:pPr>
            <a:r>
              <a:rPr lang="en-US" sz="2000">
                <a:latin typeface="Courier New" panose="02070309020205020404" pitchFamily="49" charset="0"/>
                <a:cs typeface="Courier New" panose="02070309020205020404" pitchFamily="49" charset="0"/>
              </a:rPr>
              <a:t>'This float,     3.1416 has width 10 and precision 5'</a:t>
            </a:r>
          </a:p>
          <a:p>
            <a:pPr marL="108000" indent="0">
              <a:buNone/>
            </a:pPr>
            <a:r>
              <a:rPr lang="en-US" sz="2000" err="1">
                <a:latin typeface="Courier New" panose="02070309020205020404" pitchFamily="49" charset="0"/>
                <a:cs typeface="Courier New" panose="02070309020205020404" pitchFamily="49" charset="0"/>
              </a:rPr>
              <a:t>f"This</a:t>
            </a:r>
            <a:r>
              <a:rPr lang="en-US" sz="2000">
                <a:latin typeface="Courier New" panose="02070309020205020404" pitchFamily="49" charset="0"/>
                <a:cs typeface="Courier New" panose="02070309020205020404" pitchFamily="49" charset="0"/>
              </a:rPr>
              <a:t> float, {3.1415926:10.5f} is fixed at 5 decimal places"</a:t>
            </a:r>
          </a:p>
          <a:p>
            <a:pPr marL="108000" indent="0">
              <a:buNone/>
            </a:pPr>
            <a:r>
              <a:rPr lang="en-US" sz="2000">
                <a:latin typeface="Courier New" panose="02070309020205020404" pitchFamily="49" charset="0"/>
                <a:cs typeface="Courier New" panose="02070309020205020404" pitchFamily="49" charset="0"/>
              </a:rPr>
              <a:t>'This float,    3.14159 is fixed at 5 decimal places'</a:t>
            </a:r>
          </a:p>
          <a:p>
            <a:pPr marL="108000" indent="0">
              <a:buNone/>
            </a:pPr>
            <a:r>
              <a:rPr lang="en-US" sz="2000" err="1">
                <a:latin typeface="Courier New" panose="02070309020205020404" pitchFamily="49" charset="0"/>
                <a:cs typeface="Courier New" panose="02070309020205020404" pitchFamily="49" charset="0"/>
              </a:rPr>
              <a:t>f"This</a:t>
            </a:r>
            <a:r>
              <a:rPr lang="en-US" sz="2000">
                <a:latin typeface="Courier New" panose="02070309020205020404" pitchFamily="49" charset="0"/>
                <a:cs typeface="Courier New" panose="02070309020205020404" pitchFamily="49" charset="0"/>
              </a:rPr>
              <a:t> float, {3.1415926:0.5} has width 0 and precision 5"</a:t>
            </a:r>
          </a:p>
          <a:p>
            <a:pPr marL="108000" indent="0">
              <a:buNone/>
            </a:pPr>
            <a:r>
              <a:rPr lang="en-US" sz="2000">
                <a:latin typeface="Courier New" panose="02070309020205020404" pitchFamily="49" charset="0"/>
                <a:cs typeface="Courier New" panose="02070309020205020404" pitchFamily="49" charset="0"/>
              </a:rPr>
              <a:t>'This float, 3.1416 has width 0 and precision 5'</a:t>
            </a:r>
          </a:p>
          <a:p>
            <a:pPr marL="108000" indent="0">
              <a:buNone/>
            </a:pPr>
            <a:r>
              <a:rPr lang="en-US" sz="2000" err="1">
                <a:latin typeface="Courier New" panose="02070309020205020404" pitchFamily="49" charset="0"/>
                <a:cs typeface="Courier New" panose="02070309020205020404" pitchFamily="49" charset="0"/>
              </a:rPr>
              <a:t>f"Compare</a:t>
            </a:r>
            <a:r>
              <a:rPr lang="en-US" sz="2000">
                <a:latin typeface="Courier New" panose="02070309020205020404" pitchFamily="49" charset="0"/>
                <a:cs typeface="Courier New" panose="02070309020205020404" pitchFamily="49" charset="0"/>
              </a:rPr>
              <a:t> {3.14} and {3.14:0.20}"</a:t>
            </a:r>
          </a:p>
          <a:p>
            <a:pPr marL="108000" indent="0">
              <a:buNone/>
            </a:pPr>
            <a:r>
              <a:rPr lang="en-US" sz="2000">
                <a:latin typeface="Courier New" panose="02070309020205020404" pitchFamily="49" charset="0"/>
                <a:cs typeface="Courier New" panose="02070309020205020404" pitchFamily="49" charset="0"/>
              </a:rPr>
              <a:t>'Compare 3.14 and 3.1400000000000001243’</a:t>
            </a:r>
          </a:p>
          <a:p>
            <a:pPr marL="450900" indent="-342900">
              <a:buFont typeface="Arial" panose="020B0604020202020204" pitchFamily="34" charset="0"/>
              <a:buChar char="•"/>
            </a:pPr>
            <a:r>
              <a:rPr lang="en-US" sz="2800">
                <a:latin typeface="+mn-lt"/>
                <a:cs typeface="Courier New" panose="02070309020205020404" pitchFamily="49" charset="0"/>
              </a:rPr>
              <a:t>For normal (not fixed-point) floating point numbers, the precision specifies the number of significant digits to print.</a:t>
            </a:r>
          </a:p>
          <a:p>
            <a:pPr marL="450900" indent="-342900">
              <a:buFont typeface="Arial" panose="020B0604020202020204" pitchFamily="34" charset="0"/>
              <a:buChar char="•"/>
            </a:pPr>
            <a:r>
              <a:rPr lang="en-US" sz="2800">
                <a:latin typeface="+mn-lt"/>
                <a:cs typeface="Courier New" panose="02070309020205020404" pitchFamily="49" charset="0"/>
              </a:rPr>
              <a:t>For fixed-point (indicated with </a:t>
            </a:r>
            <a:r>
              <a:rPr lang="en-US" sz="2800">
                <a:latin typeface="Courier New" panose="02070309020205020404" pitchFamily="49" charset="0"/>
                <a:cs typeface="Courier New" panose="02070309020205020404" pitchFamily="49" charset="0"/>
              </a:rPr>
              <a:t>f</a:t>
            </a:r>
            <a:r>
              <a:rPr lang="en-US" sz="2800">
                <a:latin typeface="+mn-lt"/>
                <a:cs typeface="Courier New" panose="02070309020205020404" pitchFamily="49" charset="0"/>
              </a:rPr>
              <a:t>) the precision gives the number of decimal places.</a:t>
            </a:r>
          </a:p>
          <a:p>
            <a:pPr marL="450900" indent="-342900">
              <a:buFont typeface="Arial" panose="020B0604020202020204" pitchFamily="34" charset="0"/>
              <a:buChar char="•"/>
            </a:pPr>
            <a:r>
              <a:rPr lang="en-US" sz="2800">
                <a:latin typeface="+mn-lt"/>
                <a:cs typeface="Courier New" panose="02070309020205020404" pitchFamily="49" charset="0"/>
              </a:rPr>
              <a:t>If you print enough digits, you may find a “surprise” since floating point is only an approximation.</a:t>
            </a:r>
          </a:p>
        </p:txBody>
      </p:sp>
    </p:spTree>
    <p:extLst>
      <p:ext uri="{BB962C8B-B14F-4D97-AF65-F5344CB8AC3E}">
        <p14:creationId xmlns:p14="http://schemas.microsoft.com/office/powerpoint/2010/main" val="134346518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513"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6AADEC39-06E3-4EC2-9284-54C0DF18CEC9}" type="slidenum">
              <a:rPr lang="en-US" sz="1400" spc="-1">
                <a:solidFill>
                  <a:srgbClr val="000000"/>
                </a:solidFill>
                <a:uFill>
                  <a:solidFill>
                    <a:srgbClr val="FFFFFF"/>
                  </a:solidFill>
                </a:uFill>
                <a:latin typeface="Tahoma"/>
              </a:rPr>
              <a:t>61</a:t>
            </a:fld>
            <a:endParaRPr lang="en-US" spc="-1">
              <a:solidFill>
                <a:srgbClr val="000000"/>
              </a:solidFill>
              <a:uFill>
                <a:solidFill>
                  <a:srgbClr val="FFFFFF"/>
                </a:solidFill>
              </a:uFill>
              <a:latin typeface="Arial"/>
            </a:endParaRPr>
          </a:p>
        </p:txBody>
      </p:sp>
      <p:sp>
        <p:nvSpPr>
          <p:cNvPr id="514"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String Formatting</a:t>
            </a:r>
            <a:endParaRPr lang="en-US" spc="-1">
              <a:solidFill>
                <a:srgbClr val="000000"/>
              </a:solidFill>
              <a:uFill>
                <a:solidFill>
                  <a:srgbClr val="FFFFFF"/>
                </a:solidFill>
              </a:uFill>
              <a:latin typeface="Arial"/>
            </a:endParaRPr>
          </a:p>
        </p:txBody>
      </p:sp>
      <p:sp>
        <p:nvSpPr>
          <p:cNvPr id="515"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r>
              <a:rPr lang="en-US" sz="2800" spc="-1">
                <a:solidFill>
                  <a:srgbClr val="000000"/>
                </a:solidFill>
                <a:uFill>
                  <a:solidFill>
                    <a:srgbClr val="FFFFFF"/>
                  </a:solidFill>
                </a:uFill>
                <a:latin typeface="Tahoma"/>
              </a:rPr>
              <a:t>Numeric values are right-justified and strings are left- justified, by default.</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2800" spc="-1">
                <a:solidFill>
                  <a:srgbClr val="000000"/>
                </a:solidFill>
                <a:uFill>
                  <a:solidFill>
                    <a:srgbClr val="FFFFFF"/>
                  </a:solidFill>
                </a:uFill>
                <a:latin typeface="Tahoma"/>
              </a:rPr>
              <a:t>You can also specify a justification before the width.</a:t>
            </a:r>
            <a:endParaRPr lang="en-US" spc="-1">
              <a:solidFill>
                <a:srgbClr val="000000"/>
              </a:solidFill>
              <a:uFill>
                <a:solidFill>
                  <a:srgbClr val="FFFFFF"/>
                </a:solidFill>
              </a:uFill>
              <a:latin typeface="Arial"/>
            </a:endParaRPr>
          </a:p>
          <a:p>
            <a:pPr>
              <a:lnSpc>
                <a:spcPct val="100000"/>
              </a:lnSpc>
            </a:pPr>
            <a:r>
              <a:rPr lang="en-US" spc="-1">
                <a:solidFill>
                  <a:srgbClr val="000000"/>
                </a:solidFill>
                <a:uFill>
                  <a:solidFill>
                    <a:srgbClr val="FFFFFF"/>
                  </a:solidFill>
                </a:uFill>
                <a:latin typeface="Courier New"/>
              </a:rPr>
              <a:t>&gt;&gt;&gt; </a:t>
            </a:r>
            <a:r>
              <a:rPr lang="en-US" spc="-1" err="1">
                <a:solidFill>
                  <a:srgbClr val="000000"/>
                </a:solidFill>
                <a:uFill>
                  <a:solidFill>
                    <a:srgbClr val="FFFFFF"/>
                  </a:solidFill>
                </a:uFill>
                <a:latin typeface="Courier New"/>
              </a:rPr>
              <a:t>f"left</a:t>
            </a:r>
            <a:r>
              <a:rPr lang="en-US" spc="-1">
                <a:solidFill>
                  <a:srgbClr val="000000"/>
                </a:solidFill>
                <a:uFill>
                  <a:solidFill>
                    <a:srgbClr val="FFFFFF"/>
                  </a:solidFill>
                </a:uFill>
                <a:latin typeface="Courier New"/>
              </a:rPr>
              <a:t> justification: {"Hi!":&lt;5}</a:t>
            </a:r>
            <a:endParaRPr lang="en-US" spc="-1">
              <a:solidFill>
                <a:srgbClr val="000000"/>
              </a:solidFill>
              <a:uFill>
                <a:solidFill>
                  <a:srgbClr val="FFFFFF"/>
                </a:solidFill>
              </a:uFill>
              <a:latin typeface="Arial"/>
            </a:endParaRPr>
          </a:p>
          <a:p>
            <a:pPr>
              <a:lnSpc>
                <a:spcPct val="100000"/>
              </a:lnSpc>
            </a:pPr>
            <a:r>
              <a:rPr lang="en-US" spc="-1">
                <a:solidFill>
                  <a:srgbClr val="000000"/>
                </a:solidFill>
                <a:uFill>
                  <a:solidFill>
                    <a:srgbClr val="FFFFFF"/>
                  </a:solidFill>
                </a:uFill>
                <a:latin typeface="Courier New"/>
              </a:rPr>
              <a:t>'left justification: Hi!  '</a:t>
            </a:r>
            <a:endParaRPr lang="en-US" spc="-1">
              <a:solidFill>
                <a:srgbClr val="000000"/>
              </a:solidFill>
              <a:uFill>
                <a:solidFill>
                  <a:srgbClr val="FFFFFF"/>
                </a:solidFill>
              </a:uFill>
              <a:latin typeface="Arial"/>
            </a:endParaRPr>
          </a:p>
          <a:p>
            <a:pPr>
              <a:lnSpc>
                <a:spcPct val="100000"/>
              </a:lnSpc>
            </a:pPr>
            <a:r>
              <a:rPr lang="en-US" spc="-1">
                <a:solidFill>
                  <a:srgbClr val="000000"/>
                </a:solidFill>
                <a:uFill>
                  <a:solidFill>
                    <a:srgbClr val="FFFFFF"/>
                  </a:solidFill>
                </a:uFill>
                <a:latin typeface="Courier New"/>
              </a:rPr>
              <a:t>&gt;&gt;&gt; "right justification: {"Hi!":&gt;5}</a:t>
            </a:r>
            <a:endParaRPr lang="en-US" spc="-1">
              <a:solidFill>
                <a:srgbClr val="000000"/>
              </a:solidFill>
              <a:uFill>
                <a:solidFill>
                  <a:srgbClr val="FFFFFF"/>
                </a:solidFill>
              </a:uFill>
              <a:latin typeface="Arial"/>
            </a:endParaRPr>
          </a:p>
          <a:p>
            <a:pPr>
              <a:lnSpc>
                <a:spcPct val="100000"/>
              </a:lnSpc>
            </a:pPr>
            <a:r>
              <a:rPr lang="en-US" spc="-1">
                <a:solidFill>
                  <a:srgbClr val="000000"/>
                </a:solidFill>
                <a:uFill>
                  <a:solidFill>
                    <a:srgbClr val="FFFFFF"/>
                  </a:solidFill>
                </a:uFill>
                <a:latin typeface="Courier New"/>
              </a:rPr>
              <a:t>'right justification:   Hi!'</a:t>
            </a:r>
            <a:endParaRPr lang="en-US" spc="-1">
              <a:solidFill>
                <a:srgbClr val="000000"/>
              </a:solidFill>
              <a:uFill>
                <a:solidFill>
                  <a:srgbClr val="FFFFFF"/>
                </a:solidFill>
              </a:uFill>
              <a:latin typeface="Arial"/>
            </a:endParaRPr>
          </a:p>
          <a:p>
            <a:pPr>
              <a:lnSpc>
                <a:spcPct val="100000"/>
              </a:lnSpc>
            </a:pPr>
            <a:r>
              <a:rPr lang="en-US" spc="-1">
                <a:solidFill>
                  <a:srgbClr val="000000"/>
                </a:solidFill>
                <a:uFill>
                  <a:solidFill>
                    <a:srgbClr val="FFFFFF"/>
                  </a:solidFill>
                </a:uFill>
                <a:latin typeface="Courier New"/>
              </a:rPr>
              <a:t>&gt;&gt;&gt; "centered: {"Hi!":^5}"</a:t>
            </a:r>
            <a:endParaRPr lang="en-US" spc="-1">
              <a:solidFill>
                <a:srgbClr val="000000"/>
              </a:solidFill>
              <a:uFill>
                <a:solidFill>
                  <a:srgbClr val="FFFFFF"/>
                </a:solidFill>
              </a:uFill>
              <a:latin typeface="Arial"/>
            </a:endParaRPr>
          </a:p>
          <a:p>
            <a:pPr>
              <a:lnSpc>
                <a:spcPct val="100000"/>
              </a:lnSpc>
            </a:pPr>
            <a:r>
              <a:rPr lang="en-US" spc="-1">
                <a:solidFill>
                  <a:srgbClr val="000000"/>
                </a:solidFill>
                <a:uFill>
                  <a:solidFill>
                    <a:srgbClr val="FFFFFF"/>
                  </a:solidFill>
                </a:uFill>
                <a:latin typeface="Courier New"/>
              </a:rPr>
              <a:t>'centered:  Hi! '</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513"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6AADEC39-06E3-4EC2-9284-54C0DF18CEC9}" type="slidenum">
              <a:rPr lang="en-US" sz="1400" spc="-1">
                <a:solidFill>
                  <a:srgbClr val="000000"/>
                </a:solidFill>
                <a:uFill>
                  <a:solidFill>
                    <a:srgbClr val="FFFFFF"/>
                  </a:solidFill>
                </a:uFill>
                <a:latin typeface="Tahoma"/>
              </a:rPr>
              <a:t>62</a:t>
            </a:fld>
            <a:endParaRPr lang="en-US" spc="-1">
              <a:solidFill>
                <a:srgbClr val="000000"/>
              </a:solidFill>
              <a:uFill>
                <a:solidFill>
                  <a:srgbClr val="FFFFFF"/>
                </a:solidFill>
              </a:uFill>
              <a:latin typeface="Arial"/>
            </a:endParaRPr>
          </a:p>
        </p:txBody>
      </p:sp>
      <p:sp>
        <p:nvSpPr>
          <p:cNvPr id="514"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String Formatting</a:t>
            </a:r>
            <a:endParaRPr lang="en-US" spc="-1">
              <a:solidFill>
                <a:srgbClr val="000000"/>
              </a:solidFill>
              <a:uFill>
                <a:solidFill>
                  <a:srgbClr val="FFFFFF"/>
                </a:solidFill>
              </a:uFill>
              <a:latin typeface="Arial"/>
            </a:endParaRPr>
          </a:p>
        </p:txBody>
      </p:sp>
      <p:sp>
        <p:nvSpPr>
          <p:cNvPr id="515" name="CustomShape 4"/>
          <p:cNvSpPr/>
          <p:nvPr/>
        </p:nvSpPr>
        <p:spPr>
          <a:xfrm>
            <a:off x="1409700" y="2017800"/>
            <a:ext cx="90685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720">
              <a:buClr>
                <a:srgbClr val="3333CC"/>
              </a:buClr>
              <a:buSzPct val="60000"/>
            </a:pPr>
            <a:endParaRPr lang="en-US" spc="-1">
              <a:solidFill>
                <a:srgbClr val="000000"/>
              </a:solidFill>
              <a:uFill>
                <a:solidFill>
                  <a:srgbClr val="FFFFFF"/>
                </a:solidFill>
              </a:uFill>
              <a:latin typeface="Arial"/>
            </a:endParaRPr>
          </a:p>
        </p:txBody>
      </p:sp>
      <p:sp>
        <p:nvSpPr>
          <p:cNvPr id="3" name="TextBox 2">
            <a:extLst>
              <a:ext uri="{FF2B5EF4-FFF2-40B4-BE49-F238E27FC236}">
                <a16:creationId xmlns:a16="http://schemas.microsoft.com/office/drawing/2014/main" id="{8E8B95AF-DA22-A5B7-AA60-5B108DB3B83F}"/>
              </a:ext>
            </a:extLst>
          </p:cNvPr>
          <p:cNvSpPr txBox="1"/>
          <p:nvPr/>
        </p:nvSpPr>
        <p:spPr>
          <a:xfrm>
            <a:off x="1895474" y="1952280"/>
            <a:ext cx="9267825" cy="3139321"/>
          </a:xfrm>
          <a:prstGeom prst="rect">
            <a:avLst/>
          </a:prstGeom>
          <a:noFill/>
        </p:spPr>
        <p:txBody>
          <a:bodyPr wrap="square">
            <a:spAutoFit/>
          </a:bodyPr>
          <a:lstStyle/>
          <a:p>
            <a:r>
              <a:rPr lang="en-US">
                <a:latin typeface="Courier New" panose="02070309020205020404" pitchFamily="49" charset="0"/>
                <a:cs typeface="Courier New" panose="02070309020205020404" pitchFamily="49" charset="0"/>
              </a:rPr>
              <a:t># File: chaos3.py</a:t>
            </a:r>
          </a:p>
          <a:p>
            <a:r>
              <a:rPr lang="en-US">
                <a:latin typeface="Courier New" panose="02070309020205020404" pitchFamily="49" charset="0"/>
                <a:cs typeface="Courier New" panose="02070309020205020404" pitchFamily="49" charset="0"/>
              </a:rPr>
              <a:t># A simple program illustrating chaotic behavior.</a:t>
            </a:r>
          </a:p>
          <a:p>
            <a:endParaRPr lang="en-US">
              <a:latin typeface="Courier New" panose="02070309020205020404" pitchFamily="49" charset="0"/>
              <a:cs typeface="Courier New" panose="02070309020205020404" pitchFamily="49" charset="0"/>
            </a:endParaRPr>
          </a:p>
          <a:p>
            <a:r>
              <a:rPr lang="en-US">
                <a:latin typeface="Courier New" panose="02070309020205020404" pitchFamily="49" charset="0"/>
                <a:cs typeface="Courier New" panose="02070309020205020404" pitchFamily="49" charset="0"/>
              </a:rPr>
              <a:t>def </a:t>
            </a:r>
            <a:r>
              <a:rPr lang="en-US" err="1">
                <a:latin typeface="Courier New" panose="02070309020205020404" pitchFamily="49" charset="0"/>
                <a:cs typeface="Courier New" panose="02070309020205020404" pitchFamily="49" charset="0"/>
              </a:rPr>
              <a:t>get_inputs</a:t>
            </a:r>
            <a:r>
              <a:rPr lang="en-US">
                <a:latin typeface="Courier New" panose="02070309020205020404" pitchFamily="49" charset="0"/>
                <a:cs typeface="Courier New" panose="02070309020205020404" pitchFamily="49" charset="0"/>
              </a:rPr>
              <a:t>():</a:t>
            </a:r>
          </a:p>
          <a:p>
            <a:r>
              <a:rPr lang="en-US">
                <a:latin typeface="Courier New" panose="02070309020205020404" pitchFamily="49" charset="0"/>
                <a:cs typeface="Courier New" panose="02070309020205020404" pitchFamily="49" charset="0"/>
              </a:rPr>
              <a:t>    inputs = input("Enter two starting values between 0 and 1: ")</a:t>
            </a:r>
          </a:p>
          <a:p>
            <a:r>
              <a:rPr lang="en-US">
                <a:latin typeface="Courier New" panose="02070309020205020404" pitchFamily="49" charset="0"/>
                <a:cs typeface="Courier New" panose="02070309020205020404" pitchFamily="49" charset="0"/>
              </a:rPr>
              <a:t>    a, b = </a:t>
            </a:r>
            <a:r>
              <a:rPr lang="en-US" err="1">
                <a:latin typeface="Courier New" panose="02070309020205020404" pitchFamily="49" charset="0"/>
                <a:cs typeface="Courier New" panose="02070309020205020404" pitchFamily="49" charset="0"/>
              </a:rPr>
              <a:t>inputs.split</a:t>
            </a:r>
            <a:r>
              <a:rPr lang="en-US">
                <a:latin typeface="Courier New" panose="02070309020205020404" pitchFamily="49" charset="0"/>
                <a:cs typeface="Courier New" panose="02070309020205020404" pitchFamily="49" charset="0"/>
              </a:rPr>
              <a:t>()</a:t>
            </a:r>
          </a:p>
          <a:p>
            <a:r>
              <a:rPr lang="en-US">
                <a:latin typeface="Courier New" panose="02070309020205020404" pitchFamily="49" charset="0"/>
                <a:cs typeface="Courier New" panose="02070309020205020404" pitchFamily="49" charset="0"/>
              </a:rPr>
              <a:t>    return float(a), float(b)</a:t>
            </a:r>
          </a:p>
          <a:p>
            <a:endParaRPr lang="en-US">
              <a:latin typeface="Courier New" panose="02070309020205020404" pitchFamily="49" charset="0"/>
              <a:cs typeface="Courier New" panose="02070309020205020404" pitchFamily="49" charset="0"/>
            </a:endParaRPr>
          </a:p>
          <a:p>
            <a:r>
              <a:rPr lang="en-US">
                <a:latin typeface="Courier New" panose="02070309020205020404" pitchFamily="49" charset="0"/>
                <a:cs typeface="Courier New" panose="02070309020205020404" pitchFamily="49" charset="0"/>
              </a:rPr>
              <a:t>def </a:t>
            </a:r>
            <a:r>
              <a:rPr lang="en-US" err="1">
                <a:latin typeface="Courier New" panose="02070309020205020404" pitchFamily="49" charset="0"/>
                <a:cs typeface="Courier New" panose="02070309020205020404" pitchFamily="49" charset="0"/>
              </a:rPr>
              <a:t>logisticfn</a:t>
            </a:r>
            <a:r>
              <a:rPr lang="en-US">
                <a:latin typeface="Courier New" panose="02070309020205020404" pitchFamily="49" charset="0"/>
                <a:cs typeface="Courier New" panose="02070309020205020404" pitchFamily="49" charset="0"/>
              </a:rPr>
              <a:t>(x):</a:t>
            </a:r>
          </a:p>
          <a:p>
            <a:r>
              <a:rPr lang="en-US">
                <a:latin typeface="Courier New" panose="02070309020205020404" pitchFamily="49" charset="0"/>
                <a:cs typeface="Courier New" panose="02070309020205020404" pitchFamily="49" charset="0"/>
              </a:rPr>
              <a:t>    return 3.9 * x * (1-x)</a:t>
            </a:r>
          </a:p>
          <a:p>
            <a:endParaRPr lang="en-US">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75414090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513"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6AADEC39-06E3-4EC2-9284-54C0DF18CEC9}" type="slidenum">
              <a:rPr lang="en-US" sz="1400" spc="-1">
                <a:solidFill>
                  <a:srgbClr val="000000"/>
                </a:solidFill>
                <a:uFill>
                  <a:solidFill>
                    <a:srgbClr val="FFFFFF"/>
                  </a:solidFill>
                </a:uFill>
                <a:latin typeface="Tahoma"/>
              </a:rPr>
              <a:t>63</a:t>
            </a:fld>
            <a:endParaRPr lang="en-US" spc="-1">
              <a:solidFill>
                <a:srgbClr val="000000"/>
              </a:solidFill>
              <a:uFill>
                <a:solidFill>
                  <a:srgbClr val="FFFFFF"/>
                </a:solidFill>
              </a:uFill>
              <a:latin typeface="Arial"/>
            </a:endParaRPr>
          </a:p>
        </p:txBody>
      </p:sp>
      <p:sp>
        <p:nvSpPr>
          <p:cNvPr id="514"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String Formatting</a:t>
            </a:r>
            <a:endParaRPr lang="en-US" spc="-1">
              <a:solidFill>
                <a:srgbClr val="000000"/>
              </a:solidFill>
              <a:uFill>
                <a:solidFill>
                  <a:srgbClr val="FFFFFF"/>
                </a:solidFill>
              </a:uFill>
              <a:latin typeface="Arial"/>
            </a:endParaRPr>
          </a:p>
        </p:txBody>
      </p:sp>
      <p:sp>
        <p:nvSpPr>
          <p:cNvPr id="515" name="CustomShape 4"/>
          <p:cNvSpPr/>
          <p:nvPr/>
        </p:nvSpPr>
        <p:spPr>
          <a:xfrm>
            <a:off x="1409700" y="2017800"/>
            <a:ext cx="90685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720">
              <a:buClr>
                <a:srgbClr val="3333CC"/>
              </a:buClr>
              <a:buSzPct val="60000"/>
            </a:pPr>
            <a:endParaRPr lang="en-US" spc="-1">
              <a:solidFill>
                <a:srgbClr val="000000"/>
              </a:solidFill>
              <a:uFill>
                <a:solidFill>
                  <a:srgbClr val="FFFFFF"/>
                </a:solidFill>
              </a:uFill>
              <a:latin typeface="Arial"/>
            </a:endParaRPr>
          </a:p>
        </p:txBody>
      </p:sp>
      <p:sp>
        <p:nvSpPr>
          <p:cNvPr id="3" name="TextBox 2">
            <a:extLst>
              <a:ext uri="{FF2B5EF4-FFF2-40B4-BE49-F238E27FC236}">
                <a16:creationId xmlns:a16="http://schemas.microsoft.com/office/drawing/2014/main" id="{8E8B95AF-DA22-A5B7-AA60-5B108DB3B83F}"/>
              </a:ext>
            </a:extLst>
          </p:cNvPr>
          <p:cNvSpPr txBox="1"/>
          <p:nvPr/>
        </p:nvSpPr>
        <p:spPr>
          <a:xfrm>
            <a:off x="1895474" y="1952280"/>
            <a:ext cx="9267825" cy="3139321"/>
          </a:xfrm>
          <a:prstGeom prst="rect">
            <a:avLst/>
          </a:prstGeom>
          <a:noFill/>
        </p:spPr>
        <p:txBody>
          <a:bodyPr wrap="square">
            <a:spAutoFit/>
          </a:bodyPr>
          <a:lstStyle/>
          <a:p>
            <a:r>
              <a:rPr lang="en-US">
                <a:latin typeface="Courier New" panose="02070309020205020404" pitchFamily="49" charset="0"/>
                <a:cs typeface="Courier New" panose="02070309020205020404" pitchFamily="49" charset="0"/>
              </a:rPr>
              <a:t>def main():</a:t>
            </a:r>
          </a:p>
          <a:p>
            <a:r>
              <a:rPr lang="en-US">
                <a:latin typeface="Courier New" panose="02070309020205020404" pitchFamily="49" charset="0"/>
                <a:cs typeface="Courier New" panose="02070309020205020404" pitchFamily="49" charset="0"/>
              </a:rPr>
              <a:t>    print("This program illustrates a chaotic function")</a:t>
            </a:r>
          </a:p>
          <a:p>
            <a:r>
              <a:rPr lang="en-US">
                <a:latin typeface="Courier New" panose="02070309020205020404" pitchFamily="49" charset="0"/>
                <a:cs typeface="Courier New" panose="02070309020205020404" pitchFamily="49" charset="0"/>
              </a:rPr>
              <a:t>    x1, x2 = get_inputs()</a:t>
            </a:r>
          </a:p>
          <a:p>
            <a:r>
              <a:rPr lang="en-US">
                <a:latin typeface="Courier New" panose="02070309020205020404" pitchFamily="49" charset="0"/>
                <a:cs typeface="Courier New" panose="02070309020205020404" pitchFamily="49" charset="0"/>
              </a:rPr>
              <a:t>    print(f"\ninput: {x1:^8}   {x2:^8}")</a:t>
            </a:r>
          </a:p>
          <a:p>
            <a:r>
              <a:rPr lang="en-US">
                <a:latin typeface="Courier New" panose="02070309020205020404" pitchFamily="49" charset="0"/>
                <a:cs typeface="Courier New" panose="02070309020205020404" pitchFamily="49" charset="0"/>
              </a:rPr>
              <a:t>    print("---------------------------")</a:t>
            </a:r>
          </a:p>
          <a:p>
            <a:r>
              <a:rPr lang="en-US">
                <a:latin typeface="Courier New" panose="02070309020205020404" pitchFamily="49" charset="0"/>
                <a:cs typeface="Courier New" panose="02070309020205020404" pitchFamily="49" charset="0"/>
              </a:rPr>
              <a:t>    for _ in range(10):</a:t>
            </a:r>
          </a:p>
          <a:p>
            <a:r>
              <a:rPr lang="en-US">
                <a:latin typeface="Courier New" panose="02070309020205020404" pitchFamily="49" charset="0"/>
                <a:cs typeface="Courier New" panose="02070309020205020404" pitchFamily="49" charset="0"/>
              </a:rPr>
              <a:t>        x1 = logisticfn(x1)</a:t>
            </a:r>
          </a:p>
          <a:p>
            <a:r>
              <a:rPr lang="en-US">
                <a:latin typeface="Courier New" panose="02070309020205020404" pitchFamily="49" charset="0"/>
                <a:cs typeface="Courier New" panose="02070309020205020404" pitchFamily="49" charset="0"/>
              </a:rPr>
              <a:t>        x2 = logisticfn(x2)</a:t>
            </a:r>
          </a:p>
          <a:p>
            <a:r>
              <a:rPr lang="en-US">
                <a:latin typeface="Courier New" panose="02070309020205020404" pitchFamily="49" charset="0"/>
                <a:cs typeface="Courier New" panose="02070309020205020404" pitchFamily="49" charset="0"/>
              </a:rPr>
              <a:t>        print(f"       {x1:8.6f}   {x2:8.6f}")</a:t>
            </a:r>
          </a:p>
          <a:p>
            <a:endParaRPr lang="en-US">
              <a:latin typeface="Courier New" panose="02070309020205020404" pitchFamily="49" charset="0"/>
              <a:cs typeface="Courier New" panose="02070309020205020404" pitchFamily="49" charset="0"/>
            </a:endParaRPr>
          </a:p>
          <a:p>
            <a:r>
              <a:rPr lang="en-US">
                <a:latin typeface="Courier New" panose="02070309020205020404" pitchFamily="49" charset="0"/>
                <a:cs typeface="Courier New" panose="02070309020205020404" pitchFamily="49" charset="0"/>
              </a:rPr>
              <a:t>main()</a:t>
            </a:r>
          </a:p>
        </p:txBody>
      </p:sp>
    </p:spTree>
    <p:extLst>
      <p:ext uri="{BB962C8B-B14F-4D97-AF65-F5344CB8AC3E}">
        <p14:creationId xmlns:p14="http://schemas.microsoft.com/office/powerpoint/2010/main" val="120280545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517"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101BA6C3-BFCD-41BD-AD88-4C9A3EA45F5C}" type="slidenum">
              <a:rPr lang="en-US" sz="1400" spc="-1">
                <a:solidFill>
                  <a:srgbClr val="000000"/>
                </a:solidFill>
                <a:uFill>
                  <a:solidFill>
                    <a:srgbClr val="FFFFFF"/>
                  </a:solidFill>
                </a:uFill>
                <a:latin typeface="Tahoma"/>
              </a:rPr>
              <a:t>64</a:t>
            </a:fld>
            <a:endParaRPr lang="en-US" spc="-1">
              <a:solidFill>
                <a:srgbClr val="000000"/>
              </a:solidFill>
              <a:uFill>
                <a:solidFill>
                  <a:srgbClr val="FFFFFF"/>
                </a:solidFill>
              </a:uFill>
              <a:latin typeface="Arial"/>
            </a:endParaRPr>
          </a:p>
        </p:txBody>
      </p:sp>
      <p:sp>
        <p:nvSpPr>
          <p:cNvPr id="518"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Better Change Counter</a:t>
            </a:r>
            <a:endParaRPr lang="en-US" spc="-1">
              <a:solidFill>
                <a:srgbClr val="000000"/>
              </a:solidFill>
              <a:uFill>
                <a:solidFill>
                  <a:srgbClr val="FFFFFF"/>
                </a:solidFill>
              </a:uFill>
              <a:latin typeface="Arial"/>
            </a:endParaRPr>
          </a:p>
        </p:txBody>
      </p:sp>
      <p:sp>
        <p:nvSpPr>
          <p:cNvPr id="519"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With what we know now about floating point numbers, we might be uneasy about using them in a money situation.</a:t>
            </a:r>
            <a:endParaRPr lang="en-US" spc="-1">
              <a:solidFill>
                <a:srgbClr val="000000"/>
              </a:solidFill>
              <a:uFill>
                <a:solidFill>
                  <a:srgbClr val="FFFFFF"/>
                </a:solidFill>
              </a:uFill>
              <a:latin typeface="Arial"/>
            </a:endParaRPr>
          </a:p>
          <a:p>
            <a:pPr marL="343080" indent="-342360">
              <a:buClr>
                <a:srgbClr val="3333CC"/>
              </a:buClr>
              <a:buSzPct val="60000"/>
              <a:buFont typeface="Wingdings" charset="2"/>
              <a:buChar char=""/>
            </a:pPr>
            <a:r>
              <a:rPr lang="en-US" sz="3200" spc="-1">
                <a:solidFill>
                  <a:srgbClr val="000000"/>
                </a:solidFill>
                <a:uFill>
                  <a:solidFill>
                    <a:srgbClr val="FFFFFF"/>
                  </a:solidFill>
                </a:uFill>
                <a:latin typeface="Tahoma"/>
              </a:rPr>
              <a:t>One way around this problem is to keep track of money in cents using an int or long int, and convert it into dollars and cents when output.</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521"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06196B0B-5096-4755-A529-5DF283CB08DA}" type="slidenum">
              <a:rPr lang="en-US" sz="1400" spc="-1">
                <a:solidFill>
                  <a:srgbClr val="000000"/>
                </a:solidFill>
                <a:uFill>
                  <a:solidFill>
                    <a:srgbClr val="FFFFFF"/>
                  </a:solidFill>
                </a:uFill>
                <a:latin typeface="Tahoma"/>
              </a:rPr>
              <a:t>65</a:t>
            </a:fld>
            <a:endParaRPr lang="en-US" spc="-1">
              <a:solidFill>
                <a:srgbClr val="000000"/>
              </a:solidFill>
              <a:uFill>
                <a:solidFill>
                  <a:srgbClr val="FFFFFF"/>
                </a:solidFill>
              </a:uFill>
              <a:latin typeface="Arial"/>
            </a:endParaRPr>
          </a:p>
        </p:txBody>
      </p:sp>
      <p:sp>
        <p:nvSpPr>
          <p:cNvPr id="522"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Better Change Counter</a:t>
            </a:r>
            <a:endParaRPr lang="en-US" spc="-1">
              <a:solidFill>
                <a:srgbClr val="000000"/>
              </a:solidFill>
              <a:uFill>
                <a:solidFill>
                  <a:srgbClr val="FFFFFF"/>
                </a:solidFill>
              </a:uFill>
              <a:latin typeface="Arial"/>
            </a:endParaRPr>
          </a:p>
        </p:txBody>
      </p:sp>
      <p:sp>
        <p:nvSpPr>
          <p:cNvPr id="523" name="CustomShape 4"/>
          <p:cNvSpPr/>
          <p:nvPr/>
        </p:nvSpPr>
        <p:spPr>
          <a:xfrm>
            <a:off x="2706600" y="2017800"/>
            <a:ext cx="77716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sz="3200" spc="-1">
                <a:solidFill>
                  <a:srgbClr val="000000"/>
                </a:solidFill>
                <a:uFill>
                  <a:solidFill>
                    <a:srgbClr val="FFFFFF"/>
                  </a:solidFill>
                </a:uFill>
                <a:latin typeface="Tahoma"/>
              </a:rPr>
              <a:t>If total is a value in cents (an int),</a:t>
            </a:r>
            <a:endParaRPr lang="en-US" spc="-1">
              <a:solidFill>
                <a:srgbClr val="000000"/>
              </a:solidFill>
              <a:uFill>
                <a:solidFill>
                  <a:srgbClr val="FFFFFF"/>
                </a:solidFill>
              </a:uFill>
              <a:latin typeface="Arial"/>
            </a:endParaRPr>
          </a:p>
          <a:p>
            <a:r>
              <a:rPr lang="en-US" sz="2800" spc="-1">
                <a:solidFill>
                  <a:srgbClr val="000000"/>
                </a:solidFill>
                <a:uFill>
                  <a:solidFill>
                    <a:srgbClr val="FFFFFF"/>
                  </a:solidFill>
                </a:uFill>
                <a:latin typeface="Courier New"/>
              </a:rPr>
              <a:t>dollars = total//100</a:t>
            </a:r>
            <a:endParaRPr lang="en-US" spc="-1">
              <a:solidFill>
                <a:srgbClr val="000000"/>
              </a:solidFill>
              <a:uFill>
                <a:solidFill>
                  <a:srgbClr val="FFFFFF"/>
                </a:solidFill>
              </a:uFill>
              <a:latin typeface="Arial"/>
            </a:endParaRPr>
          </a:p>
          <a:p>
            <a:pPr marL="343080" indent="-342360">
              <a:lnSpc>
                <a:spcPct val="90000"/>
              </a:lnSpc>
              <a:buClr>
                <a:srgbClr val="3333CC"/>
              </a:buClr>
              <a:buSzPct val="60000"/>
              <a:buFont typeface="Wingdings" charset="2"/>
              <a:buChar char=""/>
            </a:pPr>
            <a:r>
              <a:rPr lang="en-US" sz="2800" spc="-1">
                <a:solidFill>
                  <a:srgbClr val="000000"/>
                </a:solidFill>
                <a:uFill>
                  <a:solidFill>
                    <a:srgbClr val="FFFFFF"/>
                  </a:solidFill>
                </a:uFill>
                <a:latin typeface="Courier New"/>
              </a:rPr>
              <a:t>cents = total%100</a:t>
            </a:r>
            <a:endParaRPr lang="en-US" spc="-1">
              <a:solidFill>
                <a:srgbClr val="000000"/>
              </a:solidFill>
              <a:uFill>
                <a:solidFill>
                  <a:srgbClr val="FFFFFF"/>
                </a:solidFill>
              </a:uFill>
              <a:latin typeface="Arial"/>
            </a:endParaRPr>
          </a:p>
          <a:p>
            <a:pPr marL="343080" indent="-342360">
              <a:lnSpc>
                <a:spcPct val="90000"/>
              </a:lnSpc>
              <a:buClr>
                <a:srgbClr val="3333CC"/>
              </a:buClr>
              <a:buSzPct val="60000"/>
              <a:buFont typeface="Wingdings" charset="2"/>
              <a:buChar char=""/>
            </a:pPr>
            <a:r>
              <a:rPr lang="en-US" sz="3200" spc="-1">
                <a:solidFill>
                  <a:srgbClr val="000000"/>
                </a:solidFill>
                <a:uFill>
                  <a:solidFill>
                    <a:srgbClr val="FFFFFF"/>
                  </a:solidFill>
                </a:uFill>
                <a:latin typeface="Tahoma"/>
              </a:rPr>
              <a:t>Cents is printed using width 0&gt;2 to right-justify it with leading 0s (if necessary) into a field of width 2.</a:t>
            </a:r>
            <a:endParaRPr lang="en-US" spc="-1">
              <a:solidFill>
                <a:srgbClr val="000000"/>
              </a:solidFill>
              <a:uFill>
                <a:solidFill>
                  <a:srgbClr val="FFFFFF"/>
                </a:solidFill>
              </a:uFill>
              <a:latin typeface="Arial"/>
            </a:endParaRPr>
          </a:p>
          <a:p>
            <a:pPr marL="343080" indent="-342360">
              <a:lnSpc>
                <a:spcPct val="90000"/>
              </a:lnSpc>
              <a:buClr>
                <a:srgbClr val="3333CC"/>
              </a:buClr>
              <a:buSzPct val="60000"/>
              <a:buFont typeface="Wingdings" charset="2"/>
              <a:buChar char=""/>
            </a:pPr>
            <a:r>
              <a:rPr lang="en-US" sz="3200" spc="-1">
                <a:solidFill>
                  <a:srgbClr val="000000"/>
                </a:solidFill>
                <a:uFill>
                  <a:solidFill>
                    <a:srgbClr val="FFFFFF"/>
                  </a:solidFill>
                </a:uFill>
                <a:latin typeface="Tahoma"/>
              </a:rPr>
              <a:t>Thus 5 cents becomes '05'</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525"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56B25953-A643-47ED-A045-61FB2CB89113}" type="slidenum">
              <a:rPr lang="en-US" sz="1400" spc="-1">
                <a:solidFill>
                  <a:srgbClr val="000000"/>
                </a:solidFill>
                <a:uFill>
                  <a:solidFill>
                    <a:srgbClr val="FFFFFF"/>
                  </a:solidFill>
                </a:uFill>
                <a:latin typeface="Tahoma"/>
              </a:rPr>
              <a:t>66</a:t>
            </a:fld>
            <a:endParaRPr lang="en-US" spc="-1">
              <a:solidFill>
                <a:srgbClr val="000000"/>
              </a:solidFill>
              <a:uFill>
                <a:solidFill>
                  <a:srgbClr val="FFFFFF"/>
                </a:solidFill>
              </a:uFill>
              <a:latin typeface="Arial"/>
            </a:endParaRPr>
          </a:p>
        </p:txBody>
      </p:sp>
      <p:sp>
        <p:nvSpPr>
          <p:cNvPr id="526"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Better Change Counter</a:t>
            </a:r>
            <a:endParaRPr lang="en-US" spc="-1">
              <a:solidFill>
                <a:srgbClr val="000000"/>
              </a:solidFill>
              <a:uFill>
                <a:solidFill>
                  <a:srgbClr val="FFFFFF"/>
                </a:solidFill>
              </a:uFill>
              <a:latin typeface="Arial"/>
            </a:endParaRPr>
          </a:p>
        </p:txBody>
      </p:sp>
      <p:sp>
        <p:nvSpPr>
          <p:cNvPr id="527" name="CustomShape 4"/>
          <p:cNvSpPr/>
          <p:nvPr/>
        </p:nvSpPr>
        <p:spPr>
          <a:xfrm>
            <a:off x="2706599" y="2017800"/>
            <a:ext cx="8275725"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90000"/>
              </a:lnSpc>
            </a:pPr>
            <a:r>
              <a:rPr lang="en-US" sz="1400" spc="-1">
                <a:solidFill>
                  <a:srgbClr val="000000"/>
                </a:solidFill>
                <a:uFill>
                  <a:solidFill>
                    <a:srgbClr val="FFFFFF"/>
                  </a:solidFill>
                </a:uFill>
                <a:latin typeface="Courier New"/>
              </a:rPr>
              <a:t># change2.py</a:t>
            </a: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   A program to calculate the value of some change in dollars.</a:t>
            </a: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   This version represents the total cash in cents.</a:t>
            </a:r>
            <a:endParaRPr lang="en-US" spc="-1">
              <a:solidFill>
                <a:srgbClr val="000000"/>
              </a:solidFill>
              <a:uFill>
                <a:solidFill>
                  <a:srgbClr val="FFFFFF"/>
                </a:solidFill>
              </a:uFill>
              <a:latin typeface="Arial"/>
            </a:endParaRPr>
          </a:p>
          <a:p>
            <a:pPr marL="343080" indent="-342360">
              <a:lnSpc>
                <a:spcPct val="90000"/>
              </a:lnSpc>
            </a:pP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def main():</a:t>
            </a: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    print ("Change Counter\n")</a:t>
            </a: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   </a:t>
            </a: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    print ("Please enter the count of each coin type.")</a:t>
            </a: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    quarters = int(input("Quarters: "))</a:t>
            </a: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    dimes = int(input("Dimes: "))</a:t>
            </a: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    nickels = int(input("Nickels: "))</a:t>
            </a: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    pennies = int(input("Pennies: "))</a:t>
            </a: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    total = quarters * 25 + dimes * 10 + nickels * 5 + pennies </a:t>
            </a:r>
          </a:p>
          <a:p>
            <a:pPr marL="343080" indent="-342360">
              <a:lnSpc>
                <a:spcPct val="90000"/>
              </a:lnSpc>
            </a:pPr>
            <a:r>
              <a:rPr lang="en-US" sz="1400" spc="-1">
                <a:solidFill>
                  <a:srgbClr val="000000"/>
                </a:solidFill>
                <a:uFill>
                  <a:solidFill>
                    <a:srgbClr val="FFFFFF"/>
                  </a:solidFill>
                </a:uFill>
                <a:latin typeface="Courier New"/>
              </a:rPr>
              <a:t>    dollars, cents = </a:t>
            </a:r>
            <a:r>
              <a:rPr lang="en-US" sz="1400" spc="-1" err="1">
                <a:solidFill>
                  <a:srgbClr val="000000"/>
                </a:solidFill>
                <a:uFill>
                  <a:solidFill>
                    <a:srgbClr val="FFFFFF"/>
                  </a:solidFill>
                </a:uFill>
                <a:latin typeface="Courier New"/>
              </a:rPr>
              <a:t>divmod</a:t>
            </a:r>
            <a:r>
              <a:rPr lang="en-US" sz="1400" spc="-1">
                <a:solidFill>
                  <a:srgbClr val="000000"/>
                </a:solidFill>
                <a:uFill>
                  <a:solidFill>
                    <a:srgbClr val="FFFFFF"/>
                  </a:solidFill>
                </a:uFill>
                <a:latin typeface="Courier New"/>
              </a:rPr>
              <a:t>(total, 100)</a:t>
            </a: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    </a:t>
            </a:r>
            <a:endParaRPr lang="en-US" spc="-1">
              <a:solidFill>
                <a:srgbClr val="000000"/>
              </a:solidFill>
              <a:uFill>
                <a:solidFill>
                  <a:srgbClr val="FFFFFF"/>
                </a:solidFill>
              </a:uFill>
              <a:latin typeface="Arial"/>
            </a:endParaRPr>
          </a:p>
          <a:p>
            <a:pPr marL="343080" indent="-342360">
              <a:lnSpc>
                <a:spcPct val="90000"/>
              </a:lnSpc>
            </a:pPr>
            <a:r>
              <a:rPr lang="en-US" sz="1400" spc="-1">
                <a:solidFill>
                  <a:srgbClr val="000000"/>
                </a:solidFill>
                <a:uFill>
                  <a:solidFill>
                    <a:srgbClr val="FFFFFF"/>
                  </a:solidFill>
                </a:uFill>
                <a:latin typeface="Courier New"/>
              </a:rPr>
              <a:t>    print (</a:t>
            </a:r>
            <a:r>
              <a:rPr lang="en-US" sz="1400" spc="-1" err="1">
                <a:solidFill>
                  <a:srgbClr val="000000"/>
                </a:solidFill>
                <a:uFill>
                  <a:solidFill>
                    <a:srgbClr val="FFFFFF"/>
                  </a:solidFill>
                </a:uFill>
                <a:latin typeface="Courier New"/>
              </a:rPr>
              <a:t>f"The</a:t>
            </a:r>
            <a:r>
              <a:rPr lang="en-US" sz="1400" spc="-1">
                <a:solidFill>
                  <a:srgbClr val="000000"/>
                </a:solidFill>
                <a:uFill>
                  <a:solidFill>
                    <a:srgbClr val="FFFFFF"/>
                  </a:solidFill>
                </a:uFill>
                <a:latin typeface="Courier New"/>
              </a:rPr>
              <a:t> total value of your change is ${dollars}.{cents:0&gt;2}.")</a:t>
            </a:r>
            <a:endParaRPr lang="en-US" spc="-1">
              <a:solidFill>
                <a:srgbClr val="000000"/>
              </a:solidFill>
              <a:uFill>
                <a:solidFill>
                  <a:srgbClr val="FFFFFF"/>
                </a:solidFill>
              </a:uFill>
              <a:latin typeface="Arial"/>
            </a:endParaRPr>
          </a:p>
          <a:p>
            <a:pPr marL="343080" indent="-342360">
              <a:lnSpc>
                <a:spcPct val="90000"/>
              </a:lnSpc>
            </a:pP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 name="CustomShape 1"/>
          <p:cNvSpPr/>
          <p:nvPr/>
        </p:nvSpPr>
        <p:spPr>
          <a:xfrm>
            <a:off x="4876680" y="6324480"/>
            <a:ext cx="289476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ctr">
              <a:lnSpc>
                <a:spcPct val="100000"/>
              </a:lnSpc>
            </a:pPr>
            <a:r>
              <a:rPr lang="en-US" sz="1400" spc="-1">
                <a:solidFill>
                  <a:srgbClr val="000000"/>
                </a:solidFill>
                <a:uFill>
                  <a:solidFill>
                    <a:srgbClr val="FFFFFF"/>
                  </a:solidFill>
                </a:uFill>
                <a:latin typeface="Tahoma"/>
              </a:rPr>
              <a:t>Python Programming, 4/e</a:t>
            </a:r>
            <a:endParaRPr lang="en-US" spc="-1">
              <a:solidFill>
                <a:srgbClr val="000000"/>
              </a:solidFill>
              <a:uFill>
                <a:solidFill>
                  <a:srgbClr val="FFFFFF"/>
                </a:solidFill>
              </a:uFill>
              <a:latin typeface="Arial"/>
            </a:endParaRPr>
          </a:p>
        </p:txBody>
      </p:sp>
      <p:sp>
        <p:nvSpPr>
          <p:cNvPr id="529" name="CustomShape 2"/>
          <p:cNvSpPr/>
          <p:nvPr/>
        </p:nvSpPr>
        <p:spPr>
          <a:xfrm>
            <a:off x="8305680" y="6324480"/>
            <a:ext cx="190440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603A5564-61A8-44FB-983F-D952F84DF5C9}" type="slidenum">
              <a:rPr lang="en-US" sz="1400" spc="-1">
                <a:solidFill>
                  <a:srgbClr val="000000"/>
                </a:solidFill>
                <a:uFill>
                  <a:solidFill>
                    <a:srgbClr val="FFFFFF"/>
                  </a:solidFill>
                </a:uFill>
                <a:latin typeface="Tahoma"/>
              </a:rPr>
              <a:t>67</a:t>
            </a:fld>
            <a:endParaRPr lang="en-US" spc="-1">
              <a:solidFill>
                <a:srgbClr val="000000"/>
              </a:solidFill>
              <a:uFill>
                <a:solidFill>
                  <a:srgbClr val="FFFFFF"/>
                </a:solidFill>
              </a:uFill>
              <a:latin typeface="Arial"/>
            </a:endParaRPr>
          </a:p>
        </p:txBody>
      </p:sp>
      <p:sp>
        <p:nvSpPr>
          <p:cNvPr id="530" name="CustomShape 3"/>
          <p:cNvSpPr/>
          <p:nvPr/>
        </p:nvSpPr>
        <p:spPr>
          <a:xfrm>
            <a:off x="2674920" y="617400"/>
            <a:ext cx="779220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400" spc="-1">
                <a:solidFill>
                  <a:srgbClr val="333399"/>
                </a:solidFill>
                <a:uFill>
                  <a:solidFill>
                    <a:srgbClr val="FFFFFF"/>
                  </a:solidFill>
                </a:uFill>
                <a:latin typeface="Tahoma"/>
              </a:rPr>
              <a:t>Better Change Counter</a:t>
            </a:r>
            <a:endParaRPr lang="en-US" spc="-1">
              <a:solidFill>
                <a:srgbClr val="000000"/>
              </a:solidFill>
              <a:uFill>
                <a:solidFill>
                  <a:srgbClr val="FFFFFF"/>
                </a:solidFill>
              </a:uFill>
              <a:latin typeface="Arial"/>
            </a:endParaRPr>
          </a:p>
        </p:txBody>
      </p:sp>
      <p:sp>
        <p:nvSpPr>
          <p:cNvPr id="531" name="CustomShape 4"/>
          <p:cNvSpPr/>
          <p:nvPr/>
        </p:nvSpPr>
        <p:spPr>
          <a:xfrm>
            <a:off x="1524000" y="2017800"/>
            <a:ext cx="45712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r>
              <a:rPr lang="en-US" sz="1400" spc="-1">
                <a:solidFill>
                  <a:srgbClr val="000000"/>
                </a:solidFill>
                <a:uFill>
                  <a:solidFill>
                    <a:srgbClr val="FFFFFF"/>
                  </a:solidFill>
                </a:uFill>
                <a:latin typeface="Courier New"/>
              </a:rPr>
              <a:t>&gt;&gt;&gt; main()</a:t>
            </a:r>
            <a:endParaRPr lang="en-US" spc="-1">
              <a:solidFill>
                <a:srgbClr val="000000"/>
              </a:solidFill>
              <a:uFill>
                <a:solidFill>
                  <a:srgbClr val="FFFFFF"/>
                </a:solidFill>
              </a:uFill>
              <a:latin typeface="Arial"/>
            </a:endParaRPr>
          </a:p>
          <a:p>
            <a:pPr marL="343080" indent="-342360"/>
            <a:r>
              <a:rPr lang="en-US" sz="1400" spc="-1">
                <a:solidFill>
                  <a:srgbClr val="000000"/>
                </a:solidFill>
                <a:uFill>
                  <a:solidFill>
                    <a:srgbClr val="FFFFFF"/>
                  </a:solidFill>
                </a:uFill>
                <a:latin typeface="Courier New"/>
              </a:rPr>
              <a:t>Change Counter</a:t>
            </a:r>
            <a:endParaRPr lang="en-US" spc="-1">
              <a:solidFill>
                <a:srgbClr val="000000"/>
              </a:solidFill>
              <a:uFill>
                <a:solidFill>
                  <a:srgbClr val="FFFFFF"/>
                </a:solidFill>
              </a:uFill>
              <a:latin typeface="Arial"/>
            </a:endParaRPr>
          </a:p>
          <a:p>
            <a:pPr marL="343080" indent="-342360"/>
            <a:endParaRPr lang="en-US" spc="-1">
              <a:solidFill>
                <a:srgbClr val="000000"/>
              </a:solidFill>
              <a:uFill>
                <a:solidFill>
                  <a:srgbClr val="FFFFFF"/>
                </a:solidFill>
              </a:uFill>
              <a:latin typeface="Arial"/>
            </a:endParaRPr>
          </a:p>
          <a:p>
            <a:pPr marL="343080" indent="-342360"/>
            <a:r>
              <a:rPr lang="en-US" sz="1400" spc="-1">
                <a:solidFill>
                  <a:srgbClr val="000000"/>
                </a:solidFill>
                <a:uFill>
                  <a:solidFill>
                    <a:srgbClr val="FFFFFF"/>
                  </a:solidFill>
                </a:uFill>
                <a:latin typeface="Courier New"/>
              </a:rPr>
              <a:t>Please enter the count of each coin type.</a:t>
            </a:r>
            <a:endParaRPr lang="en-US" spc="-1">
              <a:solidFill>
                <a:srgbClr val="000000"/>
              </a:solidFill>
              <a:uFill>
                <a:solidFill>
                  <a:srgbClr val="FFFFFF"/>
                </a:solidFill>
              </a:uFill>
              <a:latin typeface="Arial"/>
            </a:endParaRPr>
          </a:p>
          <a:p>
            <a:pPr marL="343080" indent="-342360"/>
            <a:r>
              <a:rPr lang="en-US" sz="1400" spc="-1">
                <a:solidFill>
                  <a:srgbClr val="000000"/>
                </a:solidFill>
                <a:uFill>
                  <a:solidFill>
                    <a:srgbClr val="FFFFFF"/>
                  </a:solidFill>
                </a:uFill>
                <a:latin typeface="Courier New"/>
              </a:rPr>
              <a:t>Quarters: 0</a:t>
            </a:r>
            <a:endParaRPr lang="en-US" spc="-1">
              <a:solidFill>
                <a:srgbClr val="000000"/>
              </a:solidFill>
              <a:uFill>
                <a:solidFill>
                  <a:srgbClr val="FFFFFF"/>
                </a:solidFill>
              </a:uFill>
              <a:latin typeface="Arial"/>
            </a:endParaRPr>
          </a:p>
          <a:p>
            <a:pPr marL="343080" indent="-342360"/>
            <a:r>
              <a:rPr lang="en-US" sz="1400" spc="-1">
                <a:solidFill>
                  <a:srgbClr val="000000"/>
                </a:solidFill>
                <a:uFill>
                  <a:solidFill>
                    <a:srgbClr val="FFFFFF"/>
                  </a:solidFill>
                </a:uFill>
                <a:latin typeface="Courier New"/>
              </a:rPr>
              <a:t>Dimes: 0</a:t>
            </a:r>
            <a:endParaRPr lang="en-US" spc="-1">
              <a:solidFill>
                <a:srgbClr val="000000"/>
              </a:solidFill>
              <a:uFill>
                <a:solidFill>
                  <a:srgbClr val="FFFFFF"/>
                </a:solidFill>
              </a:uFill>
              <a:latin typeface="Arial"/>
            </a:endParaRPr>
          </a:p>
          <a:p>
            <a:pPr marL="343080" indent="-342360"/>
            <a:r>
              <a:rPr lang="en-US" sz="1400" spc="-1">
                <a:solidFill>
                  <a:srgbClr val="000000"/>
                </a:solidFill>
                <a:uFill>
                  <a:solidFill>
                    <a:srgbClr val="FFFFFF"/>
                  </a:solidFill>
                </a:uFill>
                <a:latin typeface="Courier New"/>
              </a:rPr>
              <a:t>Nickels: 0</a:t>
            </a:r>
            <a:endParaRPr lang="en-US" spc="-1">
              <a:solidFill>
                <a:srgbClr val="000000"/>
              </a:solidFill>
              <a:uFill>
                <a:solidFill>
                  <a:srgbClr val="FFFFFF"/>
                </a:solidFill>
              </a:uFill>
              <a:latin typeface="Arial"/>
            </a:endParaRPr>
          </a:p>
          <a:p>
            <a:pPr marL="343080" indent="-342360"/>
            <a:r>
              <a:rPr lang="en-US" sz="1400" spc="-1">
                <a:solidFill>
                  <a:srgbClr val="000000"/>
                </a:solidFill>
                <a:uFill>
                  <a:solidFill>
                    <a:srgbClr val="FFFFFF"/>
                  </a:solidFill>
                </a:uFill>
                <a:latin typeface="Courier New"/>
              </a:rPr>
              <a:t>Pennies: 1</a:t>
            </a:r>
            <a:endParaRPr lang="en-US" spc="-1">
              <a:solidFill>
                <a:srgbClr val="000000"/>
              </a:solidFill>
              <a:uFill>
                <a:solidFill>
                  <a:srgbClr val="FFFFFF"/>
                </a:solidFill>
              </a:uFill>
              <a:latin typeface="Arial"/>
            </a:endParaRPr>
          </a:p>
          <a:p>
            <a:pPr marL="343080" indent="-342360"/>
            <a:endParaRPr lang="en-US" spc="-1">
              <a:solidFill>
                <a:srgbClr val="000000"/>
              </a:solidFill>
              <a:uFill>
                <a:solidFill>
                  <a:srgbClr val="FFFFFF"/>
                </a:solidFill>
              </a:uFill>
              <a:latin typeface="Arial"/>
            </a:endParaRPr>
          </a:p>
          <a:p>
            <a:pPr marL="343080" indent="-342360"/>
            <a:r>
              <a:rPr lang="en-US" sz="1400" spc="-1">
                <a:solidFill>
                  <a:srgbClr val="000000"/>
                </a:solidFill>
                <a:uFill>
                  <a:solidFill>
                    <a:srgbClr val="FFFFFF"/>
                  </a:solidFill>
                </a:uFill>
                <a:latin typeface="Courier New"/>
              </a:rPr>
              <a:t>The total value of your change is $0.01</a:t>
            </a:r>
            <a:endParaRPr lang="en-US" spc="-1">
              <a:solidFill>
                <a:srgbClr val="000000"/>
              </a:solidFill>
              <a:uFill>
                <a:solidFill>
                  <a:srgbClr val="FFFFFF"/>
                </a:solidFill>
              </a:uFill>
              <a:latin typeface="Arial"/>
            </a:endParaRPr>
          </a:p>
        </p:txBody>
      </p:sp>
      <p:sp>
        <p:nvSpPr>
          <p:cNvPr id="532" name="CustomShape 5"/>
          <p:cNvSpPr/>
          <p:nvPr/>
        </p:nvSpPr>
        <p:spPr>
          <a:xfrm>
            <a:off x="6096000" y="2017800"/>
            <a:ext cx="4571280" cy="411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r>
              <a:rPr lang="en-US" sz="1400" spc="-1">
                <a:solidFill>
                  <a:srgbClr val="000000"/>
                </a:solidFill>
                <a:uFill>
                  <a:solidFill>
                    <a:srgbClr val="FFFFFF"/>
                  </a:solidFill>
                </a:uFill>
                <a:latin typeface="Courier New"/>
              </a:rPr>
              <a:t>&gt;&gt;&gt; main()</a:t>
            </a:r>
            <a:endParaRPr lang="en-US" spc="-1">
              <a:solidFill>
                <a:srgbClr val="000000"/>
              </a:solidFill>
              <a:uFill>
                <a:solidFill>
                  <a:srgbClr val="FFFFFF"/>
                </a:solidFill>
              </a:uFill>
              <a:latin typeface="Arial"/>
            </a:endParaRPr>
          </a:p>
          <a:p>
            <a:pPr marL="343080" indent="-342360"/>
            <a:r>
              <a:rPr lang="en-US" sz="1400" spc="-1">
                <a:solidFill>
                  <a:srgbClr val="000000"/>
                </a:solidFill>
                <a:uFill>
                  <a:solidFill>
                    <a:srgbClr val="FFFFFF"/>
                  </a:solidFill>
                </a:uFill>
                <a:latin typeface="Courier New"/>
              </a:rPr>
              <a:t>Change Counter</a:t>
            </a:r>
            <a:endParaRPr lang="en-US" spc="-1">
              <a:solidFill>
                <a:srgbClr val="000000"/>
              </a:solidFill>
              <a:uFill>
                <a:solidFill>
                  <a:srgbClr val="FFFFFF"/>
                </a:solidFill>
              </a:uFill>
              <a:latin typeface="Arial"/>
            </a:endParaRPr>
          </a:p>
          <a:p>
            <a:pPr marL="343080" indent="-342360"/>
            <a:endParaRPr lang="en-US" spc="-1">
              <a:solidFill>
                <a:srgbClr val="000000"/>
              </a:solidFill>
              <a:uFill>
                <a:solidFill>
                  <a:srgbClr val="FFFFFF"/>
                </a:solidFill>
              </a:uFill>
              <a:latin typeface="Arial"/>
            </a:endParaRPr>
          </a:p>
          <a:p>
            <a:pPr marL="343080" indent="-342360"/>
            <a:r>
              <a:rPr lang="en-US" sz="1400" spc="-1">
                <a:solidFill>
                  <a:srgbClr val="000000"/>
                </a:solidFill>
                <a:uFill>
                  <a:solidFill>
                    <a:srgbClr val="FFFFFF"/>
                  </a:solidFill>
                </a:uFill>
                <a:latin typeface="Courier New"/>
              </a:rPr>
              <a:t>Please enter the count of each coin type.</a:t>
            </a:r>
            <a:endParaRPr lang="en-US" spc="-1">
              <a:solidFill>
                <a:srgbClr val="000000"/>
              </a:solidFill>
              <a:uFill>
                <a:solidFill>
                  <a:srgbClr val="FFFFFF"/>
                </a:solidFill>
              </a:uFill>
              <a:latin typeface="Arial"/>
            </a:endParaRPr>
          </a:p>
          <a:p>
            <a:pPr marL="343080" indent="-342360"/>
            <a:r>
              <a:rPr lang="en-US" sz="1400" spc="-1">
                <a:solidFill>
                  <a:srgbClr val="000000"/>
                </a:solidFill>
                <a:uFill>
                  <a:solidFill>
                    <a:srgbClr val="FFFFFF"/>
                  </a:solidFill>
                </a:uFill>
                <a:latin typeface="Courier New"/>
              </a:rPr>
              <a:t>Quarters: 12</a:t>
            </a:r>
            <a:endParaRPr lang="en-US" spc="-1">
              <a:solidFill>
                <a:srgbClr val="000000"/>
              </a:solidFill>
              <a:uFill>
                <a:solidFill>
                  <a:srgbClr val="FFFFFF"/>
                </a:solidFill>
              </a:uFill>
              <a:latin typeface="Arial"/>
            </a:endParaRPr>
          </a:p>
          <a:p>
            <a:pPr marL="343080" indent="-342360"/>
            <a:r>
              <a:rPr lang="en-US" sz="1400" spc="-1">
                <a:solidFill>
                  <a:srgbClr val="000000"/>
                </a:solidFill>
                <a:uFill>
                  <a:solidFill>
                    <a:srgbClr val="FFFFFF"/>
                  </a:solidFill>
                </a:uFill>
                <a:latin typeface="Courier New"/>
              </a:rPr>
              <a:t>Dimes: 1</a:t>
            </a:r>
            <a:endParaRPr lang="en-US" spc="-1">
              <a:solidFill>
                <a:srgbClr val="000000"/>
              </a:solidFill>
              <a:uFill>
                <a:solidFill>
                  <a:srgbClr val="FFFFFF"/>
                </a:solidFill>
              </a:uFill>
              <a:latin typeface="Arial"/>
            </a:endParaRPr>
          </a:p>
          <a:p>
            <a:pPr marL="343080" indent="-342360"/>
            <a:r>
              <a:rPr lang="en-US" sz="1400" spc="-1">
                <a:solidFill>
                  <a:srgbClr val="000000"/>
                </a:solidFill>
                <a:uFill>
                  <a:solidFill>
                    <a:srgbClr val="FFFFFF"/>
                  </a:solidFill>
                </a:uFill>
                <a:latin typeface="Courier New"/>
              </a:rPr>
              <a:t>Nickels: 0</a:t>
            </a:r>
            <a:endParaRPr lang="en-US" spc="-1">
              <a:solidFill>
                <a:srgbClr val="000000"/>
              </a:solidFill>
              <a:uFill>
                <a:solidFill>
                  <a:srgbClr val="FFFFFF"/>
                </a:solidFill>
              </a:uFill>
              <a:latin typeface="Arial"/>
            </a:endParaRPr>
          </a:p>
          <a:p>
            <a:pPr marL="343080" indent="-342360"/>
            <a:r>
              <a:rPr lang="en-US" sz="1400" spc="-1">
                <a:solidFill>
                  <a:srgbClr val="000000"/>
                </a:solidFill>
                <a:uFill>
                  <a:solidFill>
                    <a:srgbClr val="FFFFFF"/>
                  </a:solidFill>
                </a:uFill>
                <a:latin typeface="Courier New"/>
              </a:rPr>
              <a:t>Pennies: 4</a:t>
            </a:r>
            <a:endParaRPr lang="en-US" spc="-1">
              <a:solidFill>
                <a:srgbClr val="000000"/>
              </a:solidFill>
              <a:uFill>
                <a:solidFill>
                  <a:srgbClr val="FFFFFF"/>
                </a:solidFill>
              </a:uFill>
              <a:latin typeface="Arial"/>
            </a:endParaRPr>
          </a:p>
          <a:p>
            <a:pPr marL="343080" indent="-342360"/>
            <a:endParaRPr lang="en-US" spc="-1">
              <a:solidFill>
                <a:srgbClr val="000000"/>
              </a:solidFill>
              <a:uFill>
                <a:solidFill>
                  <a:srgbClr val="FFFFFF"/>
                </a:solidFill>
              </a:uFill>
              <a:latin typeface="Arial"/>
            </a:endParaRPr>
          </a:p>
          <a:p>
            <a:pPr marL="343080" indent="-342360"/>
            <a:r>
              <a:rPr lang="en-US" sz="1400" spc="-1">
                <a:solidFill>
                  <a:srgbClr val="000000"/>
                </a:solidFill>
                <a:uFill>
                  <a:solidFill>
                    <a:srgbClr val="FFFFFF"/>
                  </a:solidFill>
                </a:uFill>
                <a:latin typeface="Courier New"/>
              </a:rPr>
              <a:t>The total value of your change is $3.14</a:t>
            </a:r>
            <a:endParaRPr lang="en-US"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0</TotalTime>
  <Words>4985</Words>
  <Application>Microsoft Office PowerPoint</Application>
  <PresentationFormat>Widescreen</PresentationFormat>
  <Paragraphs>701</Paragraphs>
  <Slides>67</Slides>
  <Notes>1</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67</vt:i4>
      </vt:variant>
    </vt:vector>
  </HeadingPairs>
  <TitlesOfParts>
    <vt:vector size="76" baseType="lpstr">
      <vt:lpstr>Arial</vt:lpstr>
      <vt:lpstr>Courier New</vt:lpstr>
      <vt:lpstr>Symbol</vt:lpstr>
      <vt:lpstr>Tahoma</vt:lpstr>
      <vt:lpstr>Times New Roman</vt:lpstr>
      <vt:lpstr>Wingdings</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String Representation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More String Methods</vt:lpstr>
      <vt:lpstr>More String Methods</vt:lpstr>
      <vt:lpstr>More String Methods</vt:lpstr>
      <vt:lpstr>More String Methods</vt:lpstr>
      <vt:lpstr>More String Methods</vt:lpstr>
      <vt:lpstr>More String Methods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 An Introduction to Computer Science</dc:title>
  <dc:subject/>
  <dc:creator>Terry Letsche</dc:creator>
  <dc:description/>
  <cp:lastModifiedBy>Reza Nezami</cp:lastModifiedBy>
  <cp:revision>1</cp:revision>
  <dcterms:created xsi:type="dcterms:W3CDTF">2004-01-19T20:52:41Z</dcterms:created>
  <dcterms:modified xsi:type="dcterms:W3CDTF">2025-10-22T01:04:32Z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 </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1</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109</vt:i4>
  </property>
</Properties>
</file>